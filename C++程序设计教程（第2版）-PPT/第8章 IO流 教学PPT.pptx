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tags/tag40.xml" ContentType="application/vnd.openxmlformats-officedocument.presentationml.tags+xml"/>
  <Override PartName="/ppt/notesSlides/notesSlide40.xml" ContentType="application/vnd.openxmlformats-officedocument.presentationml.notesSlide+xml"/>
  <Override PartName="/ppt/tags/tag41.xml" ContentType="application/vnd.openxmlformats-officedocument.presentationml.tags+xml"/>
  <Override PartName="/ppt/notesSlides/notesSlide41.xml" ContentType="application/vnd.openxmlformats-officedocument.presentationml.notesSlide+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ppt/tags/tag45.xml" ContentType="application/vnd.openxmlformats-officedocument.presentationml.tags+xml"/>
  <Override PartName="/ppt/notesSlides/notesSlide45.xml" ContentType="application/vnd.openxmlformats-officedocument.presentationml.notesSlide+xml"/>
  <Override PartName="/ppt/tags/tag46.xml" ContentType="application/vnd.openxmlformats-officedocument.presentationml.tags+xml"/>
  <Override PartName="/ppt/notesSlides/notesSlide46.xml" ContentType="application/vnd.openxmlformats-officedocument.presentationml.notesSlide+xml"/>
  <Override PartName="/ppt/tags/tag47.xml" ContentType="application/vnd.openxmlformats-officedocument.presentationml.tags+xml"/>
  <Override PartName="/ppt/notesSlides/notesSlide47.xml" ContentType="application/vnd.openxmlformats-officedocument.presentationml.notesSlide+xml"/>
  <Override PartName="/ppt/tags/tag48.xml" ContentType="application/vnd.openxmlformats-officedocument.presentationml.tags+xml"/>
  <Override PartName="/ppt/notesSlides/notesSlide48.xml" ContentType="application/vnd.openxmlformats-officedocument.presentationml.notesSlide+xml"/>
  <Override PartName="/ppt/tags/tag49.xml" ContentType="application/vnd.openxmlformats-officedocument.presentationml.tags+xml"/>
  <Override PartName="/ppt/notesSlides/notesSlide49.xml" ContentType="application/vnd.openxmlformats-officedocument.presentationml.notesSlide+xml"/>
  <Override PartName="/ppt/tags/tag50.xml" ContentType="application/vnd.openxmlformats-officedocument.presentationml.tags+xml"/>
  <Override PartName="/ppt/notesSlides/notesSlide50.xml" ContentType="application/vnd.openxmlformats-officedocument.presentationml.notesSlide+xml"/>
  <Override PartName="/ppt/tags/tag51.xml" ContentType="application/vnd.openxmlformats-officedocument.presentationml.tags+xml"/>
  <Override PartName="/ppt/notesSlides/notesSlide51.xml" ContentType="application/vnd.openxmlformats-officedocument.presentationml.notesSlide+xml"/>
  <Override PartName="/ppt/tags/tag52.xml" ContentType="application/vnd.openxmlformats-officedocument.presentationml.tags+xml"/>
  <Override PartName="/ppt/notesSlides/notesSlide52.xml" ContentType="application/vnd.openxmlformats-officedocument.presentationml.notesSlide+xml"/>
  <Override PartName="/ppt/tags/tag53.xml" ContentType="application/vnd.openxmlformats-officedocument.presentationml.tags+xml"/>
  <Override PartName="/ppt/notesSlides/notesSlide53.xml" ContentType="application/vnd.openxmlformats-officedocument.presentationml.notesSlide+xml"/>
  <Override PartName="/ppt/tags/tag54.xml" ContentType="application/vnd.openxmlformats-officedocument.presentationml.tags+xml"/>
  <Override PartName="/ppt/notesSlides/notesSlide54.xml" ContentType="application/vnd.openxmlformats-officedocument.presentationml.notesSlide+xml"/>
  <Override PartName="/ppt/tags/tag55.xml" ContentType="application/vnd.openxmlformats-officedocument.presentationml.tags+xml"/>
  <Override PartName="/ppt/notesSlides/notesSlide55.xml" ContentType="application/vnd.openxmlformats-officedocument.presentationml.notesSlide+xml"/>
  <Override PartName="/ppt/tags/tag56.xml" ContentType="application/vnd.openxmlformats-officedocument.presentationml.tags+xml"/>
  <Override PartName="/ppt/notesSlides/notesSlide56.xml" ContentType="application/vnd.openxmlformats-officedocument.presentationml.notesSlide+xml"/>
  <Override PartName="/ppt/tags/tag57.xml" ContentType="application/vnd.openxmlformats-officedocument.presentationml.tags+xml"/>
  <Override PartName="/ppt/notesSlides/notesSlide57.xml" ContentType="application/vnd.openxmlformats-officedocument.presentationml.notesSlide+xml"/>
  <Override PartName="/ppt/tags/tag58.xml" ContentType="application/vnd.openxmlformats-officedocument.presentationml.tags+xml"/>
  <Override PartName="/ppt/notesSlides/notesSlide58.xml" ContentType="application/vnd.openxmlformats-officedocument.presentationml.notesSlide+xml"/>
  <Override PartName="/ppt/tags/tag59.xml" ContentType="application/vnd.openxmlformats-officedocument.presentationml.tags+xml"/>
  <Override PartName="/ppt/notesSlides/notesSlide59.xml" ContentType="application/vnd.openxmlformats-officedocument.presentationml.notesSlide+xml"/>
  <Override PartName="/ppt/tags/tag60.xml" ContentType="application/vnd.openxmlformats-officedocument.presentationml.tags+xml"/>
  <Override PartName="/ppt/notesSlides/notesSlide60.xml" ContentType="application/vnd.openxmlformats-officedocument.presentationml.notesSlide+xml"/>
  <Override PartName="/ppt/tags/tag61.xml" ContentType="application/vnd.openxmlformats-officedocument.presentationml.tags+xml"/>
  <Override PartName="/ppt/notesSlides/notesSlide61.xml" ContentType="application/vnd.openxmlformats-officedocument.presentationml.notesSlide+xml"/>
  <Override PartName="/ppt/tags/tag62.xml" ContentType="application/vnd.openxmlformats-officedocument.presentationml.tags+xml"/>
  <Override PartName="/ppt/notesSlides/notesSlide62.xml" ContentType="application/vnd.openxmlformats-officedocument.presentationml.notesSlide+xml"/>
  <Override PartName="/ppt/tags/tag63.xml" ContentType="application/vnd.openxmlformats-officedocument.presentationml.tags+xml"/>
  <Override PartName="/ppt/notesSlides/notesSlide63.xml" ContentType="application/vnd.openxmlformats-officedocument.presentationml.notesSlide+xml"/>
  <Override PartName="/ppt/tags/tag64.xml" ContentType="application/vnd.openxmlformats-officedocument.presentationml.tags+xml"/>
  <Override PartName="/ppt/notesSlides/notesSlide64.xml" ContentType="application/vnd.openxmlformats-officedocument.presentationml.notesSlide+xml"/>
  <Override PartName="/ppt/tags/tag65.xml" ContentType="application/vnd.openxmlformats-officedocument.presentationml.tags+xml"/>
  <Override PartName="/ppt/notesSlides/notesSlide65.xml" ContentType="application/vnd.openxmlformats-officedocument.presentationml.notesSlide+xml"/>
  <Override PartName="/ppt/tags/tag66.xml" ContentType="application/vnd.openxmlformats-officedocument.presentationml.tags+xml"/>
  <Override PartName="/ppt/notesSlides/notesSlide66.xml" ContentType="application/vnd.openxmlformats-officedocument.presentationml.notesSlide+xml"/>
  <Override PartName="/ppt/tags/tag67.xml" ContentType="application/vnd.openxmlformats-officedocument.presentationml.tags+xml"/>
  <Override PartName="/ppt/notesSlides/notesSlide67.xml" ContentType="application/vnd.openxmlformats-officedocument.presentationml.notesSlide+xml"/>
  <Override PartName="/ppt/tags/tag68.xml" ContentType="application/vnd.openxmlformats-officedocument.presentationml.tags+xml"/>
  <Override PartName="/ppt/notesSlides/notesSlide68.xml" ContentType="application/vnd.openxmlformats-officedocument.presentationml.notesSlide+xml"/>
  <Override PartName="/ppt/tags/tag69.xml" ContentType="application/vnd.openxmlformats-officedocument.presentationml.tags+xml"/>
  <Override PartName="/ppt/notesSlides/notesSlide69.xml" ContentType="application/vnd.openxmlformats-officedocument.presentationml.notesSlide+xml"/>
  <Override PartName="/ppt/tags/tag70.xml" ContentType="application/vnd.openxmlformats-officedocument.presentationml.tags+xml"/>
  <Override PartName="/ppt/notesSlides/notesSlide70.xml" ContentType="application/vnd.openxmlformats-officedocument.presentationml.notesSlide+xml"/>
  <Override PartName="/ppt/tags/tag71.xml" ContentType="application/vnd.openxmlformats-officedocument.presentationml.tags+xml"/>
  <Override PartName="/ppt/notesSlides/notesSlide71.xml" ContentType="application/vnd.openxmlformats-officedocument.presentationml.notesSlide+xml"/>
  <Override PartName="/ppt/tags/tag72.xml" ContentType="application/vnd.openxmlformats-officedocument.presentationml.tags+xml"/>
  <Override PartName="/ppt/notesSlides/notesSlide72.xml" ContentType="application/vnd.openxmlformats-officedocument.presentationml.notesSlide+xml"/>
  <Override PartName="/ppt/tags/tag73.xml" ContentType="application/vnd.openxmlformats-officedocument.presentationml.tags+xml"/>
  <Override PartName="/ppt/notesSlides/notesSlide73.xml" ContentType="application/vnd.openxmlformats-officedocument.presentationml.notesSlide+xml"/>
  <Override PartName="/ppt/tags/tag74.xml" ContentType="application/vnd.openxmlformats-officedocument.presentationml.tags+xml"/>
  <Override PartName="/ppt/notesSlides/notesSlide74.xml" ContentType="application/vnd.openxmlformats-officedocument.presentationml.notesSlide+xml"/>
  <Override PartName="/ppt/tags/tag75.xml" ContentType="application/vnd.openxmlformats-officedocument.presentationml.tags+xml"/>
  <Override PartName="/ppt/notesSlides/notesSlide75.xml" ContentType="application/vnd.openxmlformats-officedocument.presentationml.notesSlide+xml"/>
  <Override PartName="/ppt/tags/tag76.xml" ContentType="application/vnd.openxmlformats-officedocument.presentationml.tags+xml"/>
  <Override PartName="/ppt/notesSlides/notesSlide76.xml" ContentType="application/vnd.openxmlformats-officedocument.presentationml.notesSlide+xml"/>
  <Override PartName="/ppt/tags/tag77.xml" ContentType="application/vnd.openxmlformats-officedocument.presentationml.tags+xml"/>
  <Override PartName="/ppt/notesSlides/notesSlide77.xml" ContentType="application/vnd.openxmlformats-officedocument.presentationml.notesSlide+xml"/>
  <Override PartName="/ppt/tags/tag78.xml" ContentType="application/vnd.openxmlformats-officedocument.presentationml.tags+xml"/>
  <Override PartName="/ppt/notesSlides/notesSlide78.xml" ContentType="application/vnd.openxmlformats-officedocument.presentationml.notesSlide+xml"/>
  <Override PartName="/ppt/tags/tag79.xml" ContentType="application/vnd.openxmlformats-officedocument.presentationml.tags+xml"/>
  <Override PartName="/ppt/notesSlides/notesSlide79.xml" ContentType="application/vnd.openxmlformats-officedocument.presentationml.notesSlide+xml"/>
  <Override PartName="/ppt/tags/tag80.xml" ContentType="application/vnd.openxmlformats-officedocument.presentationml.tags+xml"/>
  <Override PartName="/ppt/notesSlides/notesSlide80.xml" ContentType="application/vnd.openxmlformats-officedocument.presentationml.notesSlide+xml"/>
  <Override PartName="/ppt/tags/tag81.xml" ContentType="application/vnd.openxmlformats-officedocument.presentationml.tags+xml"/>
  <Override PartName="/ppt/notesSlides/notesSlide81.xml" ContentType="application/vnd.openxmlformats-officedocument.presentationml.notesSlide+xml"/>
  <Override PartName="/ppt/tags/tag82.xml" ContentType="application/vnd.openxmlformats-officedocument.presentationml.tags+xml"/>
  <Override PartName="/ppt/notesSlides/notesSlide82.xml" ContentType="application/vnd.openxmlformats-officedocument.presentationml.notesSlide+xml"/>
  <Override PartName="/ppt/tags/tag83.xml" ContentType="application/vnd.openxmlformats-officedocument.presentationml.tags+xml"/>
  <Override PartName="/ppt/notesSlides/notesSlide83.xml" ContentType="application/vnd.openxmlformats-officedocument.presentationml.notesSlide+xml"/>
  <Override PartName="/ppt/tags/tag84.xml" ContentType="application/vnd.openxmlformats-officedocument.presentationml.tags+xml"/>
  <Override PartName="/ppt/notesSlides/notesSlide84.xml" ContentType="application/vnd.openxmlformats-officedocument.presentationml.notesSlide+xml"/>
  <Override PartName="/ppt/tags/tag85.xml" ContentType="application/vnd.openxmlformats-officedocument.presentationml.tags+xml"/>
  <Override PartName="/ppt/notesSlides/notesSlide85.xml" ContentType="application/vnd.openxmlformats-officedocument.presentationml.notesSlide+xml"/>
  <Override PartName="/ppt/tags/tag86.xml" ContentType="application/vnd.openxmlformats-officedocument.presentationml.tags+xml"/>
  <Override PartName="/ppt/notesSlides/notesSlide86.xml" ContentType="application/vnd.openxmlformats-officedocument.presentationml.notesSlide+xml"/>
  <Override PartName="/ppt/tags/tag87.xml" ContentType="application/vnd.openxmlformats-officedocument.presentationml.tags+xml"/>
  <Override PartName="/ppt/notesSlides/notesSlide87.xml" ContentType="application/vnd.openxmlformats-officedocument.presentationml.notesSlide+xml"/>
  <Override PartName="/ppt/tags/tag88.xml" ContentType="application/vnd.openxmlformats-officedocument.presentationml.tags+xml"/>
  <Override PartName="/ppt/notesSlides/notesSlide88.xml" ContentType="application/vnd.openxmlformats-officedocument.presentationml.notesSlide+xml"/>
  <Override PartName="/ppt/tags/tag89.xml" ContentType="application/vnd.openxmlformats-officedocument.presentationml.tags+xml"/>
  <Override PartName="/ppt/notesSlides/notesSlide89.xml" ContentType="application/vnd.openxmlformats-officedocument.presentationml.notesSlide+xml"/>
  <Override PartName="/ppt/tags/tag90.xml" ContentType="application/vnd.openxmlformats-officedocument.presentationml.tags+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522" r:id="rId3"/>
    <p:sldId id="720" r:id="rId4"/>
    <p:sldId id="721" r:id="rId5"/>
    <p:sldId id="722" r:id="rId6"/>
    <p:sldId id="723" r:id="rId7"/>
    <p:sldId id="724" r:id="rId8"/>
    <p:sldId id="725" r:id="rId9"/>
    <p:sldId id="726" r:id="rId10"/>
    <p:sldId id="727" r:id="rId11"/>
    <p:sldId id="728" r:id="rId12"/>
    <p:sldId id="729" r:id="rId13"/>
    <p:sldId id="730" r:id="rId14"/>
    <p:sldId id="731" r:id="rId15"/>
    <p:sldId id="732" r:id="rId16"/>
    <p:sldId id="733" r:id="rId17"/>
    <p:sldId id="734" r:id="rId18"/>
    <p:sldId id="735" r:id="rId19"/>
    <p:sldId id="736" r:id="rId20"/>
    <p:sldId id="737" r:id="rId21"/>
    <p:sldId id="738" r:id="rId22"/>
    <p:sldId id="739" r:id="rId23"/>
    <p:sldId id="740" r:id="rId24"/>
    <p:sldId id="741" r:id="rId25"/>
    <p:sldId id="742" r:id="rId26"/>
    <p:sldId id="743" r:id="rId27"/>
    <p:sldId id="744" r:id="rId28"/>
    <p:sldId id="745" r:id="rId29"/>
    <p:sldId id="746" r:id="rId30"/>
    <p:sldId id="747" r:id="rId31"/>
    <p:sldId id="748" r:id="rId32"/>
    <p:sldId id="749" r:id="rId33"/>
    <p:sldId id="750" r:id="rId34"/>
    <p:sldId id="751" r:id="rId35"/>
    <p:sldId id="752" r:id="rId36"/>
    <p:sldId id="753" r:id="rId37"/>
    <p:sldId id="754" r:id="rId38"/>
    <p:sldId id="755" r:id="rId39"/>
    <p:sldId id="756" r:id="rId40"/>
    <p:sldId id="757" r:id="rId41"/>
    <p:sldId id="758" r:id="rId42"/>
    <p:sldId id="759" r:id="rId43"/>
    <p:sldId id="760" r:id="rId44"/>
    <p:sldId id="761" r:id="rId45"/>
    <p:sldId id="762" r:id="rId46"/>
    <p:sldId id="763" r:id="rId47"/>
    <p:sldId id="764" r:id="rId48"/>
    <p:sldId id="765" r:id="rId49"/>
    <p:sldId id="766" r:id="rId50"/>
    <p:sldId id="767" r:id="rId51"/>
    <p:sldId id="768" r:id="rId52"/>
    <p:sldId id="769" r:id="rId53"/>
    <p:sldId id="770" r:id="rId54"/>
    <p:sldId id="771" r:id="rId55"/>
    <p:sldId id="772" r:id="rId56"/>
    <p:sldId id="773" r:id="rId57"/>
    <p:sldId id="774" r:id="rId58"/>
    <p:sldId id="775" r:id="rId59"/>
    <p:sldId id="776" r:id="rId60"/>
    <p:sldId id="777" r:id="rId61"/>
    <p:sldId id="778" r:id="rId62"/>
    <p:sldId id="779" r:id="rId63"/>
    <p:sldId id="780" r:id="rId64"/>
    <p:sldId id="781" r:id="rId65"/>
    <p:sldId id="782" r:id="rId66"/>
    <p:sldId id="783" r:id="rId67"/>
    <p:sldId id="784" r:id="rId68"/>
    <p:sldId id="785" r:id="rId69"/>
    <p:sldId id="786" r:id="rId70"/>
    <p:sldId id="787" r:id="rId71"/>
    <p:sldId id="788" r:id="rId72"/>
    <p:sldId id="789" r:id="rId73"/>
    <p:sldId id="790" r:id="rId74"/>
    <p:sldId id="791" r:id="rId75"/>
    <p:sldId id="792" r:id="rId76"/>
    <p:sldId id="793" r:id="rId77"/>
    <p:sldId id="794" r:id="rId78"/>
    <p:sldId id="795" r:id="rId79"/>
    <p:sldId id="796" r:id="rId80"/>
    <p:sldId id="797" r:id="rId81"/>
    <p:sldId id="798" r:id="rId82"/>
    <p:sldId id="799" r:id="rId83"/>
    <p:sldId id="800" r:id="rId84"/>
    <p:sldId id="801" r:id="rId85"/>
    <p:sldId id="802" r:id="rId86"/>
    <p:sldId id="803" r:id="rId87"/>
    <p:sldId id="804" r:id="rId88"/>
    <p:sldId id="805" r:id="rId89"/>
    <p:sldId id="335" r:id="rId90"/>
    <p:sldId id="283" r:id="rId91"/>
  </p:sldIdLst>
  <p:sldSz cx="12192000" cy="6858000"/>
  <p:notesSz cx="6858000" cy="9144000"/>
  <p:custDataLst>
    <p:tags r:id="rId9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5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6" autoAdjust="0"/>
    <p:restoredTop sz="93461" autoAdjust="0"/>
  </p:normalViewPr>
  <p:slideViewPr>
    <p:cSldViewPr snapToGrid="0">
      <p:cViewPr varScale="1">
        <p:scale>
          <a:sx n="82" d="100"/>
          <a:sy n="82" d="100"/>
        </p:scale>
        <p:origin x="758"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B00CE-9247-49D0-8AE5-6DFFAEFF8CEF}" type="datetimeFigureOut">
              <a:rPr lang="zh-CN" altLang="en-US" smtClean="0"/>
              <a:pPr/>
              <a:t>2021-3-29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D86BB-FDB9-4079-8E00-8F1F7A4AA6F0}" type="slidenum">
              <a:rPr lang="zh-CN" altLang="en-US" smtClean="0"/>
              <a:pPr/>
              <a:t>‹#›</a:t>
            </a:fld>
            <a:endParaRPr lang="zh-CN" altLang="en-US"/>
          </a:p>
        </p:txBody>
      </p:sp>
    </p:spTree>
    <p:extLst>
      <p:ext uri="{BB962C8B-B14F-4D97-AF65-F5344CB8AC3E}">
        <p14:creationId xmlns:p14="http://schemas.microsoft.com/office/powerpoint/2010/main" val="249607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a:t>
            </a:fld>
            <a:endParaRPr lang="zh-CN" altLang="en-US"/>
          </a:p>
        </p:txBody>
      </p:sp>
    </p:spTree>
    <p:extLst>
      <p:ext uri="{BB962C8B-B14F-4D97-AF65-F5344CB8AC3E}">
        <p14:creationId xmlns:p14="http://schemas.microsoft.com/office/powerpoint/2010/main" val="365053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19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29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39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49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59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69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79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89</a:t>
            </a:fld>
            <a:endParaRPr lang="zh-CN" altLang="en-US"/>
          </a:p>
        </p:txBody>
      </p:sp>
    </p:spTree>
    <p:extLst>
      <p:ext uri="{BB962C8B-B14F-4D97-AF65-F5344CB8AC3E}">
        <p14:creationId xmlns:p14="http://schemas.microsoft.com/office/powerpoint/2010/main" val="226653278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pPr/>
              <a:t>90</a:t>
            </a:fld>
            <a:endParaRPr lang="zh-CN" altLang="en-US"/>
          </a:p>
        </p:txBody>
      </p:sp>
    </p:spTree>
    <p:extLst>
      <p:ext uri="{BB962C8B-B14F-4D97-AF65-F5344CB8AC3E}">
        <p14:creationId xmlns:p14="http://schemas.microsoft.com/office/powerpoint/2010/main" val="2250442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pPr/>
              <a:t>‹#›</a:t>
            </a:fld>
            <a:endParaRPr lang="zh-CN" altLang="en-US"/>
          </a:p>
        </p:txBody>
      </p:sp>
      <p:grpSp>
        <p:nvGrpSpPr>
          <p:cNvPr id="10" name="组合 9"/>
          <p:cNvGrpSpPr/>
          <p:nvPr userDrawn="1"/>
        </p:nvGrpSpPr>
        <p:grpSpPr>
          <a:xfrm>
            <a:off x="3117273" y="-3221"/>
            <a:ext cx="6259483" cy="1600200"/>
            <a:chOff x="3117273" y="-3221"/>
            <a:chExt cx="6259483" cy="1600200"/>
          </a:xfrm>
        </p:grpSpPr>
        <p:sp>
          <p:nvSpPr>
            <p:cNvPr id="11" name="矩形 10"/>
            <p:cNvSpPr/>
            <p:nvPr userDrawn="1"/>
          </p:nvSpPr>
          <p:spPr>
            <a:xfrm>
              <a:off x="3117273" y="-3221"/>
              <a:ext cx="6259483" cy="16002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93773" y="760266"/>
              <a:ext cx="3590099" cy="560369"/>
            </a:xfrm>
            <a:prstGeom prst="rect">
              <a:avLst/>
            </a:prstGeom>
          </p:spPr>
        </p:pic>
      </p:grpSp>
    </p:spTree>
    <p:extLst>
      <p:ext uri="{BB962C8B-B14F-4D97-AF65-F5344CB8AC3E}">
        <p14:creationId xmlns:p14="http://schemas.microsoft.com/office/powerpoint/2010/main" val="144053939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pPr/>
              <a:t>‹#›</a:t>
            </a:fld>
            <a:endParaRPr lang="zh-CN" altLang="en-US"/>
          </a:p>
        </p:txBody>
      </p:sp>
    </p:spTree>
    <p:extLst>
      <p:ext uri="{BB962C8B-B14F-4D97-AF65-F5344CB8AC3E}">
        <p14:creationId xmlns:p14="http://schemas.microsoft.com/office/powerpoint/2010/main" val="269188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pPr/>
              <a:t>‹#›</a:t>
            </a:fld>
            <a:endParaRPr lang="zh-CN" altLang="en-US"/>
          </a:p>
        </p:txBody>
      </p:sp>
    </p:spTree>
    <p:extLst>
      <p:ext uri="{BB962C8B-B14F-4D97-AF65-F5344CB8AC3E}">
        <p14:creationId xmlns:p14="http://schemas.microsoft.com/office/powerpoint/2010/main" val="55882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pPr/>
              <a:t>‹#›</a:t>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83773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pPr/>
              <a:t>‹#›</a:t>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665202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pPr/>
              <a:t>‹#›</a:t>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772689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EA79B1-94F2-44A5-8271-BE7A17D6686D}" type="datetimeFigureOut">
              <a:rPr lang="zh-CN" altLang="en-US" smtClean="0"/>
              <a:pPr/>
              <a:t>2021-3-29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pPr/>
              <a:t>‹#›</a:t>
            </a:fld>
            <a:endParaRPr lang="zh-CN" altLang="en-US"/>
          </a:p>
        </p:txBody>
      </p:sp>
      <p:pic>
        <p:nvPicPr>
          <p:cNvPr id="6" name="Picture 3"/>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图片 4"/>
          <p:cNvPicPr>
            <a:picLocks noChangeAspect="1"/>
          </p:cNvPicPr>
          <p:nvPr userDrawn="1"/>
        </p:nvPicPr>
        <p:blipFill>
          <a:blip r:embed="rId3"/>
          <a:stretch>
            <a:fillRect/>
          </a:stretch>
        </p:blipFill>
        <p:spPr>
          <a:xfrm>
            <a:off x="3976687" y="1038082"/>
            <a:ext cx="4238625" cy="1228725"/>
          </a:xfrm>
          <a:prstGeom prst="rect">
            <a:avLst/>
          </a:prstGeom>
        </p:spPr>
      </p:pic>
    </p:spTree>
    <p:extLst>
      <p:ext uri="{BB962C8B-B14F-4D97-AF65-F5344CB8AC3E}">
        <p14:creationId xmlns:p14="http://schemas.microsoft.com/office/powerpoint/2010/main" val="225923876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 name="Picture 2" descr="C:\Users\admin\AppData\Local\Temp\企业微信截图_1612256527179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6128" y="6489221"/>
            <a:ext cx="1733550" cy="342901"/>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p:cNvGrpSpPr/>
          <p:nvPr userDrawn="1"/>
        </p:nvGrpSpPr>
        <p:grpSpPr>
          <a:xfrm>
            <a:off x="8429625" y="247650"/>
            <a:ext cx="3457575" cy="809625"/>
            <a:chOff x="8429625" y="247650"/>
            <a:chExt cx="3457575" cy="809625"/>
          </a:xfrm>
        </p:grpSpPr>
        <p:sp>
          <p:nvSpPr>
            <p:cNvPr id="8" name="矩形 7"/>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grpSp>
        <p:nvGrpSpPr>
          <p:cNvPr id="2" name="组合 1"/>
          <p:cNvGrpSpPr/>
          <p:nvPr userDrawn="1"/>
        </p:nvGrpSpPr>
        <p:grpSpPr>
          <a:xfrm>
            <a:off x="8429625" y="247650"/>
            <a:ext cx="3457575" cy="809625"/>
            <a:chOff x="8429625" y="247650"/>
            <a:chExt cx="3457575" cy="809625"/>
          </a:xfrm>
        </p:grpSpPr>
        <p:sp>
          <p:nvSpPr>
            <p:cNvPr id="3" name="矩形 2"/>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spTree>
    <p:extLst>
      <p:ext uri="{BB962C8B-B14F-4D97-AF65-F5344CB8AC3E}">
        <p14:creationId xmlns:p14="http://schemas.microsoft.com/office/powerpoint/2010/main" val="226144116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A79B1-94F2-44A5-8271-BE7A17D6686D}" type="datetimeFigureOut">
              <a:rPr lang="zh-CN" altLang="en-US" smtClean="0"/>
              <a:pPr/>
              <a:t>2021-3-29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pPr/>
              <a:t>‹#›</a:t>
            </a:fld>
            <a:endParaRPr lang="zh-CN" altLang="en-US"/>
          </a:p>
        </p:txBody>
      </p:sp>
      <p:pic>
        <p:nvPicPr>
          <p:cNvPr id="7" name="图片 6"/>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634962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61"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xml"/><Relationship Id="rId1" Type="http://schemas.openxmlformats.org/officeDocument/2006/relationships/vmlDrawing" Target="../drawings/vmlDrawing2.vml"/><Relationship Id="rId6" Type="http://schemas.openxmlformats.org/officeDocument/2006/relationships/image" Target="../media/image12.emf"/><Relationship Id="rId5" Type="http://schemas.openxmlformats.org/officeDocument/2006/relationships/oleObject" Target="../embeddings/oleObject2.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tags" Target="../tags/tag16.xml"/><Relationship Id="rId5" Type="http://schemas.openxmlformats.org/officeDocument/2006/relationships/image" Target="../media/image19.png"/><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tags" Target="../tags/tag2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23.xml"/><Relationship Id="rId4" Type="http://schemas.openxmlformats.org/officeDocument/2006/relationships/slide" Target="slide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28.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30.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8.xml"/><Relationship Id="rId1" Type="http://schemas.openxmlformats.org/officeDocument/2006/relationships/tags" Target="../tags/tag35.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36.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40.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tags" Target="../tags/tag4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4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45.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8.xml"/><Relationship Id="rId1" Type="http://schemas.openxmlformats.org/officeDocument/2006/relationships/tags" Target="../tags/tag46.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8.xml"/><Relationship Id="rId1" Type="http://schemas.openxmlformats.org/officeDocument/2006/relationships/tags" Target="../tags/tag4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tags" Target="../tags/tag48.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tags" Target="../tags/tag49.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8.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8.xml"/><Relationship Id="rId1" Type="http://schemas.openxmlformats.org/officeDocument/2006/relationships/tags" Target="../tags/tag51.xml"/><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5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tags" Target="../tags/tag53.xm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8.xml"/><Relationship Id="rId1" Type="http://schemas.openxmlformats.org/officeDocument/2006/relationships/tags" Target="../tags/tag5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5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8.xml"/><Relationship Id="rId1" Type="http://schemas.openxmlformats.org/officeDocument/2006/relationships/tags" Target="../tags/tag56.xml"/><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8.xml"/><Relationship Id="rId1" Type="http://schemas.openxmlformats.org/officeDocument/2006/relationships/tags" Target="../tags/tag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8.xml"/><Relationship Id="rId1" Type="http://schemas.openxmlformats.org/officeDocument/2006/relationships/tags" Target="../tags/tag5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8.xml"/><Relationship Id="rId1" Type="http://schemas.openxmlformats.org/officeDocument/2006/relationships/tags" Target="../tags/tag60.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8.xml"/><Relationship Id="rId1" Type="http://schemas.openxmlformats.org/officeDocument/2006/relationships/tags" Target="../tags/tag6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8.xml"/><Relationship Id="rId1" Type="http://schemas.openxmlformats.org/officeDocument/2006/relationships/tags" Target="../tags/tag62.xml"/><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8.xml"/><Relationship Id="rId1" Type="http://schemas.openxmlformats.org/officeDocument/2006/relationships/tags" Target="../tags/tag63.xml"/><Relationship Id="rId4" Type="http://schemas.openxmlformats.org/officeDocument/2006/relationships/image" Target="../media/image3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8.xml"/><Relationship Id="rId1" Type="http://schemas.openxmlformats.org/officeDocument/2006/relationships/tags" Target="../tags/tag64.xml"/><Relationship Id="rId4" Type="http://schemas.openxmlformats.org/officeDocument/2006/relationships/image" Target="../media/image3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8.xml"/><Relationship Id="rId1" Type="http://schemas.openxmlformats.org/officeDocument/2006/relationships/tags" Target="../tags/tag65.xml"/><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8.xml"/><Relationship Id="rId1" Type="http://schemas.openxmlformats.org/officeDocument/2006/relationships/tags" Target="../tags/tag66.xml"/><Relationship Id="rId4" Type="http://schemas.openxmlformats.org/officeDocument/2006/relationships/image" Target="../media/image35.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8.xml"/><Relationship Id="rId1" Type="http://schemas.openxmlformats.org/officeDocument/2006/relationships/tags" Target="../tags/tag67.xml"/><Relationship Id="rId4" Type="http://schemas.openxmlformats.org/officeDocument/2006/relationships/image" Target="../media/image3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8.xml"/><Relationship Id="rId1" Type="http://schemas.openxmlformats.org/officeDocument/2006/relationships/tags" Target="../tags/tag68.xml"/><Relationship Id="rId4" Type="http://schemas.openxmlformats.org/officeDocument/2006/relationships/image" Target="../media/image36.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8.xml"/><Relationship Id="rId1" Type="http://schemas.openxmlformats.org/officeDocument/2006/relationships/tags" Target="../tags/tag69.xml"/><Relationship Id="rId4" Type="http://schemas.openxmlformats.org/officeDocument/2006/relationships/image" Target="../media/image37.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8.xml"/><Relationship Id="rId1" Type="http://schemas.openxmlformats.org/officeDocument/2006/relationships/tags" Target="../tags/tag70.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8.xml"/><Relationship Id="rId1" Type="http://schemas.openxmlformats.org/officeDocument/2006/relationships/tags" Target="../tags/tag7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8.xml"/><Relationship Id="rId1" Type="http://schemas.openxmlformats.org/officeDocument/2006/relationships/tags" Target="../tags/tag7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8.xml"/><Relationship Id="rId1" Type="http://schemas.openxmlformats.org/officeDocument/2006/relationships/tags" Target="../tags/tag73.xml"/><Relationship Id="rId4" Type="http://schemas.openxmlformats.org/officeDocument/2006/relationships/image" Target="../media/image38.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8.xml"/><Relationship Id="rId1" Type="http://schemas.openxmlformats.org/officeDocument/2006/relationships/tags" Target="../tags/tag74.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8.xml"/><Relationship Id="rId1" Type="http://schemas.openxmlformats.org/officeDocument/2006/relationships/tags" Target="../tags/tag75.xml"/><Relationship Id="rId4" Type="http://schemas.openxmlformats.org/officeDocument/2006/relationships/image" Target="../media/image39.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8.xml"/><Relationship Id="rId1" Type="http://schemas.openxmlformats.org/officeDocument/2006/relationships/tags" Target="../tags/tag76.xml"/><Relationship Id="rId4" Type="http://schemas.openxmlformats.org/officeDocument/2006/relationships/image" Target="../media/image39.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8.xml"/><Relationship Id="rId1" Type="http://schemas.openxmlformats.org/officeDocument/2006/relationships/tags" Target="../tags/tag77.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8.xml"/><Relationship Id="rId1" Type="http://schemas.openxmlformats.org/officeDocument/2006/relationships/tags" Target="../tags/tag78.xml"/><Relationship Id="rId4" Type="http://schemas.openxmlformats.org/officeDocument/2006/relationships/image" Target="../media/image40.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8.xml"/><Relationship Id="rId1" Type="http://schemas.openxmlformats.org/officeDocument/2006/relationships/tags" Target="../tags/tag79.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8.xml"/><Relationship Id="rId1" Type="http://schemas.openxmlformats.org/officeDocument/2006/relationships/tags" Target="../tags/tag80.xml"/><Relationship Id="rId4" Type="http://schemas.openxmlformats.org/officeDocument/2006/relationships/image" Target="../media/image41.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8.xml"/><Relationship Id="rId1" Type="http://schemas.openxmlformats.org/officeDocument/2006/relationships/tags" Target="../tags/tag81.xml"/><Relationship Id="rId4" Type="http://schemas.openxmlformats.org/officeDocument/2006/relationships/image" Target="../media/image42.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8.xml"/><Relationship Id="rId1" Type="http://schemas.openxmlformats.org/officeDocument/2006/relationships/tags" Target="../tags/tag82.xml"/><Relationship Id="rId4" Type="http://schemas.openxmlformats.org/officeDocument/2006/relationships/image" Target="../media/image43.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8.xml"/><Relationship Id="rId1" Type="http://schemas.openxmlformats.org/officeDocument/2006/relationships/tags" Target="../tags/tag83.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8.xml"/><Relationship Id="rId1" Type="http://schemas.openxmlformats.org/officeDocument/2006/relationships/tags" Target="../tags/tag84.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8.xml"/><Relationship Id="rId1" Type="http://schemas.openxmlformats.org/officeDocument/2006/relationships/tags" Target="../tags/tag8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8.xml"/><Relationship Id="rId1" Type="http://schemas.openxmlformats.org/officeDocument/2006/relationships/tags" Target="../tags/tag86.xml"/><Relationship Id="rId4" Type="http://schemas.openxmlformats.org/officeDocument/2006/relationships/image" Target="../media/image44.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8.xml"/><Relationship Id="rId1" Type="http://schemas.openxmlformats.org/officeDocument/2006/relationships/tags" Target="../tags/tag87.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8.xml"/><Relationship Id="rId1" Type="http://schemas.openxmlformats.org/officeDocument/2006/relationships/tags" Target="../tags/tag88.xml"/><Relationship Id="rId4" Type="http://schemas.openxmlformats.org/officeDocument/2006/relationships/image" Target="../media/image45.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9.xml"/><Relationship Id="rId1" Type="http://schemas.openxmlformats.org/officeDocument/2006/relationships/tags" Target="../tags/tag89.xml"/><Relationship Id="rId4" Type="http://schemas.openxmlformats.org/officeDocument/2006/relationships/image" Target="../media/image46.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smtClean="0">
                <a:latin typeface="方正细倩简体"/>
                <a:ea typeface="方正细倩简体"/>
                <a:cs typeface="方正细倩简体"/>
              </a:rPr>
              <a:t>第</a:t>
            </a:r>
            <a:r>
              <a:rPr lang="en-US" altLang="zh-CN" b="1" dirty="0">
                <a:latin typeface="方正细倩简体"/>
                <a:ea typeface="方正细倩简体"/>
                <a:cs typeface="方正细倩简体"/>
              </a:rPr>
              <a:t>8</a:t>
            </a:r>
            <a:r>
              <a:rPr lang="zh-CN" altLang="en-US" b="1" dirty="0" smtClean="0">
                <a:latin typeface="方正细倩简体"/>
                <a:ea typeface="方正细倩简体"/>
                <a:cs typeface="方正细倩简体"/>
              </a:rPr>
              <a:t>章 </a:t>
            </a:r>
            <a:r>
              <a:rPr lang="en-US" altLang="zh-CN" b="1" dirty="0" smtClean="0">
                <a:latin typeface="方正细倩简体"/>
                <a:ea typeface="方正细倩简体"/>
                <a:cs typeface="方正细倩简体"/>
              </a:rPr>
              <a:t>I/O</a:t>
            </a:r>
            <a:r>
              <a:rPr lang="zh-CN" altLang="en-US" b="1" dirty="0" smtClean="0">
                <a:latin typeface="方正细倩简体"/>
                <a:ea typeface="方正细倩简体"/>
                <a:cs typeface="方正细倩简体"/>
              </a:rPr>
              <a:t>流</a:t>
            </a:r>
            <a:endParaRPr lang="zh-CN" altLang="zh-CN" b="1" dirty="0"/>
          </a:p>
        </p:txBody>
      </p:sp>
      <p:sp>
        <p:nvSpPr>
          <p:cNvPr id="5" name="矩形 4"/>
          <p:cNvSpPr/>
          <p:nvPr/>
        </p:nvSpPr>
        <p:spPr>
          <a:xfrm>
            <a:off x="5220744" y="5102181"/>
            <a:ext cx="2065881" cy="1338828"/>
          </a:xfrm>
          <a:prstGeom prst="rect">
            <a:avLst/>
          </a:prstGeom>
        </p:spPr>
        <p:txBody>
          <a:bodyPr wrap="square">
            <a:spAutoFit/>
          </a:bodyPr>
          <a:lstStyle/>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标准</a:t>
            </a: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I/O</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流</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文件流</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字符串流</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0784" y="5203668"/>
            <a:ext cx="1905952" cy="1054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945558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8.1.1 </a:t>
            </a:r>
            <a:r>
              <a:rPr lang="en-US" altLang="zh-CN" sz="3200" b="1" dirty="0" err="1" smtClean="0">
                <a:solidFill>
                  <a:srgbClr val="1353A2"/>
                </a:solidFill>
                <a:latin typeface="微软雅黑" pitchFamily="34" charset="-122"/>
                <a:ea typeface="微软雅黑" pitchFamily="34" charset="-122"/>
              </a:rPr>
              <a:t>ios</a:t>
            </a:r>
            <a:r>
              <a:rPr lang="zh-CN" altLang="en-US" sz="3200" b="1" dirty="0" smtClean="0">
                <a:solidFill>
                  <a:srgbClr val="1353A2"/>
                </a:solidFill>
                <a:latin typeface="微软雅黑" pitchFamily="34" charset="-122"/>
                <a:ea typeface="微软雅黑" pitchFamily="34" charset="-122"/>
              </a:rPr>
              <a:t>类库</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5864860" y="1941691"/>
            <a:ext cx="5180382" cy="349884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类库以</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类为根基类，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类是一个抽象类，提供了输入</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输出所需的公共接口，如设置数据流格式、错误状态恢复、设置文件的输入</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输出模式等。</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3135" y="1328651"/>
            <a:ext cx="3435349" cy="4724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1000"/>
                                        <p:tgtEl>
                                          <p:spTgt spid="1027"/>
                                        </p:tgtEl>
                                      </p:cBhvr>
                                    </p:animEffect>
                                    <p:anim calcmode="lin" valueType="num">
                                      <p:cBhvr>
                                        <p:cTn id="8" dur="1000" fill="hold"/>
                                        <p:tgtEl>
                                          <p:spTgt spid="1027"/>
                                        </p:tgtEl>
                                        <p:attrNameLst>
                                          <p:attrName>ppt_x</p:attrName>
                                        </p:attrNameLst>
                                      </p:cBhvr>
                                      <p:tavLst>
                                        <p:tav tm="0">
                                          <p:val>
                                            <p:strVal val="#ppt_x"/>
                                          </p:val>
                                        </p:tav>
                                        <p:tav tm="100000">
                                          <p:val>
                                            <p:strVal val="#ppt_x"/>
                                          </p:val>
                                        </p:tav>
                                      </p:tavLst>
                                    </p:anim>
                                    <p:anim calcmode="lin" valueType="num">
                                      <p:cBhvr>
                                        <p:cTn id="9" dur="1000" fill="hold"/>
                                        <p:tgtEl>
                                          <p:spTgt spid="102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8.1.1 </a:t>
            </a:r>
            <a:r>
              <a:rPr lang="en-US" altLang="zh-CN" sz="3200" b="1" dirty="0" err="1" smtClean="0">
                <a:solidFill>
                  <a:srgbClr val="1353A2"/>
                </a:solidFill>
                <a:latin typeface="微软雅黑" pitchFamily="34" charset="-122"/>
                <a:ea typeface="微软雅黑" pitchFamily="34" charset="-122"/>
              </a:rPr>
              <a:t>ios</a:t>
            </a:r>
            <a:r>
              <a:rPr lang="zh-CN" altLang="en-US" sz="3200" b="1" dirty="0" smtClean="0">
                <a:solidFill>
                  <a:srgbClr val="1353A2"/>
                </a:solidFill>
                <a:latin typeface="微软雅黑" pitchFamily="34" charset="-122"/>
                <a:ea typeface="微软雅黑" pitchFamily="34" charset="-122"/>
              </a:rPr>
              <a:t>类库</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5188585" y="1246366"/>
            <a:ext cx="2545715" cy="76340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类库</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层次结构</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9697" name="Object 1"/>
          <p:cNvGraphicFramePr>
            <a:graphicFrameLocks noChangeAspect="1"/>
          </p:cNvGraphicFramePr>
          <p:nvPr/>
        </p:nvGraphicFramePr>
        <p:xfrm>
          <a:off x="2945209" y="2095499"/>
          <a:ext cx="6943329" cy="3724275"/>
        </p:xfrm>
        <a:graphic>
          <a:graphicData uri="http://schemas.openxmlformats.org/presentationml/2006/ole">
            <mc:AlternateContent xmlns:mc="http://schemas.openxmlformats.org/markup-compatibility/2006">
              <mc:Choice xmlns:v="urn:schemas-microsoft-com:vml" Requires="v">
                <p:oleObj spid="_x0000_s29707" name="Visio" r:id="rId5" imgW="3992133" imgH="2140128" progId="Visio.Drawing.11">
                  <p:embed/>
                </p:oleObj>
              </mc:Choice>
              <mc:Fallback>
                <p:oleObj name="Visio" r:id="rId5" imgW="3992133" imgH="2140128" progId="Visio.Drawing.11">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5209" y="2095499"/>
                        <a:ext cx="6943329" cy="3724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9697"/>
                                        </p:tgtEl>
                                        <p:attrNameLst>
                                          <p:attrName>style.visibility</p:attrName>
                                        </p:attrNameLst>
                                      </p:cBhvr>
                                      <p:to>
                                        <p:strVal val="visible"/>
                                      </p:to>
                                    </p:set>
                                    <p:animEffect transition="in" filter="wipe(up)">
                                      <p:cBhvr>
                                        <p:cTn id="11" dur="500"/>
                                        <p:tgtEl>
                                          <p:spTgt spid="29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8.1.1 </a:t>
            </a:r>
            <a:r>
              <a:rPr lang="en-US" altLang="zh-CN" sz="3200" b="1" dirty="0" err="1" smtClean="0">
                <a:solidFill>
                  <a:srgbClr val="1353A2"/>
                </a:solidFill>
                <a:latin typeface="微软雅黑" pitchFamily="34" charset="-122"/>
                <a:ea typeface="微软雅黑" pitchFamily="34" charset="-122"/>
              </a:rPr>
              <a:t>ios</a:t>
            </a:r>
            <a:r>
              <a:rPr lang="zh-CN" altLang="en-US" sz="3200" b="1" dirty="0" smtClean="0">
                <a:solidFill>
                  <a:srgbClr val="1353A2"/>
                </a:solidFill>
                <a:latin typeface="微软雅黑" pitchFamily="34" charset="-122"/>
                <a:ea typeface="微软雅黑" pitchFamily="34" charset="-122"/>
              </a:rPr>
              <a:t>类库</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2038351" y="1913117"/>
            <a:ext cx="5553074" cy="326848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抽象基类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类派生了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2</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类是输入输出流类，定义了输入流和输出流的基本特性。</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类又派生了其他类。</a:t>
            </a: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8483" name="Picture 3"/>
          <p:cNvPicPr>
            <a:picLocks noChangeAspect="1" noChangeArrowheads="1"/>
          </p:cNvPicPr>
          <p:nvPr/>
        </p:nvPicPr>
        <p:blipFill>
          <a:blip r:embed="rId4" cstate="print"/>
          <a:srcRect/>
          <a:stretch>
            <a:fillRect/>
          </a:stretch>
        </p:blipFill>
        <p:spPr bwMode="auto">
          <a:xfrm>
            <a:off x="8048626" y="1566863"/>
            <a:ext cx="3024188" cy="367133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8483"/>
                                        </p:tgtEl>
                                        <p:attrNameLst>
                                          <p:attrName>style.visibility</p:attrName>
                                        </p:attrNameLst>
                                      </p:cBhvr>
                                      <p:to>
                                        <p:strVal val="visible"/>
                                      </p:to>
                                    </p:set>
                                    <p:animEffect transition="in" filter="wipe(down)">
                                      <p:cBhvr>
                                        <p:cTn id="11" dur="500"/>
                                        <p:tgtEl>
                                          <p:spTgt spid="148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8.1.1 </a:t>
            </a:r>
            <a:r>
              <a:rPr lang="en-US" altLang="zh-CN" sz="3200" b="1" dirty="0" err="1" smtClean="0">
                <a:solidFill>
                  <a:srgbClr val="1353A2"/>
                </a:solidFill>
                <a:latin typeface="微软雅黑" pitchFamily="34" charset="-122"/>
                <a:ea typeface="微软雅黑" pitchFamily="34" charset="-122"/>
              </a:rPr>
              <a:t>ios</a:t>
            </a:r>
            <a:r>
              <a:rPr lang="zh-CN" altLang="en-US" sz="3200" b="1" dirty="0" smtClean="0">
                <a:solidFill>
                  <a:srgbClr val="1353A2"/>
                </a:solidFill>
                <a:latin typeface="微软雅黑" pitchFamily="34" charset="-122"/>
                <a:ea typeface="微软雅黑" pitchFamily="34" charset="-122"/>
              </a:rPr>
              <a:t>类库</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1724025" y="1513067"/>
            <a:ext cx="10010775" cy="410668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类库中各个类的含义与功能如下所示：</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类：文件输入流类，支持文件的读取操作。</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类：字符串输入流类，支持字符串的输入操作。</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类：文件输出流类，支持文件的写入操作。</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类：字符串输出流类，支持字符串的输出操作。</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类：文件输入</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输出流类，支持文件的读取和写入操作。</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类：字符串输入</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输出流为，支持字符串输入和输出操作。</a:t>
            </a: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8.1.2 </a:t>
            </a:r>
            <a:r>
              <a:rPr lang="en-US" altLang="zh-CN" sz="3200" b="1" dirty="0" err="1" smtClean="0">
                <a:solidFill>
                  <a:srgbClr val="1353A2"/>
                </a:solidFill>
                <a:latin typeface="微软雅黑" pitchFamily="34" charset="-122"/>
                <a:ea typeface="微软雅黑" pitchFamily="34" charset="-122"/>
              </a:rPr>
              <a:t>streambuf</a:t>
            </a:r>
            <a:r>
              <a:rPr lang="zh-CN" altLang="en-US" sz="3200" b="1" dirty="0" smtClean="0">
                <a:solidFill>
                  <a:srgbClr val="1353A2"/>
                </a:solidFill>
                <a:latin typeface="微软雅黑" pitchFamily="34" charset="-122"/>
                <a:ea typeface="微软雅黑" pitchFamily="34" charset="-122"/>
              </a:rPr>
              <a:t>类库</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1724025" y="1484492"/>
            <a:ext cx="10010775" cy="193498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类库以</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为根基类，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类是一个抽象类，提供了缓冲区操作接口，如设置缓冲区、从缓冲区提取字节、向缓冲区插入字节等。</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类库层次结构如</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下图。</a:t>
            </a:r>
            <a:endParaRPr lang="en-US" altLang="zh-CN" sz="2400" dirty="0" err="1" smtClean="0">
              <a:solidFill>
                <a:schemeClr val="bg1">
                  <a:lumMod val="50000"/>
                </a:schemeClr>
              </a:solidFill>
              <a:latin typeface="微软雅黑" pitchFamily="34" charset="-122"/>
              <a:ea typeface="微软雅黑" pitchFamily="34" charset="-122"/>
              <a:cs typeface="Times New Roman" pitchFamily="18" charset="0"/>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0529" name="Object 1"/>
          <p:cNvGraphicFramePr>
            <a:graphicFrameLocks noChangeAspect="1"/>
          </p:cNvGraphicFramePr>
          <p:nvPr/>
        </p:nvGraphicFramePr>
        <p:xfrm>
          <a:off x="3484198" y="3495675"/>
          <a:ext cx="5999528" cy="2190750"/>
        </p:xfrm>
        <a:graphic>
          <a:graphicData uri="http://schemas.openxmlformats.org/presentationml/2006/ole">
            <mc:AlternateContent xmlns:mc="http://schemas.openxmlformats.org/markup-compatibility/2006">
              <mc:Choice xmlns:v="urn:schemas-microsoft-com:vml" Requires="v">
                <p:oleObj spid="_x0000_s150539" name="Visio" r:id="rId5" imgW="2376522" imgH="868536" progId="Visio.Drawing.11">
                  <p:embed/>
                </p:oleObj>
              </mc:Choice>
              <mc:Fallback>
                <p:oleObj name="Visio" r:id="rId5" imgW="2376522" imgH="868536" progId="Visio.Drawing.11">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4198" y="3495675"/>
                        <a:ext cx="5999528" cy="219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50529"/>
                                        </p:tgtEl>
                                        <p:attrNameLst>
                                          <p:attrName>style.visibility</p:attrName>
                                        </p:attrNameLst>
                                      </p:cBhvr>
                                      <p:to>
                                        <p:strVal val="visible"/>
                                      </p:to>
                                    </p:set>
                                    <p:animEffect transition="in" filter="slide(fromBottom)">
                                      <p:cBhvr>
                                        <p:cTn id="11" dur="500"/>
                                        <p:tgtEl>
                                          <p:spTgt spid="150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7" name="Picture 3"/>
          <p:cNvPicPr>
            <a:picLocks noChangeAspect="1" noChangeArrowheads="1"/>
          </p:cNvPicPr>
          <p:nvPr/>
        </p:nvPicPr>
        <p:blipFill>
          <a:blip r:embed="rId4" cstate="print"/>
          <a:srcRect/>
          <a:stretch>
            <a:fillRect/>
          </a:stretch>
        </p:blipFill>
        <p:spPr bwMode="auto">
          <a:xfrm>
            <a:off x="1355725" y="1917700"/>
            <a:ext cx="3979444" cy="2911475"/>
          </a:xfrm>
          <a:prstGeom prst="rect">
            <a:avLst/>
          </a:prstGeom>
          <a:noFill/>
          <a:ln w="9525">
            <a:noFill/>
            <a:miter lim="800000"/>
            <a:headEnd/>
            <a:tailEnd/>
          </a:ln>
        </p:spPr>
      </p:pic>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8.1.2 </a:t>
            </a:r>
            <a:r>
              <a:rPr lang="en-US" altLang="zh-CN" sz="3200" b="1" dirty="0" err="1" smtClean="0">
                <a:solidFill>
                  <a:srgbClr val="1353A2"/>
                </a:solidFill>
                <a:latin typeface="微软雅黑" pitchFamily="34" charset="-122"/>
                <a:ea typeface="微软雅黑" pitchFamily="34" charset="-122"/>
              </a:rPr>
              <a:t>streambuf</a:t>
            </a:r>
            <a:r>
              <a:rPr lang="zh-CN" altLang="en-US" sz="3200" b="1" dirty="0" smtClean="0">
                <a:solidFill>
                  <a:srgbClr val="1353A2"/>
                </a:solidFill>
                <a:latin typeface="微软雅黑" pitchFamily="34" charset="-122"/>
                <a:ea typeface="微软雅黑" pitchFamily="34" charset="-122"/>
              </a:rPr>
              <a:t>类库</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5476875" y="2341742"/>
            <a:ext cx="5686425" cy="206833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stdiobuf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类用于标准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I/O</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缓冲区管理。</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filebuf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类用于文件缓冲区管理。</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err="1" smtClean="0">
                <a:solidFill>
                  <a:schemeClr val="bg1">
                    <a:lumMod val="50000"/>
                  </a:schemeClr>
                </a:solidFill>
                <a:latin typeface="微软雅黑" pitchFamily="34" charset="-122"/>
                <a:ea typeface="微软雅黑" pitchFamily="34" charset="-122"/>
                <a:cs typeface="Times New Roman" pitchFamily="18" charset="0"/>
              </a:rPr>
              <a:t>类用于内存缓冲区管理。</a:t>
            </a:r>
            <a:endParaRPr lang="en-US" altLang="zh-CN" sz="2400" dirty="0" err="1" smtClean="0">
              <a:solidFill>
                <a:schemeClr val="bg1">
                  <a:lumMod val="50000"/>
                </a:schemeClr>
              </a:solidFill>
              <a:latin typeface="微软雅黑" pitchFamily="34" charset="-122"/>
              <a:ea typeface="微软雅黑" pitchFamily="34" charset="-122"/>
              <a:cs typeface="Times New Roman" pitchFamily="18" charset="0"/>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wipe(down)">
                                      <p:cBhvr>
                                        <p:cTn id="7" dur="500"/>
                                        <p:tgtEl>
                                          <p:spTgt spid="1546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8.2.1 </a:t>
            </a:r>
            <a:r>
              <a:rPr lang="zh-CN" altLang="en-US" sz="3200" b="1" dirty="0" smtClean="0">
                <a:solidFill>
                  <a:srgbClr val="1353A2"/>
                </a:solidFill>
                <a:latin typeface="微软雅黑" pitchFamily="34" charset="-122"/>
                <a:ea typeface="微软雅黑" pitchFamily="34" charset="-122"/>
              </a:rPr>
              <a:t>预定义流对象</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5324475" y="1381125"/>
            <a:ext cx="5838825" cy="401002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提供了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4</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个预定义流对象：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cout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cerror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是</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类的对象，用于处理标准输入（键盘输入）。</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cout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cerror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是</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类的对象，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cout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用于处理标准输出（屏幕输出）；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cerr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用于处理标准错误信息。</a:t>
            </a: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55650" name="Picture 2"/>
          <p:cNvPicPr>
            <a:picLocks noChangeAspect="1" noChangeArrowheads="1"/>
          </p:cNvPicPr>
          <p:nvPr/>
        </p:nvPicPr>
        <p:blipFill>
          <a:blip r:embed="rId4" cstate="print"/>
          <a:srcRect/>
          <a:stretch>
            <a:fillRect/>
          </a:stretch>
        </p:blipFill>
        <p:spPr bwMode="auto">
          <a:xfrm>
            <a:off x="1562100" y="2024063"/>
            <a:ext cx="3314700" cy="349567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55650"/>
                                        </p:tgtEl>
                                        <p:attrNameLst>
                                          <p:attrName>style.visibility</p:attrName>
                                        </p:attrNameLst>
                                      </p:cBhvr>
                                      <p:to>
                                        <p:strVal val="visible"/>
                                      </p:to>
                                    </p:set>
                                    <p:animEffect transition="in" filter="checkerboard(across)">
                                      <p:cBhvr>
                                        <p:cTn id="7" dur="500"/>
                                        <p:tgtEl>
                                          <p:spTgt spid="15565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8.2.1 </a:t>
            </a:r>
            <a:r>
              <a:rPr lang="zh-CN" altLang="en-US" sz="3200" b="1" dirty="0" smtClean="0">
                <a:solidFill>
                  <a:srgbClr val="1353A2"/>
                </a:solidFill>
                <a:latin typeface="微软雅黑" pitchFamily="34" charset="-122"/>
                <a:ea typeface="微软雅黑" pitchFamily="34" charset="-122"/>
              </a:rPr>
              <a:t>预定义流对象</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4981576" y="1390650"/>
            <a:ext cx="3009900" cy="6953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预定义流对象的信息</a:t>
            </a: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表格 6"/>
          <p:cNvGraphicFramePr>
            <a:graphicFrameLocks noGrp="1"/>
          </p:cNvGraphicFramePr>
          <p:nvPr/>
        </p:nvGraphicFramePr>
        <p:xfrm>
          <a:off x="2114549" y="2219325"/>
          <a:ext cx="8180070" cy="3133725"/>
        </p:xfrm>
        <a:graphic>
          <a:graphicData uri="http://schemas.openxmlformats.org/drawingml/2006/table">
            <a:tbl>
              <a:tblPr/>
              <a:tblGrid>
                <a:gridCol w="1523509">
                  <a:extLst>
                    <a:ext uri="{9D8B030D-6E8A-4147-A177-3AD203B41FA5}">
                      <a16:colId xmlns:a16="http://schemas.microsoft.com/office/drawing/2014/main" val="20000"/>
                    </a:ext>
                  </a:extLst>
                </a:gridCol>
                <a:gridCol w="1664140">
                  <a:extLst>
                    <a:ext uri="{9D8B030D-6E8A-4147-A177-3AD203B41FA5}">
                      <a16:colId xmlns:a16="http://schemas.microsoft.com/office/drawing/2014/main" val="20001"/>
                    </a:ext>
                  </a:extLst>
                </a:gridCol>
                <a:gridCol w="1664140">
                  <a:extLst>
                    <a:ext uri="{9D8B030D-6E8A-4147-A177-3AD203B41FA5}">
                      <a16:colId xmlns:a16="http://schemas.microsoft.com/office/drawing/2014/main" val="20002"/>
                    </a:ext>
                  </a:extLst>
                </a:gridCol>
                <a:gridCol w="3328281">
                  <a:extLst>
                    <a:ext uri="{9D8B030D-6E8A-4147-A177-3AD203B41FA5}">
                      <a16:colId xmlns:a16="http://schemas.microsoft.com/office/drawing/2014/main" val="20003"/>
                    </a:ext>
                  </a:extLst>
                </a:gridCol>
              </a:tblGrid>
              <a:tr h="626745">
                <a:tc>
                  <a:txBody>
                    <a:bodyPr/>
                    <a:lstStyle/>
                    <a:p>
                      <a:pPr indent="266700" algn="ctr">
                        <a:spcAft>
                          <a:spcPts val="0"/>
                        </a:spcAft>
                      </a:pPr>
                      <a:r>
                        <a:rPr lang="x-none" sz="2000" b="1" kern="0" dirty="0">
                          <a:solidFill>
                            <a:schemeClr val="bg1">
                              <a:lumMod val="50000"/>
                            </a:schemeClr>
                          </a:solidFill>
                          <a:latin typeface="微软雅黑" pitchFamily="34" charset="-122"/>
                          <a:ea typeface="微软雅黑" pitchFamily="34" charset="-122"/>
                        </a:rPr>
                        <a:t>对象名</a:t>
                      </a:r>
                      <a:endParaRPr lang="zh-CN" sz="2000" kern="100" dirty="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indent="266700" algn="ctr">
                        <a:spcAft>
                          <a:spcPts val="0"/>
                        </a:spcAft>
                      </a:pPr>
                      <a:r>
                        <a:rPr lang="x-none" sz="2000" b="1" kern="0" dirty="0">
                          <a:solidFill>
                            <a:schemeClr val="bg1">
                              <a:lumMod val="50000"/>
                            </a:schemeClr>
                          </a:solidFill>
                          <a:latin typeface="微软雅黑" pitchFamily="34" charset="-122"/>
                          <a:ea typeface="微软雅黑" pitchFamily="34" charset="-122"/>
                        </a:rPr>
                        <a:t>所属类</a:t>
                      </a:r>
                      <a:endParaRPr lang="zh-CN" sz="2000" kern="100" dirty="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indent="266700" algn="ctr">
                        <a:spcAft>
                          <a:spcPts val="0"/>
                        </a:spcAft>
                      </a:pPr>
                      <a:r>
                        <a:rPr lang="x-none" sz="2000" b="1" kern="0">
                          <a:solidFill>
                            <a:schemeClr val="bg1">
                              <a:lumMod val="50000"/>
                            </a:schemeClr>
                          </a:solidFill>
                          <a:latin typeface="微软雅黑" pitchFamily="34" charset="-122"/>
                          <a:ea typeface="微软雅黑" pitchFamily="34" charset="-122"/>
                        </a:rPr>
                        <a:t>对应设备</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indent="266700" algn="ctr">
                        <a:spcAft>
                          <a:spcPts val="0"/>
                        </a:spcAft>
                      </a:pPr>
                      <a:r>
                        <a:rPr lang="x-none" sz="2000" b="1" kern="0">
                          <a:solidFill>
                            <a:schemeClr val="bg1">
                              <a:lumMod val="50000"/>
                            </a:schemeClr>
                          </a:solidFill>
                          <a:latin typeface="微软雅黑" pitchFamily="34" charset="-122"/>
                          <a:ea typeface="微软雅黑" pitchFamily="34" charset="-122"/>
                        </a:rPr>
                        <a:t>含义</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26745">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cin</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istream</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键盘</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x-none" sz="2000" kern="0">
                          <a:solidFill>
                            <a:schemeClr val="bg1">
                              <a:lumMod val="50000"/>
                            </a:schemeClr>
                          </a:solidFill>
                          <a:latin typeface="微软雅黑" pitchFamily="34" charset="-122"/>
                          <a:ea typeface="微软雅黑" pitchFamily="34" charset="-122"/>
                        </a:rPr>
                        <a:t>标准输入，有缓冲</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6745">
                <a:tc>
                  <a:txBody>
                    <a:bodyPr/>
                    <a:lstStyle/>
                    <a:p>
                      <a:pPr indent="266700" algn="ctr">
                        <a:spcAft>
                          <a:spcPts val="0"/>
                        </a:spcAft>
                      </a:pPr>
                      <a:r>
                        <a:rPr lang="x-none" sz="2000" kern="0" dirty="0">
                          <a:solidFill>
                            <a:schemeClr val="bg1">
                              <a:lumMod val="50000"/>
                            </a:schemeClr>
                          </a:solidFill>
                          <a:latin typeface="微软雅黑" pitchFamily="34" charset="-122"/>
                          <a:ea typeface="微软雅黑" pitchFamily="34" charset="-122"/>
                        </a:rPr>
                        <a:t>cout</a:t>
                      </a:r>
                      <a:endParaRPr lang="zh-CN" sz="2000" kern="100" dirty="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ostream</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屏幕</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x-none" sz="2000" kern="0">
                          <a:solidFill>
                            <a:schemeClr val="bg1">
                              <a:lumMod val="50000"/>
                            </a:schemeClr>
                          </a:solidFill>
                          <a:latin typeface="微软雅黑" pitchFamily="34" charset="-122"/>
                          <a:ea typeface="微软雅黑" pitchFamily="34" charset="-122"/>
                        </a:rPr>
                        <a:t>标准输出，有缓冲</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6745">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cerr</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ostream</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屏幕</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x-none" sz="2000" kern="0">
                          <a:solidFill>
                            <a:schemeClr val="bg1">
                              <a:lumMod val="50000"/>
                            </a:schemeClr>
                          </a:solidFill>
                          <a:latin typeface="微软雅黑" pitchFamily="34" charset="-122"/>
                          <a:ea typeface="微软雅黑" pitchFamily="34" charset="-122"/>
                        </a:rPr>
                        <a:t>标准错误输出，无缓冲</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6745">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clog</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ostream</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266700" algn="ctr">
                        <a:spcAft>
                          <a:spcPts val="0"/>
                        </a:spcAft>
                      </a:pPr>
                      <a:r>
                        <a:rPr lang="x-none" sz="2000" kern="0">
                          <a:solidFill>
                            <a:schemeClr val="bg1">
                              <a:lumMod val="50000"/>
                            </a:schemeClr>
                          </a:solidFill>
                          <a:latin typeface="微软雅黑" pitchFamily="34" charset="-122"/>
                          <a:ea typeface="微软雅黑" pitchFamily="34" charset="-122"/>
                        </a:rPr>
                        <a:t>屏幕</a:t>
                      </a:r>
                      <a:endParaRPr lang="zh-CN" sz="20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266700" algn="just">
                        <a:spcAft>
                          <a:spcPts val="0"/>
                        </a:spcAft>
                      </a:pPr>
                      <a:r>
                        <a:rPr lang="x-none" sz="2000" kern="0" dirty="0">
                          <a:solidFill>
                            <a:schemeClr val="bg1">
                              <a:lumMod val="50000"/>
                            </a:schemeClr>
                          </a:solidFill>
                          <a:latin typeface="微软雅黑" pitchFamily="34" charset="-122"/>
                          <a:ea typeface="微软雅黑" pitchFamily="34" charset="-122"/>
                        </a:rPr>
                        <a:t>标准错误输出，有缓冲</a:t>
                      </a:r>
                      <a:endParaRPr lang="zh-CN" sz="2000" kern="100" dirty="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8.2.2 </a:t>
            </a:r>
            <a:r>
              <a:rPr lang="zh-CN" altLang="en-US" sz="3200" b="1" dirty="0" smtClean="0">
                <a:solidFill>
                  <a:srgbClr val="1353A2"/>
                </a:solidFill>
                <a:latin typeface="微软雅黑" pitchFamily="34" charset="-122"/>
                <a:ea typeface="微软雅黑" pitchFamily="34" charset="-122"/>
              </a:rPr>
              <a:t>标准输出流</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2019300" y="1524000"/>
            <a:ext cx="5343525" cy="40195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预定义了三个输出流对象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cout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cerr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，而且还重载了运算符“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”，输出流对象与“</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”运算符结合使用，可以输出各种类型的数据。此外，</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类还提供了成员函数输出数据，比较常用的两个函数为</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60770" name="Picture 2"/>
          <p:cNvPicPr>
            <a:picLocks noChangeAspect="1" noChangeArrowheads="1"/>
          </p:cNvPicPr>
          <p:nvPr/>
        </p:nvPicPr>
        <p:blipFill>
          <a:blip r:embed="rId4" cstate="print"/>
          <a:srcRect/>
          <a:stretch>
            <a:fillRect/>
          </a:stretch>
        </p:blipFill>
        <p:spPr bwMode="auto">
          <a:xfrm>
            <a:off x="7743825" y="1477963"/>
            <a:ext cx="3194050" cy="456213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set>
                                      <p:cBhvr>
                                        <p:cTn id="6" dur="1" fill="hold">
                                          <p:stCondLst>
                                            <p:cond delay="0"/>
                                          </p:stCondLst>
                                        </p:cTn>
                                        <p:tgtEl>
                                          <p:spTgt spid="160770"/>
                                        </p:tgtEl>
                                        <p:attrNameLst>
                                          <p:attrName>style.visibility</p:attrName>
                                        </p:attrNameLst>
                                      </p:cBhvr>
                                      <p:to>
                                        <p:strVal val="visible"/>
                                      </p:to>
                                    </p:set>
                                    <p:anim to="" calcmode="lin" valueType="num">
                                      <p:cBhvr>
                                        <p:cTn id="7" dur="1" fill="hold"/>
                                        <p:tgtEl>
                                          <p:spTgt spid="160770"/>
                                        </p:tgtEl>
                                        <p:attrNameLst>
                                          <p:attrName/>
                                        </p:attrNameLst>
                                      </p:cBhvr>
                                    </p:anim>
                                  </p:childTnLst>
                                </p:cTn>
                              </p:par>
                            </p:childTnLst>
                          </p:cTn>
                        </p:par>
                        <p:par>
                          <p:cTn id="8" fill="hold">
                            <p:stCondLst>
                              <p:cond delay="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8.2.2 </a:t>
            </a:r>
            <a:r>
              <a:rPr lang="zh-CN" altLang="en-US" sz="3200" b="1" dirty="0" smtClean="0">
                <a:solidFill>
                  <a:srgbClr val="1353A2"/>
                </a:solidFill>
                <a:latin typeface="微软雅黑" pitchFamily="34" charset="-122"/>
                <a:ea typeface="微软雅黑" pitchFamily="34" charset="-122"/>
              </a:rPr>
              <a:t>标准输出流</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1457325" y="1295399"/>
            <a:ext cx="10429875" cy="44672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put()</a:t>
            </a:r>
            <a:r>
              <a:rPr lang="zh-CN" altLang="zh-CN" sz="2400" dirty="0" smtClean="0">
                <a:solidFill>
                  <a:srgbClr val="FF0000"/>
                </a:solidFill>
                <a:latin typeface="微软雅黑" pitchFamily="34" charset="-122"/>
                <a:ea typeface="微软雅黑" pitchFamily="34" charset="-122"/>
                <a:cs typeface="Times New Roman" pitchFamily="18" charset="0"/>
              </a:rPr>
              <a:t>函数</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函数用于输出单个字符，其声明如下所示：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ostream&amp; put(char ch);</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在上述声明中，参数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ch</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表示要输出的字符，函数返回值为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类对象引用。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函数的作用是将字符插入到输出流对象，通过输出流对象将字符输出到指定位置。</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由于</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函数返回的是输出流对象，因此</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函数与输出运算符“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”一样，可以连续调用。</a:t>
            </a: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8.2.2 </a:t>
            </a:r>
            <a:r>
              <a:rPr lang="zh-CN" altLang="en-US" sz="3200" b="1" dirty="0" smtClean="0">
                <a:solidFill>
                  <a:srgbClr val="1353A2"/>
                </a:solidFill>
                <a:latin typeface="微软雅黑" pitchFamily="34" charset="-122"/>
                <a:ea typeface="微软雅黑" pitchFamily="34" charset="-122"/>
              </a:rPr>
              <a:t>标准输出流</a:t>
            </a:r>
            <a:endParaRPr lang="zh-CN" altLang="en-US" sz="3200" b="1" kern="1200" dirty="0">
              <a:solidFill>
                <a:srgbClr val="1353A2"/>
              </a:solidFill>
              <a:latin typeface="微软雅黑" pitchFamily="34" charset="-122"/>
              <a:ea typeface="微软雅黑" pitchFamily="34" charset="-122"/>
            </a:endParaRPr>
          </a:p>
        </p:txBody>
      </p:sp>
      <p:grpSp>
        <p:nvGrpSpPr>
          <p:cNvPr id="7" name="组合 6"/>
          <p:cNvGrpSpPr/>
          <p:nvPr/>
        </p:nvGrpSpPr>
        <p:grpSpPr>
          <a:xfrm>
            <a:off x="1668463" y="2143126"/>
            <a:ext cx="9628187" cy="2381250"/>
            <a:chOff x="1611313" y="1981201"/>
            <a:chExt cx="9628187" cy="2381250"/>
          </a:xfrm>
        </p:grpSpPr>
        <p:pic>
          <p:nvPicPr>
            <p:cNvPr id="161794" name="Picture 2"/>
            <p:cNvPicPr>
              <a:picLocks noChangeAspect="1" noChangeArrowheads="1"/>
            </p:cNvPicPr>
            <p:nvPr/>
          </p:nvPicPr>
          <p:blipFill>
            <a:blip r:embed="rId4" cstate="print"/>
            <a:srcRect/>
            <a:stretch>
              <a:fillRect/>
            </a:stretch>
          </p:blipFill>
          <p:spPr bwMode="auto">
            <a:xfrm>
              <a:off x="1611313" y="1981201"/>
              <a:ext cx="9628187" cy="2381250"/>
            </a:xfrm>
            <a:prstGeom prst="rect">
              <a:avLst/>
            </a:prstGeom>
            <a:noFill/>
            <a:ln w="9525">
              <a:noFill/>
              <a:miter lim="800000"/>
              <a:headEnd/>
              <a:tailEnd/>
            </a:ln>
          </p:spPr>
        </p:pic>
        <p:sp>
          <p:nvSpPr>
            <p:cNvPr id="25" name="内容占位符 2"/>
            <p:cNvSpPr txBox="1">
              <a:spLocks/>
            </p:cNvSpPr>
            <p:nvPr/>
          </p:nvSpPr>
          <p:spPr>
            <a:xfrm>
              <a:off x="2190751" y="2295525"/>
              <a:ext cx="8610600" cy="164782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cout.put('a');			//输出字符a</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cout.put('\n');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//输出换行符</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cout.put(‘d’).put(‘h’);	//连续调用put()函数</a:t>
              </a:r>
              <a:r>
                <a:rPr lang="zh-CN" altLang="en-US" sz="2000" dirty="0" smtClean="0">
                  <a:solidFill>
                    <a:schemeClr val="bg1">
                      <a:lumMod val="50000"/>
                    </a:schemeClr>
                  </a:solidFill>
                  <a:latin typeface="微软雅黑" pitchFamily="34" charset="-122"/>
                  <a:ea typeface="微软雅黑" pitchFamily="34" charset="-122"/>
                  <a:cs typeface="Times New Roman" pitchFamily="18" charset="0"/>
                </a:rPr>
                <a:t>，输出</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 d’</a:t>
              </a:r>
              <a:r>
                <a:rPr lang="zh-CN" altLang="en-US" sz="2000" dirty="0" smtClean="0">
                  <a:solidFill>
                    <a:schemeClr val="bg1">
                      <a:lumMod val="50000"/>
                    </a:schemeClr>
                  </a:solidFill>
                  <a:latin typeface="微软雅黑" pitchFamily="34" charset="-122"/>
                  <a:ea typeface="微软雅黑" pitchFamily="34" charset="-122"/>
                  <a:cs typeface="Times New Roman" pitchFamily="18" charset="0"/>
                </a:rPr>
                <a:t>、</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‘h’</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p:txBody>
        </p:sp>
      </p:gr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8.2.2 </a:t>
            </a:r>
            <a:r>
              <a:rPr lang="zh-CN" altLang="en-US" sz="3200" b="1" dirty="0" smtClean="0">
                <a:solidFill>
                  <a:srgbClr val="1353A2"/>
                </a:solidFill>
                <a:latin typeface="微软雅黑" pitchFamily="34" charset="-122"/>
                <a:ea typeface="微软雅黑" pitchFamily="34" charset="-122"/>
              </a:rPr>
              <a:t>标准输出流</a:t>
            </a:r>
            <a:endParaRPr lang="zh-CN" altLang="en-US" sz="3200" b="1" kern="1200" dirty="0">
              <a:solidFill>
                <a:srgbClr val="1353A2"/>
              </a:solidFill>
              <a:latin typeface="微软雅黑" pitchFamily="34" charset="-122"/>
              <a:ea typeface="微软雅黑" pitchFamily="34" charset="-122"/>
            </a:endParaRPr>
          </a:p>
        </p:txBody>
      </p:sp>
      <p:sp>
        <p:nvSpPr>
          <p:cNvPr id="25" name="内容占位符 2"/>
          <p:cNvSpPr txBox="1">
            <a:spLocks/>
          </p:cNvSpPr>
          <p:nvPr/>
        </p:nvSpPr>
        <p:spPr>
          <a:xfrm>
            <a:off x="1343026" y="1333499"/>
            <a:ext cx="10582274" cy="42767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write()</a:t>
            </a:r>
            <a:r>
              <a:rPr lang="zh-CN" altLang="zh-CN" sz="2400" dirty="0" smtClean="0">
                <a:solidFill>
                  <a:srgbClr val="FF0000"/>
                </a:solidFill>
                <a:latin typeface="微软雅黑" pitchFamily="34" charset="-122"/>
                <a:ea typeface="微软雅黑" pitchFamily="34" charset="-122"/>
                <a:cs typeface="Times New Roman" pitchFamily="18" charset="0"/>
              </a:rPr>
              <a:t>函数</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函数用于输出一个字符串，其声明如下所示：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ostream&amp; write(const char* str, streamsize count);</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在上述声明中，第一个参数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表示字符串，第二个参数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count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表示输出的字符个数，需要注意的是，</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streamsize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是</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long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long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类型的重定义。</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函数返回值为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类对象引用，其作用是将指定个数的字符串插入到输出流对象，通过输出流对象将字符串输出到指定位置。</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函数也可以连续调用。</a:t>
            </a: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8.2.2 </a:t>
            </a:r>
            <a:r>
              <a:rPr lang="zh-CN" altLang="en-US" sz="3200" b="1" dirty="0" smtClean="0">
                <a:solidFill>
                  <a:srgbClr val="1353A2"/>
                </a:solidFill>
                <a:latin typeface="微软雅黑" pitchFamily="34" charset="-122"/>
                <a:ea typeface="微软雅黑" pitchFamily="34" charset="-122"/>
              </a:rPr>
              <a:t>标准输出流</a:t>
            </a:r>
            <a:endParaRPr lang="zh-CN" altLang="en-US" sz="3200" b="1" kern="1200" dirty="0">
              <a:solidFill>
                <a:srgbClr val="1353A2"/>
              </a:solidFill>
              <a:latin typeface="微软雅黑" pitchFamily="34" charset="-122"/>
              <a:ea typeface="微软雅黑" pitchFamily="34" charset="-122"/>
            </a:endParaRPr>
          </a:p>
        </p:txBody>
      </p:sp>
      <p:grpSp>
        <p:nvGrpSpPr>
          <p:cNvPr id="8" name="组合 7"/>
          <p:cNvGrpSpPr/>
          <p:nvPr/>
        </p:nvGrpSpPr>
        <p:grpSpPr>
          <a:xfrm>
            <a:off x="1838324" y="1485900"/>
            <a:ext cx="9029701" cy="1685925"/>
            <a:chOff x="1838324" y="1428750"/>
            <a:chExt cx="9029701" cy="1685925"/>
          </a:xfrm>
        </p:grpSpPr>
        <p:pic>
          <p:nvPicPr>
            <p:cNvPr id="162818" name="Picture 2"/>
            <p:cNvPicPr>
              <a:picLocks noChangeAspect="1" noChangeArrowheads="1"/>
            </p:cNvPicPr>
            <p:nvPr/>
          </p:nvPicPr>
          <p:blipFill>
            <a:blip r:embed="rId4" cstate="print"/>
            <a:srcRect/>
            <a:stretch>
              <a:fillRect/>
            </a:stretch>
          </p:blipFill>
          <p:spPr bwMode="auto">
            <a:xfrm>
              <a:off x="1838324" y="1428750"/>
              <a:ext cx="9029701" cy="1685925"/>
            </a:xfrm>
            <a:prstGeom prst="rect">
              <a:avLst/>
            </a:prstGeom>
            <a:noFill/>
            <a:ln w="9525">
              <a:noFill/>
              <a:miter lim="800000"/>
              <a:headEnd/>
              <a:tailEnd/>
            </a:ln>
          </p:spPr>
        </p:pic>
        <p:sp>
          <p:nvSpPr>
            <p:cNvPr id="25" name="内容占位符 2"/>
            <p:cNvSpPr txBox="1">
              <a:spLocks/>
            </p:cNvSpPr>
            <p:nvPr/>
          </p:nvSpPr>
          <p:spPr>
            <a:xfrm>
              <a:off x="2705102" y="1600200"/>
              <a:ext cx="7515224" cy="12858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cout.write("I love China",6);</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cout.write("I love China",6).write("I love China",5);</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gr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543051" y="3305175"/>
            <a:ext cx="9925049" cy="19240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在上述代码中，第一行代码调用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函数输出字符串</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 love China"</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的前</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6</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个字符；第二行代码连续调用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函数输出字符串</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 love China"</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的前</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6</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个和前</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5</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5553075" y="1733550"/>
            <a:ext cx="5848350" cy="3429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类预定义了输入流对象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，并且重载了运算符“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”，输入流对象与“</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”运算符结合使用，可以输入各种类型的数据。此外，</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类还提供了成员函数输入数据，如</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函数等</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pic>
        <p:nvPicPr>
          <p:cNvPr id="163842" name="Picture 2"/>
          <p:cNvPicPr>
            <a:picLocks noChangeAspect="1" noChangeArrowheads="1"/>
          </p:cNvPicPr>
          <p:nvPr/>
        </p:nvPicPr>
        <p:blipFill>
          <a:blip r:embed="rId4" cstate="print"/>
          <a:srcRect/>
          <a:stretch>
            <a:fillRect/>
          </a:stretch>
        </p:blipFill>
        <p:spPr bwMode="auto">
          <a:xfrm>
            <a:off x="2452688" y="1500188"/>
            <a:ext cx="2119312" cy="4251787"/>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163842"/>
                                        </p:tgtEl>
                                        <p:attrNameLst>
                                          <p:attrName>style.visibility</p:attrName>
                                        </p:attrNameLst>
                                      </p:cBhvr>
                                      <p:to>
                                        <p:strVal val="visible"/>
                                      </p:to>
                                    </p:set>
                                    <p:anim calcmode="lin" valueType="num">
                                      <p:cBhvr>
                                        <p:cTn id="7" dur="500" fill="hold"/>
                                        <p:tgtEl>
                                          <p:spTgt spid="163842"/>
                                        </p:tgtEl>
                                        <p:attrNameLst>
                                          <p:attrName>ppt_w</p:attrName>
                                        </p:attrNameLst>
                                      </p:cBhvr>
                                      <p:tavLst>
                                        <p:tav tm="0">
                                          <p:val>
                                            <p:fltVal val="0"/>
                                          </p:val>
                                        </p:tav>
                                        <p:tav tm="100000">
                                          <p:val>
                                            <p:strVal val="#ppt_w"/>
                                          </p:val>
                                        </p:tav>
                                      </p:tavLst>
                                    </p:anim>
                                    <p:anim calcmode="lin" valueType="num">
                                      <p:cBhvr>
                                        <p:cTn id="8" dur="500" fill="hold"/>
                                        <p:tgtEl>
                                          <p:spTgt spid="163842"/>
                                        </p:tgtEl>
                                        <p:attrNameLst>
                                          <p:attrName>ppt_h</p:attrName>
                                        </p:attrNameLst>
                                      </p:cBhvr>
                                      <p:tavLst>
                                        <p:tav tm="0">
                                          <p:val>
                                            <p:fltVal val="0"/>
                                          </p:val>
                                        </p:tav>
                                        <p:tav tm="100000">
                                          <p:val>
                                            <p:strVal val="#ppt_h"/>
                                          </p:val>
                                        </p:tav>
                                      </p:tavLst>
                                    </p:anim>
                                    <p:animEffect transition="in" filter="fade">
                                      <p:cBhvr>
                                        <p:cTn id="9" dur="500"/>
                                        <p:tgtEl>
                                          <p:spTgt spid="163842"/>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2438401" y="1809750"/>
            <a:ext cx="4400549" cy="2524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get()</a:t>
            </a:r>
            <a:r>
              <a:rPr lang="zh-CN" altLang="zh-CN" sz="2400" dirty="0" smtClean="0">
                <a:solidFill>
                  <a:srgbClr val="FF0000"/>
                </a:solidFill>
                <a:latin typeface="微软雅黑" pitchFamily="34" charset="-122"/>
                <a:ea typeface="微软雅黑" pitchFamily="34" charset="-122"/>
                <a:cs typeface="Times New Roman" pitchFamily="18" charset="0"/>
              </a:rPr>
              <a:t>函数</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函数用于从输入流中获取单个字符，</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类提供了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函数的三种重载形式</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grpSp>
        <p:nvGrpSpPr>
          <p:cNvPr id="7" name="组合 6"/>
          <p:cNvGrpSpPr/>
          <p:nvPr/>
        </p:nvGrpSpPr>
        <p:grpSpPr>
          <a:xfrm>
            <a:off x="3306848" y="4627187"/>
            <a:ext cx="2411616" cy="782320"/>
            <a:chOff x="2669539" y="4886960"/>
            <a:chExt cx="2941322" cy="782320"/>
          </a:xfrm>
        </p:grpSpPr>
        <p:sp>
          <p:nvSpPr>
            <p:cNvPr id="8" name="流程图: 可选过程 7">
              <a:hlinkClick r:id="rId4" action="ppaction://hlinksldjump"/>
            </p:cNvPr>
            <p:cNvSpPr/>
            <p:nvPr/>
          </p:nvSpPr>
          <p:spPr>
            <a:xfrm>
              <a:off x="2669539" y="4886960"/>
              <a:ext cx="2941322" cy="7823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a:hlinkClick r:id="rId4" action="ppaction://hlinksldjump"/>
            </p:cNvPr>
            <p:cNvSpPr txBox="1">
              <a:spLocks/>
            </p:cNvSpPr>
            <p:nvPr/>
          </p:nvSpPr>
          <p:spPr>
            <a:xfrm>
              <a:off x="2824480" y="4937760"/>
              <a:ext cx="2694939" cy="701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solidFill>
                  <a:latin typeface="微软雅黑" pitchFamily="34" charset="-122"/>
                  <a:ea typeface="微软雅黑" pitchFamily="34" charset="-122"/>
                  <a:cs typeface="Times New Roman" pitchFamily="18" charset="0"/>
                </a:rPr>
                <a:t>点击查看详情</a:t>
              </a:r>
              <a:endParaRPr lang="zh-CN" altLang="zh-CN" sz="2400" dirty="0">
                <a:solidFill>
                  <a:schemeClr val="bg1"/>
                </a:solidFill>
                <a:latin typeface="微软雅黑" pitchFamily="34" charset="-122"/>
                <a:ea typeface="微软雅黑" pitchFamily="34" charset="-122"/>
                <a:cs typeface="Times New Roman" pitchFamily="18" charset="0"/>
              </a:endParaRPr>
            </a:p>
          </p:txBody>
        </p:sp>
      </p:grpSp>
      <p:pic>
        <p:nvPicPr>
          <p:cNvPr id="164866" name="Picture 2"/>
          <p:cNvPicPr>
            <a:picLocks noChangeAspect="1" noChangeArrowheads="1"/>
          </p:cNvPicPr>
          <p:nvPr/>
        </p:nvPicPr>
        <p:blipFill>
          <a:blip r:embed="rId5" cstate="print"/>
          <a:srcRect/>
          <a:stretch>
            <a:fillRect/>
          </a:stretch>
        </p:blipFill>
        <p:spPr bwMode="auto">
          <a:xfrm>
            <a:off x="7248525" y="1576389"/>
            <a:ext cx="3233964" cy="3833812"/>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set>
                                      <p:cBhvr>
                                        <p:cTn id="6" dur="1" fill="hold">
                                          <p:stCondLst>
                                            <p:cond delay="0"/>
                                          </p:stCondLst>
                                        </p:cTn>
                                        <p:tgtEl>
                                          <p:spTgt spid="164866"/>
                                        </p:tgtEl>
                                        <p:attrNameLst>
                                          <p:attrName>style.visibility</p:attrName>
                                        </p:attrNameLst>
                                      </p:cBhvr>
                                      <p:to>
                                        <p:strVal val="visible"/>
                                      </p:to>
                                    </p:set>
                                    <p:anim to="" calcmode="lin" valueType="num">
                                      <p:cBhvr>
                                        <p:cTn id="7" dur="1" fill="hold"/>
                                        <p:tgtEl>
                                          <p:spTgt spid="164866"/>
                                        </p:tgtEl>
                                        <p:attrNameLst>
                                          <p:attrName/>
                                        </p:attrNameLst>
                                      </p:cBhvr>
                                    </p:anim>
                                  </p:childTnLst>
                                </p:cTn>
                              </p:par>
                            </p:childTnLst>
                          </p:cTn>
                        </p:par>
                        <p:par>
                          <p:cTn id="8" fill="hold">
                            <p:stCondLst>
                              <p:cond delay="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500"/>
                            </p:stCondLst>
                            <p:childTnLst>
                              <p:par>
                                <p:cTn id="13" presetID="42"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219200" y="1428750"/>
            <a:ext cx="10496549" cy="43910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1</a:t>
            </a:r>
            <a:r>
              <a:rPr lang="zh-CN" altLang="zh-CN" sz="2400" dirty="0" smtClean="0">
                <a:solidFill>
                  <a:srgbClr val="FF0000"/>
                </a:solidFill>
                <a:latin typeface="微软雅黑" pitchFamily="34" charset="-122"/>
                <a:ea typeface="微软雅黑" pitchFamily="34" charset="-122"/>
                <a:cs typeface="Times New Roman" pitchFamily="18" charset="0"/>
              </a:rPr>
              <a:t>）读取单个字符</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从流中读取单个字符的</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函数有两种重载形式，具体如下所示：</a:t>
            </a:r>
          </a:p>
          <a:p>
            <a:pPr marL="0" indent="0" eaLnBrk="1" hangingPunct="1">
              <a:lnSpc>
                <a:spcPct val="150000"/>
              </a:lnSpc>
              <a:spcBef>
                <a:spcPct val="0"/>
              </a:spcBef>
              <a:buNone/>
              <a:defRPr/>
            </a:pPr>
            <a:r>
              <a:rPr lang="x-none" altLang="zh-CN" sz="2000" dirty="0" smtClean="0">
                <a:solidFill>
                  <a:srgbClr val="FF0000"/>
                </a:solidFill>
                <a:latin typeface="微软雅黑" pitchFamily="34" charset="-122"/>
                <a:ea typeface="微软雅黑" pitchFamily="34" charset="-122"/>
                <a:cs typeface="Times New Roman" pitchFamily="18" charset="0"/>
              </a:rPr>
              <a:t>int get();					//</a:t>
            </a:r>
            <a:r>
              <a:rPr lang="zh-CN" altLang="zh-CN" sz="2000" dirty="0" smtClean="0">
                <a:solidFill>
                  <a:srgbClr val="FF0000"/>
                </a:solidFill>
                <a:latin typeface="微软雅黑" pitchFamily="34" charset="-122"/>
                <a:ea typeface="微软雅黑" pitchFamily="34" charset="-122"/>
                <a:cs typeface="Times New Roman" pitchFamily="18" charset="0"/>
              </a:rPr>
              <a:t>第一种形式</a:t>
            </a:r>
          </a:p>
          <a:p>
            <a:pPr marL="0" indent="0" eaLnBrk="1" hangingPunct="1">
              <a:lnSpc>
                <a:spcPct val="150000"/>
              </a:lnSpc>
              <a:spcBef>
                <a:spcPct val="0"/>
              </a:spcBef>
              <a:buNone/>
              <a:defRPr/>
            </a:pPr>
            <a:r>
              <a:rPr lang="x-none" altLang="zh-CN" sz="2000" dirty="0" smtClean="0">
                <a:solidFill>
                  <a:srgbClr val="FF0000"/>
                </a:solidFill>
                <a:latin typeface="微软雅黑" pitchFamily="34" charset="-122"/>
                <a:ea typeface="微软雅黑" pitchFamily="34" charset="-122"/>
                <a:cs typeface="Times New Roman" pitchFamily="18" charset="0"/>
              </a:rPr>
              <a:t>istream&amp; get(char&amp; ch);			//</a:t>
            </a:r>
            <a:r>
              <a:rPr lang="zh-CN" altLang="zh-CN" sz="2000" dirty="0" smtClean="0">
                <a:solidFill>
                  <a:srgbClr val="FF0000"/>
                </a:solidFill>
                <a:latin typeface="微软雅黑" pitchFamily="34" charset="-122"/>
                <a:ea typeface="微软雅黑" pitchFamily="34" charset="-122"/>
                <a:cs typeface="Times New Roman" pitchFamily="18" charset="0"/>
              </a:rPr>
              <a:t>第二种形式</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上述函数声明中，第一种形式没有参数，返回值为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类型，函数的作用是从输入流读取一个字符，返回该字符的</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ASCII</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码值。第二种形式有一个</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char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类型的引用作为参数，返回值为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类对象引用。函数的作用是从输入流读取一个字符存储到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ch</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219200" y="1428750"/>
            <a:ext cx="10496549" cy="43910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2</a:t>
            </a:r>
            <a:r>
              <a:rPr lang="zh-CN" altLang="zh-CN" sz="2400" dirty="0" smtClean="0">
                <a:solidFill>
                  <a:srgbClr val="FF0000"/>
                </a:solidFill>
                <a:latin typeface="微软雅黑" pitchFamily="34" charset="-122"/>
                <a:ea typeface="微软雅黑" pitchFamily="34" charset="-122"/>
                <a:cs typeface="Times New Roman" pitchFamily="18" charset="0"/>
              </a:rPr>
              <a:t>）读取</a:t>
            </a:r>
            <a:r>
              <a:rPr lang="en-US" altLang="zh-CN" sz="2400" dirty="0" smtClean="0">
                <a:solidFill>
                  <a:srgbClr val="FF0000"/>
                </a:solidFill>
                <a:latin typeface="微软雅黑" pitchFamily="34" charset="-122"/>
                <a:ea typeface="微软雅黑" pitchFamily="34" charset="-122"/>
                <a:cs typeface="Times New Roman" pitchFamily="18" charset="0"/>
              </a:rPr>
              <a:t>C</a:t>
            </a:r>
            <a:r>
              <a:rPr lang="zh-CN" altLang="zh-CN" sz="2400" dirty="0" smtClean="0">
                <a:solidFill>
                  <a:srgbClr val="FF0000"/>
                </a:solidFill>
                <a:latin typeface="微软雅黑" pitchFamily="34" charset="-122"/>
                <a:ea typeface="微软雅黑" pitchFamily="34" charset="-122"/>
                <a:cs typeface="Times New Roman" pitchFamily="18" charset="0"/>
              </a:rPr>
              <a:t>风格的字符串</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风格字符串的</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函数有两种重载形式，具体如下所示：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get(char* s, streamsize n);		</a:t>
            </a:r>
            <a:r>
              <a:rPr lang="en-US" altLang="zh-CN" sz="2400" dirty="0" smtClean="0">
                <a:solidFill>
                  <a:srgbClr val="FF0000"/>
                </a:solidFill>
                <a:latin typeface="微软雅黑" pitchFamily="34" charset="-122"/>
                <a:ea typeface="微软雅黑" pitchFamily="34" charset="-122"/>
                <a:cs typeface="Times New Roman" pitchFamily="18" charset="0"/>
              </a:rPr>
              <a:t>	</a:t>
            </a:r>
            <a:r>
              <a:rPr lang="x-none" altLang="zh-CN" sz="2400" dirty="0" smtClean="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第一种形式</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get(char* s, streamsize n，char delim);	//</a:t>
            </a:r>
            <a:r>
              <a:rPr lang="zh-CN" altLang="zh-CN" sz="2400" dirty="0" smtClean="0">
                <a:solidFill>
                  <a:srgbClr val="FF0000"/>
                </a:solidFill>
                <a:latin typeface="微软雅黑" pitchFamily="34" charset="-122"/>
                <a:ea typeface="微软雅黑" pitchFamily="34" charset="-122"/>
                <a:cs typeface="Times New Roman" pitchFamily="18" charset="0"/>
              </a:rPr>
              <a:t>第二种形式</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在上述函数声明中，第一种形式有两个参数，第一个参数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指向一块内存空间，第二个参数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表示读取的字符个数。函数作用是从输入流中读取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n-1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个字符，存储到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指向的内存空间。</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895476" y="1971675"/>
            <a:ext cx="9382124" cy="29432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第二种形式有三个参数，前两个参数与第一种形式中的参数含义相同，最后一个参数表示结束符。函数作用是从输入流中读取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n-1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个字符，存储到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指向的内存空间。在读取过程中，遇到结束符就结束读取，即使没有读取够</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n-1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个字符。需要注意的是，结束符不包含在读取的字符串内。</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466849" y="1447800"/>
            <a:ext cx="10229851" cy="43624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3</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）读取数据存储到流缓冲区</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函数可以从流中读取数据并存储到流缓冲区中，它有两种重载形式，具体如下所示：</a:t>
            </a:r>
          </a:p>
          <a:p>
            <a:pPr marL="0" indent="0" eaLnBrk="1" hangingPunct="1">
              <a:lnSpc>
                <a:spcPct val="150000"/>
              </a:lnSpc>
              <a:spcBef>
                <a:spcPct val="0"/>
              </a:spcBef>
              <a:buNone/>
              <a:defRPr/>
            </a:pPr>
            <a:r>
              <a:rPr lang="x-none" altLang="zh-CN" sz="2000" dirty="0" smtClean="0">
                <a:solidFill>
                  <a:srgbClr val="FF0000"/>
                </a:solidFill>
                <a:latin typeface="微软雅黑" pitchFamily="34" charset="-122"/>
                <a:ea typeface="微软雅黑" pitchFamily="34" charset="-122"/>
                <a:cs typeface="Times New Roman" pitchFamily="18" charset="0"/>
              </a:rPr>
              <a:t>istream&amp; get(streambuf&amp; buf);		//</a:t>
            </a:r>
            <a:r>
              <a:rPr lang="zh-CN" altLang="zh-CN" sz="2000" dirty="0" smtClean="0">
                <a:solidFill>
                  <a:srgbClr val="FF0000"/>
                </a:solidFill>
                <a:latin typeface="微软雅黑" pitchFamily="34" charset="-122"/>
                <a:ea typeface="微软雅黑" pitchFamily="34" charset="-122"/>
                <a:cs typeface="Times New Roman" pitchFamily="18" charset="0"/>
              </a:rPr>
              <a:t>第一种形式</a:t>
            </a:r>
          </a:p>
          <a:p>
            <a:pPr marL="0" indent="0" eaLnBrk="1" hangingPunct="1">
              <a:lnSpc>
                <a:spcPct val="150000"/>
              </a:lnSpc>
              <a:spcBef>
                <a:spcPct val="0"/>
              </a:spcBef>
              <a:buNone/>
              <a:defRPr/>
            </a:pPr>
            <a:r>
              <a:rPr lang="x-none" altLang="zh-CN" sz="2000" dirty="0" smtClean="0">
                <a:solidFill>
                  <a:srgbClr val="FF0000"/>
                </a:solidFill>
                <a:latin typeface="微软雅黑" pitchFamily="34" charset="-122"/>
                <a:ea typeface="微软雅黑" pitchFamily="34" charset="-122"/>
                <a:cs typeface="Times New Roman" pitchFamily="18" charset="0"/>
              </a:rPr>
              <a:t>istream&amp; get(streambuf&amp; buf,char delim);	//</a:t>
            </a:r>
            <a:r>
              <a:rPr lang="zh-CN" altLang="zh-CN" sz="2000" dirty="0" smtClean="0">
                <a:solidFill>
                  <a:srgbClr val="FF0000"/>
                </a:solidFill>
                <a:latin typeface="微软雅黑" pitchFamily="34" charset="-122"/>
                <a:ea typeface="微软雅黑" pitchFamily="34" charset="-122"/>
                <a:cs typeface="Times New Roman" pitchFamily="18" charset="0"/>
              </a:rPr>
              <a:t>第二种形式</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在上述函数声明中，第一种形式有一个参数，表示流缓冲区，函数作用是从流中读取字符，并将其插入到流缓冲区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中。如果插入失败，或者遇到流中的结束符（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），则停止读取。</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2409825" y="1962150"/>
            <a:ext cx="8105776" cy="26765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第二种形式有两个参数，第一个参数表示流缓冲区，第二个参数表示结束符，用户可以设置为其他字符。函数作用是从流中读取字符，并将其插入到流缓冲区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中，直到遇到结束符。</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2924175" y="1355656"/>
            <a:ext cx="6896099" cy="5017152"/>
            <a:chOff x="2695575" y="1317556"/>
            <a:chExt cx="6896099" cy="5017152"/>
          </a:xfrm>
        </p:grpSpPr>
        <p:pic>
          <p:nvPicPr>
            <p:cNvPr id="179202" name="Picture 2"/>
            <p:cNvPicPr>
              <a:picLocks noChangeAspect="1" noChangeArrowheads="1"/>
            </p:cNvPicPr>
            <p:nvPr/>
          </p:nvPicPr>
          <p:blipFill>
            <a:blip r:embed="rId4" cstate="print"/>
            <a:srcRect/>
            <a:stretch>
              <a:fillRect/>
            </a:stretch>
          </p:blipFill>
          <p:spPr bwMode="auto">
            <a:xfrm>
              <a:off x="2695575" y="1352549"/>
              <a:ext cx="6896099" cy="4982159"/>
            </a:xfrm>
            <a:prstGeom prst="rect">
              <a:avLst/>
            </a:prstGeom>
            <a:noFill/>
            <a:ln w="9525">
              <a:noFill/>
              <a:miter lim="800000"/>
              <a:headEnd/>
              <a:tailEnd/>
            </a:ln>
          </p:spPr>
        </p:pic>
        <p:sp>
          <p:nvSpPr>
            <p:cNvPr id="6" name="内容占位符 2"/>
            <p:cNvSpPr txBox="1">
              <a:spLocks/>
            </p:cNvSpPr>
            <p:nvPr/>
          </p:nvSpPr>
          <p:spPr>
            <a:xfrm>
              <a:off x="3390900" y="1317556"/>
              <a:ext cx="5924550" cy="45434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8-1    get.cpp</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main(){</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ch</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请输入一个字符串：</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第一种形式：</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cin.get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cin.get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ch</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第二种形式：</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ch</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[20];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cin.get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(buf,6,'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第三种形式：</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647825" y="1800225"/>
            <a:ext cx="9858375" cy="30384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上述代码分别调用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函数的三种形式输出数据，第一次调用是从</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输入流</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中读取一个字符</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第二次调用是从</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输入流</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中读取一个字符，存储到</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变量</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ch</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第三次调用是从</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从输入流</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5</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6-1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）个字符存储到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数组中，遇到空格结束读取</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grpSp>
        <p:nvGrpSpPr>
          <p:cNvPr id="9" name="组合 9"/>
          <p:cNvGrpSpPr/>
          <p:nvPr/>
        </p:nvGrpSpPr>
        <p:grpSpPr>
          <a:xfrm>
            <a:off x="9541972" y="4915014"/>
            <a:ext cx="1351280" cy="675640"/>
            <a:chOff x="9733280" y="5003801"/>
            <a:chExt cx="1351280" cy="675640"/>
          </a:xfrm>
        </p:grpSpPr>
        <p:sp>
          <p:nvSpPr>
            <p:cNvPr id="10" name="五边形 9">
              <a:hlinkClick r:id="rId4" action="ppaction://hlinksldjump"/>
            </p:cNvPr>
            <p:cNvSpPr/>
            <p:nvPr/>
          </p:nvSpPr>
          <p:spPr>
            <a:xfrm rot="10800000">
              <a:off x="9733280" y="5069840"/>
              <a:ext cx="1351280" cy="609600"/>
            </a:xfrm>
            <a:prstGeom prst="homePlat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18415" cmpd="sng">
                  <a:solidFill>
                    <a:schemeClr val="bg1">
                      <a:lumMod val="95000"/>
                    </a:schemeClr>
                  </a:solidFill>
                  <a:prstDash val="solid"/>
                </a:ln>
                <a:solidFill>
                  <a:schemeClr val="tx2">
                    <a:lumMod val="20000"/>
                    <a:lumOff val="80000"/>
                  </a:schemeClr>
                </a:solidFill>
                <a:effectLst>
                  <a:outerShdw blurRad="63500" dir="3600000" algn="tl" rotWithShape="0">
                    <a:srgbClr val="000000">
                      <a:alpha val="70000"/>
                    </a:srgbClr>
                  </a:outerShdw>
                </a:effectLst>
              </a:endParaRPr>
            </a:p>
          </p:txBody>
        </p:sp>
        <p:sp>
          <p:nvSpPr>
            <p:cNvPr id="11" name="内容占位符 2">
              <a:hlinkClick r:id="rId4" action="ppaction://hlinksldjump"/>
            </p:cNvPr>
            <p:cNvSpPr txBox="1">
              <a:spLocks/>
            </p:cNvSpPr>
            <p:nvPr/>
          </p:nvSpPr>
          <p:spPr>
            <a:xfrm>
              <a:off x="10038080" y="5003801"/>
              <a:ext cx="1005840" cy="675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rgbClr val="00B0F0"/>
                  </a:solidFill>
                  <a:latin typeface="微软雅黑" pitchFamily="34" charset="-122"/>
                  <a:ea typeface="微软雅黑" pitchFamily="34" charset="-122"/>
                  <a:cs typeface="Times New Roman" pitchFamily="18" charset="0"/>
                </a:rPr>
                <a:t>返  回</a:t>
              </a:r>
              <a:endParaRPr lang="en-US" altLang="zh-CN" sz="2400" dirty="0">
                <a:solidFill>
                  <a:srgbClr val="00B0F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advClick="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466850" y="1352549"/>
            <a:ext cx="10153650" cy="45434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getline()</a:t>
            </a:r>
            <a:r>
              <a:rPr lang="zh-CN" altLang="zh-CN" sz="2400" dirty="0" smtClean="0">
                <a:solidFill>
                  <a:srgbClr val="FF0000"/>
                </a:solidFill>
                <a:latin typeface="微软雅黑" pitchFamily="34" charset="-122"/>
                <a:ea typeface="微软雅黑" pitchFamily="34" charset="-122"/>
                <a:cs typeface="Times New Roman" pitchFamily="18" charset="0"/>
              </a:rPr>
              <a:t>函数</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函数用于从输入流中读取字符，直到读取到指定长度的字符或遇到终止字符时结束读取，</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有两种重载形式，具体如下所示：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getline(char* dst, streamsize count);</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getline(char* dst, streamsize count, char delimiter);</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在上述函数声明中，第一种形式有两个参数，第一个参数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dst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指向一块内存空间；</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count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表示读取的字符个数。函数的作用是从输入流中读取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count-1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个字符存储到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dst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指向的内存空间。</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2047875" y="2276475"/>
            <a:ext cx="9010650" cy="185737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第二种形式有三个参数，前两个参数与第一种形式参数含义相同，第三个参数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delimiter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表示结束符。函数作用是从输入流中读取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count-1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个字符存储到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dst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指向的内存空间，遇到结束符读取结束。</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2"/>
          <p:cNvSpPr txBox="1">
            <a:spLocks/>
          </p:cNvSpPr>
          <p:nvPr/>
        </p:nvSpPr>
        <p:spPr>
          <a:xfrm>
            <a:off x="1714501" y="1733551"/>
            <a:ext cx="9896474" cy="30670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rgbClr val="00B0F0"/>
                </a:solidFill>
                <a:latin typeface="微软雅黑" pitchFamily="34" charset="-122"/>
                <a:ea typeface="微软雅黑" pitchFamily="34" charset="-122"/>
                <a:cs typeface="Times New Roman" pitchFamily="18" charset="0"/>
              </a:rPr>
              <a:t>char buf1[20]，buf2[20];</a:t>
            </a:r>
            <a:endParaRPr lang="zh-CN" altLang="zh-CN" sz="1800" dirty="0" smtClean="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微软雅黑" pitchFamily="34" charset="-122"/>
                <a:ea typeface="微软雅黑" pitchFamily="34" charset="-122"/>
                <a:cs typeface="Times New Roman" pitchFamily="18" charset="0"/>
              </a:rPr>
              <a:t>cin.getline(buf1,20);</a:t>
            </a:r>
            <a:endParaRPr lang="zh-CN" altLang="zh-CN" sz="1800" dirty="0" smtClean="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微软雅黑" pitchFamily="34" charset="-122"/>
                <a:ea typeface="微软雅黑" pitchFamily="34" charset="-122"/>
                <a:cs typeface="Times New Roman" pitchFamily="18" charset="0"/>
              </a:rPr>
              <a:t>cin.getline(buf2,20,’d’);</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//从输入流中读取19个字符，遇到字符d结束读取</a:t>
            </a:r>
            <a:endParaRPr lang="en-US"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上述代码中，第一次调用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函数，表示从输入流中读取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19</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个字符存储到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buf1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数组中。第二次调用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函数，表示从输入流中读取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19</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个字符，在读取过程中，如果遇到字符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就结束读取。</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2"/>
          <p:cNvSpPr txBox="1">
            <a:spLocks/>
          </p:cNvSpPr>
          <p:nvPr/>
        </p:nvSpPr>
        <p:spPr>
          <a:xfrm>
            <a:off x="1476376" y="1343025"/>
            <a:ext cx="10210800" cy="457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3</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read()</a:t>
            </a:r>
            <a:r>
              <a:rPr lang="zh-CN" altLang="zh-CN" sz="2400" dirty="0" smtClean="0">
                <a:solidFill>
                  <a:srgbClr val="FF0000"/>
                </a:solidFill>
                <a:latin typeface="微软雅黑" pitchFamily="34" charset="-122"/>
                <a:ea typeface="微软雅黑" pitchFamily="34" charset="-122"/>
                <a:cs typeface="Times New Roman" pitchFamily="18" charset="0"/>
              </a:rPr>
              <a:t>函数</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函数用于从输入流中读取指定字符个数的字符串，其声明如下所示：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read(char* dst, streamsize count);</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在上述声明中，</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函数的参数与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函数的参数含义相同，只是</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函数没有结束符，直到读取够</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count-1</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个字符才会结束读取。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函数在读取数据时，对读取到的字节序列不作任何处理，数据被送到指定的内存空间后，由程序的类型定义解析。因此</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函数不会识别换行符，遇到换行符也不会结束读取。</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8.2.3 </a:t>
            </a:r>
            <a:r>
              <a:rPr lang="zh-CN" altLang="en-US" sz="3200" b="1" dirty="0" smtClean="0">
                <a:solidFill>
                  <a:srgbClr val="1353A2"/>
                </a:solidFill>
                <a:latin typeface="微软雅黑" pitchFamily="34" charset="-122"/>
                <a:ea typeface="微软雅黑" pitchFamily="34" charset="-122"/>
              </a:rPr>
              <a:t>标准输入流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 name="组合 7"/>
          <p:cNvGrpSpPr/>
          <p:nvPr/>
        </p:nvGrpSpPr>
        <p:grpSpPr>
          <a:xfrm>
            <a:off x="2181226" y="1413751"/>
            <a:ext cx="8448674" cy="4557842"/>
            <a:chOff x="2181226" y="1589088"/>
            <a:chExt cx="8448674" cy="4557842"/>
          </a:xfrm>
        </p:grpSpPr>
        <p:pic>
          <p:nvPicPr>
            <p:cNvPr id="180226" name="Picture 2"/>
            <p:cNvPicPr>
              <a:picLocks noChangeAspect="1" noChangeArrowheads="1"/>
            </p:cNvPicPr>
            <p:nvPr/>
          </p:nvPicPr>
          <p:blipFill>
            <a:blip r:embed="rId4" cstate="print"/>
            <a:srcRect/>
            <a:stretch>
              <a:fillRect/>
            </a:stretch>
          </p:blipFill>
          <p:spPr bwMode="auto">
            <a:xfrm>
              <a:off x="2181226" y="1589088"/>
              <a:ext cx="8448674" cy="4557842"/>
            </a:xfrm>
            <a:prstGeom prst="rect">
              <a:avLst/>
            </a:prstGeom>
            <a:noFill/>
            <a:ln w="9525">
              <a:noFill/>
              <a:miter lim="800000"/>
              <a:headEnd/>
              <a:tailEnd/>
            </a:ln>
          </p:spPr>
        </p:pic>
        <p:sp>
          <p:nvSpPr>
            <p:cNvPr id="7" name="内容占位符 2"/>
            <p:cNvSpPr txBox="1">
              <a:spLocks/>
            </p:cNvSpPr>
            <p:nvPr/>
          </p:nvSpPr>
          <p:spPr>
            <a:xfrm>
              <a:off x="3219451" y="1676400"/>
              <a:ext cx="6715124" cy="39528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a:t>
              </a:r>
              <a:r>
                <a:rPr lang="zh-CN" altLang="en-US" sz="2400" dirty="0" smtClean="0">
                  <a:solidFill>
                    <a:srgbClr val="FF0000"/>
                  </a:solidFill>
                  <a:latin typeface="微软雅黑" pitchFamily="34" charset="-122"/>
                  <a:ea typeface="微软雅黑" pitchFamily="34" charset="-122"/>
                  <a:cs typeface="Times New Roman" pitchFamily="18" charset="0"/>
                </a:rPr>
                <a:t>例</a:t>
              </a:r>
              <a:r>
                <a:rPr lang="en-US" altLang="zh-CN" sz="2400" dirty="0" smtClean="0">
                  <a:solidFill>
                    <a:srgbClr val="FF0000"/>
                  </a:solidFill>
                  <a:latin typeface="微软雅黑" pitchFamily="34" charset="-122"/>
                  <a:ea typeface="微软雅黑" pitchFamily="34" charset="-122"/>
                  <a:cs typeface="Times New Roman" pitchFamily="18" charset="0"/>
                </a:rPr>
                <a:t>8-2   </a:t>
              </a:r>
              <a:r>
                <a:rPr lang="en-US" altLang="zh-CN" sz="2400" dirty="0" smtClean="0">
                  <a:solidFill>
                    <a:srgbClr val="FF0000"/>
                  </a:solidFill>
                  <a:latin typeface="微软雅黑" pitchFamily="34" charset="-122"/>
                  <a:ea typeface="微软雅黑" pitchFamily="34" charset="-122"/>
                  <a:cs typeface="Times New Roman" pitchFamily="18" charset="0"/>
                </a:rPr>
                <a:t>read.cpp</a:t>
              </a:r>
              <a:endParaRPr lang="en-US" altLang="zh-CN" sz="2400" dirty="0" smtClean="0">
                <a:solidFill>
                  <a:srgbClr val="FF000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main(){</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char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[50]={0};</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请输入一个字符串：</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cin.read</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(buf,25);</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输出：</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609726" y="1657350"/>
            <a:ext cx="10210800" cy="35718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1</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ignore()函数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ignore()函数作用是跳过输入流中的n个字符，其声明如下所示：</a:t>
            </a:r>
            <a:endParaRPr lang="zh-CN" altLang="zh-CN" sz="24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istream&amp; ignore(streamsize count, int delimeter);</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在上述声明中，</a:t>
            </a:r>
            <a:r>
              <a:rPr lang="en-US" altLang="zh-CN" sz="2400" dirty="0" smtClean="0">
                <a:solidFill>
                  <a:schemeClr val="bg1">
                    <a:lumMod val="50000"/>
                  </a:schemeClr>
                </a:solidFill>
                <a:latin typeface="楷体" pitchFamily="49" charset="-122"/>
                <a:ea typeface="楷体" pitchFamily="49" charset="-122"/>
                <a:cs typeface="Times New Roman" pitchFamily="18" charset="0"/>
              </a:rPr>
              <a:t>count</a:t>
            </a:r>
            <a:r>
              <a:rPr lang="zh-CN" altLang="zh-CN" sz="2400" dirty="0" smtClean="0">
                <a:solidFill>
                  <a:schemeClr val="bg1">
                    <a:lumMod val="50000"/>
                  </a:schemeClr>
                </a:solidFill>
                <a:latin typeface="楷体" pitchFamily="49" charset="-122"/>
                <a:ea typeface="楷体" pitchFamily="49" charset="-122"/>
                <a:cs typeface="Times New Roman" pitchFamily="18" charset="0"/>
              </a:rPr>
              <a:t>表示要跳过的字符个数，默认值是</a:t>
            </a:r>
            <a:r>
              <a:rPr lang="en-US" altLang="zh-CN" sz="2400" dirty="0" smtClean="0">
                <a:solidFill>
                  <a:schemeClr val="bg1">
                    <a:lumMod val="50000"/>
                  </a:schemeClr>
                </a:solidFill>
                <a:latin typeface="楷体" pitchFamily="49" charset="-122"/>
                <a:ea typeface="楷体" pitchFamily="49" charset="-122"/>
                <a:cs typeface="Times New Roman" pitchFamily="18" charset="0"/>
              </a:rPr>
              <a:t>1</a:t>
            </a:r>
            <a:r>
              <a:rPr lang="zh-CN" altLang="zh-CN" sz="2400" dirty="0" smtClean="0">
                <a:solidFill>
                  <a:schemeClr val="bg1">
                    <a:lumMod val="50000"/>
                  </a:schemeClr>
                </a:solidFill>
                <a:latin typeface="楷体" pitchFamily="49" charset="-122"/>
                <a:ea typeface="楷体" pitchFamily="49" charset="-122"/>
                <a:cs typeface="Times New Roman" pitchFamily="18" charset="0"/>
              </a:rPr>
              <a:t>；</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delimeter</a:t>
            </a:r>
            <a:r>
              <a:rPr lang="zh-CN" altLang="zh-CN" sz="2400" dirty="0" smtClean="0">
                <a:solidFill>
                  <a:schemeClr val="bg1">
                    <a:lumMod val="50000"/>
                  </a:schemeClr>
                </a:solidFill>
                <a:latin typeface="楷体" pitchFamily="49" charset="-122"/>
                <a:ea typeface="楷体" pitchFamily="49" charset="-122"/>
                <a:cs typeface="Times New Roman" pitchFamily="18" charset="0"/>
              </a:rPr>
              <a:t>表示结束符，在跳跃过程中，如果遇到结束符就结束跳跃。</a:t>
            </a:r>
            <a:r>
              <a:rPr lang="en-US" altLang="zh-CN" sz="2400" dirty="0" smtClean="0">
                <a:solidFill>
                  <a:schemeClr val="bg1">
                    <a:lumMod val="50000"/>
                  </a:schemeClr>
                </a:solidFill>
                <a:latin typeface="楷体" pitchFamily="49" charset="-122"/>
                <a:ea typeface="楷体" pitchFamily="49" charset="-122"/>
                <a:cs typeface="Times New Roman" pitchFamily="18" charset="0"/>
              </a:rPr>
              <a:t>ignore()</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函数不识别换行符、空格、制表符等特殊符。</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924049" y="1933575"/>
            <a:ext cx="9191625" cy="3009900"/>
            <a:chOff x="2019299" y="1933575"/>
            <a:chExt cx="9191625" cy="3009900"/>
          </a:xfrm>
        </p:grpSpPr>
        <p:pic>
          <p:nvPicPr>
            <p:cNvPr id="181250" name="Picture 2"/>
            <p:cNvPicPr>
              <a:picLocks noChangeAspect="1" noChangeArrowheads="1"/>
            </p:cNvPicPr>
            <p:nvPr/>
          </p:nvPicPr>
          <p:blipFill>
            <a:blip r:embed="rId4" cstate="print"/>
            <a:srcRect/>
            <a:stretch>
              <a:fillRect/>
            </a:stretch>
          </p:blipFill>
          <p:spPr bwMode="auto">
            <a:xfrm>
              <a:off x="2019299" y="1933575"/>
              <a:ext cx="9191625" cy="3009900"/>
            </a:xfrm>
            <a:prstGeom prst="rect">
              <a:avLst/>
            </a:prstGeom>
            <a:noFill/>
            <a:ln w="9525">
              <a:noFill/>
              <a:miter lim="800000"/>
              <a:headEnd/>
              <a:tailEnd/>
            </a:ln>
          </p:spPr>
        </p:pic>
        <p:sp>
          <p:nvSpPr>
            <p:cNvPr id="8" name="内容占位符 2"/>
            <p:cNvSpPr txBox="1">
              <a:spLocks/>
            </p:cNvSpPr>
            <p:nvPr/>
          </p:nvSpPr>
          <p:spPr>
            <a:xfrm>
              <a:off x="2857501" y="2305051"/>
              <a:ext cx="7915274" cy="21526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char buf[10];</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cin.ignore(6, 'T'); 	//跳过前面6个字符，遇到字符'T'终止跳跃</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cin.getline(buf, 8);	//跳跃结束，读取7个字符存储到buf数组中</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cout &lt;&lt; buf &lt;&lt; endl;	//输出buf数组中的数据</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895476" y="1600200"/>
            <a:ext cx="9629774" cy="3810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2</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gcount()函数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gcount()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函数作用是计算上一次读取到的字符个数，其声明如下所示：</a:t>
            </a: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streamsize gcount() const;</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gcount()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函数的声明与用法很简单，用法示例代码如下：</a:t>
            </a:r>
          </a:p>
          <a:p>
            <a:pPr marL="0" indent="0" eaLnBrk="1" hangingPunct="1">
              <a:lnSpc>
                <a:spcPct val="150000"/>
              </a:lnSpc>
              <a:spcBef>
                <a:spcPct val="0"/>
              </a:spcBef>
              <a:buNone/>
              <a:defRPr/>
            </a:pPr>
            <a:r>
              <a:rPr lang="x-none" altLang="zh-CN" sz="2000" dirty="0" smtClean="0">
                <a:solidFill>
                  <a:srgbClr val="00B0F0"/>
                </a:solidFill>
                <a:latin typeface="楷体" pitchFamily="49" charset="-122"/>
                <a:ea typeface="楷体" pitchFamily="49" charset="-122"/>
                <a:cs typeface="Times New Roman" pitchFamily="18" charset="0"/>
              </a:rPr>
              <a:t>char buf[50]={0};</a:t>
            </a:r>
            <a:r>
              <a:rPr lang="x-none" altLang="zh-CN" sz="2000" dirty="0" smtClean="0">
                <a:solidFill>
                  <a:schemeClr val="bg1">
                    <a:lumMod val="50000"/>
                  </a:schemeClr>
                </a:solidFill>
                <a:latin typeface="楷体" pitchFamily="49" charset="-122"/>
                <a:ea typeface="楷体" pitchFamily="49" charset="-122"/>
                <a:cs typeface="Times New Roman" pitchFamily="18" charset="0"/>
              </a:rPr>
              <a:t>			</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楷体" pitchFamily="49" charset="-122"/>
                <a:ea typeface="楷体" pitchFamily="49" charset="-122"/>
                <a:cs typeface="Times New Roman" pitchFamily="18" charset="0"/>
              </a:rPr>
              <a:t>cin.getline(buf,20);</a:t>
            </a:r>
            <a:r>
              <a:rPr lang="x-none" altLang="zh-CN" sz="2000" dirty="0" smtClean="0">
                <a:solidFill>
                  <a:schemeClr val="bg1">
                    <a:lumMod val="50000"/>
                  </a:schemeClr>
                </a:solidFill>
                <a:latin typeface="楷体" pitchFamily="49" charset="-122"/>
                <a:ea typeface="楷体" pitchFamily="49" charset="-122"/>
                <a:cs typeface="Times New Roman" pitchFamily="18" charset="0"/>
              </a:rPr>
              <a:t>		//读取字符串存储到buf数组中</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楷体" pitchFamily="49" charset="-122"/>
                <a:ea typeface="楷体" pitchFamily="49" charset="-122"/>
                <a:cs typeface="Times New Roman" pitchFamily="18" charset="0"/>
              </a:rPr>
              <a:t>int count=cin.gcount();</a:t>
            </a:r>
            <a:r>
              <a:rPr lang="x-none" altLang="zh-CN" sz="2000" dirty="0" smtClean="0">
                <a:solidFill>
                  <a:schemeClr val="bg1">
                    <a:lumMod val="50000"/>
                  </a:schemeClr>
                </a:solidFill>
                <a:latin typeface="楷体" pitchFamily="49" charset="-122"/>
                <a:ea typeface="楷体" pitchFamily="49" charset="-122"/>
                <a:cs typeface="Times New Roman" pitchFamily="18" charset="0"/>
              </a:rPr>
              <a:t>	//统计上次读取的字符个数</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476375" y="1657351"/>
            <a:ext cx="10220325" cy="33718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3</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peek()函数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peek()</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函数的作用是检测输入流中的待读取的字符，其声明如下所示：</a:t>
            </a: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int peek();</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在上述声明中，</a:t>
            </a:r>
            <a:r>
              <a:rPr lang="x-none" altLang="zh-CN" sz="2400" dirty="0" smtClean="0">
                <a:solidFill>
                  <a:schemeClr val="bg1">
                    <a:lumMod val="50000"/>
                  </a:schemeClr>
                </a:solidFill>
                <a:latin typeface="楷体" pitchFamily="49" charset="-122"/>
                <a:ea typeface="楷体" pitchFamily="49" charset="-122"/>
                <a:cs typeface="Times New Roman" pitchFamily="18" charset="0"/>
              </a:rPr>
              <a:t>peek()</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函数没有参数，返回值为</a:t>
            </a:r>
            <a:r>
              <a:rPr lang="x-none" altLang="zh-CN" sz="2400" dirty="0" smtClean="0">
                <a:solidFill>
                  <a:schemeClr val="bg1">
                    <a:lumMod val="50000"/>
                  </a:schemeClr>
                </a:solidFill>
                <a:latin typeface="楷体" pitchFamily="49" charset="-122"/>
                <a:ea typeface="楷体" pitchFamily="49" charset="-122"/>
                <a:cs typeface="Times New Roman" pitchFamily="18" charset="0"/>
              </a:rPr>
              <a:t>int</a:t>
            </a:r>
            <a:r>
              <a:rPr lang="zh-CN" altLang="zh-CN" sz="2400" dirty="0" smtClean="0">
                <a:solidFill>
                  <a:schemeClr val="bg1">
                    <a:lumMod val="50000"/>
                  </a:schemeClr>
                </a:solidFill>
                <a:latin typeface="楷体" pitchFamily="49" charset="-122"/>
                <a:ea typeface="楷体" pitchFamily="49" charset="-122"/>
                <a:cs typeface="Times New Roman" pitchFamily="18" charset="0"/>
              </a:rPr>
              <a:t>类型，即返回检测字符的</a:t>
            </a:r>
            <a:r>
              <a:rPr lang="x-none" altLang="zh-CN" sz="2400" dirty="0" smtClean="0">
                <a:solidFill>
                  <a:schemeClr val="bg1">
                    <a:lumMod val="50000"/>
                  </a:schemeClr>
                </a:solidFill>
                <a:latin typeface="楷体" pitchFamily="49" charset="-122"/>
                <a:ea typeface="楷体" pitchFamily="49" charset="-122"/>
                <a:cs typeface="Times New Roman" pitchFamily="18" charset="0"/>
              </a:rPr>
              <a:t>ASCII</a:t>
            </a:r>
            <a:r>
              <a:rPr lang="zh-CN" altLang="zh-CN" sz="2400" dirty="0" smtClean="0">
                <a:solidFill>
                  <a:schemeClr val="bg1">
                    <a:lumMod val="50000"/>
                  </a:schemeClr>
                </a:solidFill>
                <a:latin typeface="楷体" pitchFamily="49" charset="-122"/>
                <a:ea typeface="楷体" pitchFamily="49" charset="-122"/>
                <a:cs typeface="Times New Roman" pitchFamily="18" charset="0"/>
              </a:rPr>
              <a:t>码值。</a:t>
            </a:r>
            <a:r>
              <a:rPr lang="x-none" altLang="zh-CN" sz="2400" dirty="0" smtClean="0">
                <a:solidFill>
                  <a:schemeClr val="bg1">
                    <a:lumMod val="50000"/>
                  </a:schemeClr>
                </a:solidFill>
                <a:latin typeface="楷体" pitchFamily="49" charset="-122"/>
                <a:ea typeface="楷体" pitchFamily="49" charset="-122"/>
                <a:cs typeface="Times New Roman" pitchFamily="18" charset="0"/>
              </a:rPr>
              <a:t>peek()</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函数只是检测待读取的字符，但并不会真正读取它。</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371600" y="1524001"/>
            <a:ext cx="10429875" cy="412432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rgbClr val="00B0F0"/>
                </a:solidFill>
                <a:latin typeface="楷体" pitchFamily="49" charset="-122"/>
                <a:ea typeface="楷体" pitchFamily="49" charset="-122"/>
                <a:cs typeface="Times New Roman" pitchFamily="18" charset="0"/>
              </a:rPr>
              <a:t>char ch=cin.peek();</a:t>
            </a:r>
            <a:r>
              <a:rPr lang="x-none" altLang="zh-CN" sz="1800" dirty="0" smtClean="0">
                <a:solidFill>
                  <a:schemeClr val="bg1">
                    <a:lumMod val="50000"/>
                  </a:schemeClr>
                </a:solidFill>
                <a:latin typeface="楷体" pitchFamily="49" charset="-122"/>
                <a:ea typeface="楷体" pitchFamily="49" charset="-122"/>
                <a:cs typeface="Times New Roman" pitchFamily="18" charset="0"/>
              </a:rPr>
              <a:t>		//检测字符</a:t>
            </a:r>
            <a:endParaRPr lang="zh-CN" altLang="zh-CN" sz="18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楷体" pitchFamily="49" charset="-122"/>
                <a:ea typeface="楷体" pitchFamily="49" charset="-122"/>
                <a:cs typeface="Times New Roman" pitchFamily="18" charset="0"/>
              </a:rPr>
              <a:t>cout&lt;&lt;ch&lt;&lt;endl;</a:t>
            </a:r>
            <a:endParaRPr lang="zh-CN" altLang="zh-CN" sz="1800" dirty="0" smtClean="0">
              <a:solidFill>
                <a:srgbClr val="00B0F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楷体" pitchFamily="49" charset="-122"/>
                <a:ea typeface="楷体" pitchFamily="49" charset="-122"/>
                <a:cs typeface="Times New Roman" pitchFamily="18" charset="0"/>
              </a:rPr>
              <a:t>cin.get(ch);</a:t>
            </a:r>
            <a:r>
              <a:rPr lang="x-none" altLang="zh-CN" sz="1800" dirty="0" smtClean="0">
                <a:solidFill>
                  <a:schemeClr val="bg1">
                    <a:lumMod val="50000"/>
                  </a:schemeClr>
                </a:solidFill>
                <a:latin typeface="楷体" pitchFamily="49" charset="-122"/>
                <a:ea typeface="楷体" pitchFamily="49" charset="-122"/>
                <a:cs typeface="Times New Roman" pitchFamily="18" charset="0"/>
              </a:rPr>
              <a:t>			//读取字符</a:t>
            </a:r>
            <a:endParaRPr lang="zh-CN" altLang="zh-CN" sz="18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楷体" pitchFamily="49" charset="-122"/>
                <a:ea typeface="楷体" pitchFamily="49" charset="-122"/>
                <a:cs typeface="Times New Roman" pitchFamily="18" charset="0"/>
              </a:rPr>
              <a:t>cout&lt;&lt;ch&lt;&lt;endl;</a:t>
            </a:r>
            <a:endParaRPr lang="zh-CN" altLang="zh-CN" sz="1800" dirty="0" smtClean="0">
              <a:solidFill>
                <a:srgbClr val="00B0F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运行上述代码，两次输出的</a:t>
            </a:r>
            <a:r>
              <a:rPr lang="x-none" altLang="zh-CN" sz="2400" dirty="0" smtClean="0">
                <a:solidFill>
                  <a:schemeClr val="bg1">
                    <a:lumMod val="50000"/>
                  </a:schemeClr>
                </a:solidFill>
                <a:latin typeface="楷体" pitchFamily="49" charset="-122"/>
                <a:ea typeface="楷体" pitchFamily="49" charset="-122"/>
                <a:cs typeface="Times New Roman" pitchFamily="18" charset="0"/>
              </a:rPr>
              <a:t>ch</a:t>
            </a:r>
            <a:r>
              <a:rPr lang="zh-CN" altLang="zh-CN" sz="2400" dirty="0" smtClean="0">
                <a:solidFill>
                  <a:schemeClr val="bg1">
                    <a:lumMod val="50000"/>
                  </a:schemeClr>
                </a:solidFill>
                <a:latin typeface="楷体" pitchFamily="49" charset="-122"/>
                <a:ea typeface="楷体" pitchFamily="49" charset="-122"/>
                <a:cs typeface="Times New Roman" pitchFamily="18" charset="0"/>
              </a:rPr>
              <a:t>值是一样的，表明</a:t>
            </a:r>
            <a:r>
              <a:rPr lang="x-none" altLang="zh-CN" sz="2400" dirty="0" smtClean="0">
                <a:solidFill>
                  <a:schemeClr val="bg1">
                    <a:lumMod val="50000"/>
                  </a:schemeClr>
                </a:solidFill>
                <a:latin typeface="楷体" pitchFamily="49" charset="-122"/>
                <a:ea typeface="楷体" pitchFamily="49" charset="-122"/>
                <a:cs typeface="Times New Roman" pitchFamily="18" charset="0"/>
              </a:rPr>
              <a:t>peek()</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函数并没有真正去读取检测到的字符。如果</a:t>
            </a:r>
            <a:r>
              <a:rPr lang="x-none" altLang="zh-CN" sz="2400" dirty="0" smtClean="0">
                <a:solidFill>
                  <a:schemeClr val="bg1">
                    <a:lumMod val="50000"/>
                  </a:schemeClr>
                </a:solidFill>
                <a:latin typeface="楷体" pitchFamily="49" charset="-122"/>
                <a:ea typeface="楷体" pitchFamily="49" charset="-122"/>
                <a:cs typeface="Times New Roman" pitchFamily="18" charset="0"/>
              </a:rPr>
              <a:t>peek()</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函数读取了检测的字符，输入流自动向后移动一个位置（字符），则调用</a:t>
            </a:r>
            <a:r>
              <a:rPr lang="x-none" altLang="zh-CN" sz="2400" dirty="0" smtClean="0">
                <a:solidFill>
                  <a:schemeClr val="bg1">
                    <a:lumMod val="50000"/>
                  </a:schemeClr>
                </a:solidFill>
                <a:latin typeface="楷体" pitchFamily="49" charset="-122"/>
                <a:ea typeface="楷体" pitchFamily="49" charset="-122"/>
                <a:cs typeface="Times New Roman" pitchFamily="18" charset="0"/>
              </a:rPr>
              <a:t>get()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函数读取时会读取到流中下一个字符，两次输出</a:t>
            </a:r>
            <a:r>
              <a:rPr lang="x-none" altLang="zh-CN" sz="2400" dirty="0" smtClean="0">
                <a:solidFill>
                  <a:schemeClr val="bg1">
                    <a:lumMod val="50000"/>
                  </a:schemeClr>
                </a:solidFill>
                <a:latin typeface="楷体" pitchFamily="49" charset="-122"/>
                <a:ea typeface="楷体" pitchFamily="49" charset="-122"/>
                <a:cs typeface="Times New Roman" pitchFamily="18" charset="0"/>
              </a:rPr>
              <a:t>ch</a:t>
            </a:r>
            <a:r>
              <a:rPr lang="zh-CN" altLang="zh-CN" sz="2400" dirty="0" smtClean="0">
                <a:solidFill>
                  <a:schemeClr val="bg1">
                    <a:lumMod val="50000"/>
                  </a:schemeClr>
                </a:solidFill>
                <a:latin typeface="楷体" pitchFamily="49" charset="-122"/>
                <a:ea typeface="楷体" pitchFamily="49" charset="-122"/>
                <a:cs typeface="Times New Roman" pitchFamily="18" charset="0"/>
              </a:rPr>
              <a:t>会不同。</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514475" y="1533526"/>
            <a:ext cx="10201275" cy="363854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4</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putback()函数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en-US" altLang="zh-CN" sz="2400" dirty="0" err="1" smtClean="0">
                <a:solidFill>
                  <a:schemeClr val="bg1">
                    <a:lumMod val="50000"/>
                  </a:schemeClr>
                </a:solidFill>
                <a:latin typeface="楷体" pitchFamily="49" charset="-122"/>
                <a:ea typeface="楷体" pitchFamily="49" charset="-122"/>
                <a:cs typeface="Times New Roman" pitchFamily="18" charset="0"/>
              </a:rPr>
              <a:t>putback</a:t>
            </a:r>
            <a:r>
              <a:rPr lang="en-US" altLang="zh-CN" sz="2400" dirty="0" smtClean="0">
                <a:solidFill>
                  <a:schemeClr val="bg1">
                    <a:lumMod val="50000"/>
                  </a:schemeClr>
                </a:solidFill>
                <a:latin typeface="楷体" pitchFamily="49" charset="-122"/>
                <a:ea typeface="楷体" pitchFamily="49" charset="-122"/>
                <a:cs typeface="Times New Roman" pitchFamily="18" charset="0"/>
              </a:rPr>
              <a: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函数的作用是将上一次读取的字符放回输入流中，使之可被下一次读取，其声明如下所示：</a:t>
            </a: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istream&amp; putback(char ch);</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在上述声明中，参数</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ch</a:t>
            </a:r>
            <a:r>
              <a:rPr lang="zh-CN" altLang="zh-CN" sz="2400" dirty="0" smtClean="0">
                <a:solidFill>
                  <a:schemeClr val="bg1">
                    <a:lumMod val="50000"/>
                  </a:schemeClr>
                </a:solidFill>
                <a:latin typeface="楷体" pitchFamily="49" charset="-122"/>
                <a:ea typeface="楷体" pitchFamily="49" charset="-122"/>
                <a:cs typeface="Times New Roman" pitchFamily="18" charset="0"/>
              </a:rPr>
              <a:t>是上一次通过</a:t>
            </a:r>
            <a:r>
              <a:rPr lang="en-US" altLang="zh-CN" sz="2400" dirty="0" smtClean="0">
                <a:solidFill>
                  <a:schemeClr val="bg1">
                    <a:lumMod val="50000"/>
                  </a:schemeClr>
                </a:solidFill>
                <a:latin typeface="楷体" pitchFamily="49" charset="-122"/>
                <a:ea typeface="楷体" pitchFamily="49" charset="-122"/>
                <a:cs typeface="Times New Roman" pitchFamily="18" charset="0"/>
              </a:rPr>
              <a:t>get()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函数或</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getline</a:t>
            </a:r>
            <a:r>
              <a:rPr lang="en-US" altLang="zh-CN" sz="2400" dirty="0" smtClean="0">
                <a:solidFill>
                  <a:schemeClr val="bg1">
                    <a:lumMod val="50000"/>
                  </a:schemeClr>
                </a:solidFill>
                <a:latin typeface="楷体" pitchFamily="49" charset="-122"/>
                <a:ea typeface="楷体" pitchFamily="49" charset="-122"/>
                <a:cs typeface="Times New Roman" pitchFamily="18" charset="0"/>
              </a:rPr>
              <a: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函数读取的字符。</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putback</a:t>
            </a:r>
            <a:r>
              <a:rPr lang="en-US" altLang="zh-CN" sz="2400" dirty="0" smtClean="0">
                <a:solidFill>
                  <a:schemeClr val="bg1">
                    <a:lumMod val="50000"/>
                  </a:schemeClr>
                </a:solidFill>
                <a:latin typeface="楷体" pitchFamily="49" charset="-122"/>
                <a:ea typeface="楷体" pitchFamily="49" charset="-122"/>
                <a:cs typeface="Times New Roman" pitchFamily="18" charset="0"/>
              </a:rPr>
              <a:t>()</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函数将字符</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ch</a:t>
            </a:r>
            <a:r>
              <a:rPr lang="zh-CN" altLang="zh-CN" sz="2400" dirty="0" smtClean="0">
                <a:solidFill>
                  <a:schemeClr val="bg1">
                    <a:lumMod val="50000"/>
                  </a:schemeClr>
                </a:solidFill>
                <a:latin typeface="楷体" pitchFamily="49" charset="-122"/>
                <a:ea typeface="楷体" pitchFamily="49" charset="-122"/>
                <a:cs typeface="Times New Roman" pitchFamily="18" charset="0"/>
              </a:rPr>
              <a:t>重新放回输入流中。</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7" y="501700"/>
            <a:ext cx="8023227"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a:t>
            </a:r>
            <a:r>
              <a:rPr lang="en-US" altLang="zh-CN" sz="3200" b="1" dirty="0" err="1" smtClean="0">
                <a:solidFill>
                  <a:srgbClr val="1353A2"/>
                </a:solidFill>
                <a:latin typeface="楷体" pitchFamily="49" charset="-122"/>
                <a:ea typeface="楷体" pitchFamily="49" charset="-122"/>
              </a:rPr>
              <a:t>istream</a:t>
            </a:r>
            <a:r>
              <a:rPr lang="zh-CN" altLang="zh-CN" sz="3200" b="1" dirty="0" smtClean="0">
                <a:solidFill>
                  <a:srgbClr val="1353A2"/>
                </a:solidFill>
                <a:latin typeface="楷体" pitchFamily="49" charset="-122"/>
                <a:ea typeface="楷体" pitchFamily="49" charset="-122"/>
              </a:rPr>
              <a:t>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2352676" y="2105024"/>
            <a:ext cx="8543924" cy="2714625"/>
            <a:chOff x="1943101" y="1847849"/>
            <a:chExt cx="8229600" cy="2714625"/>
          </a:xfrm>
        </p:grpSpPr>
        <p:pic>
          <p:nvPicPr>
            <p:cNvPr id="182274" name="Picture 2"/>
            <p:cNvPicPr>
              <a:picLocks noChangeAspect="1" noChangeArrowheads="1"/>
            </p:cNvPicPr>
            <p:nvPr/>
          </p:nvPicPr>
          <p:blipFill>
            <a:blip r:embed="rId4" cstate="print"/>
            <a:srcRect/>
            <a:stretch>
              <a:fillRect/>
            </a:stretch>
          </p:blipFill>
          <p:spPr bwMode="auto">
            <a:xfrm>
              <a:off x="1943101" y="1847849"/>
              <a:ext cx="8229600" cy="2714625"/>
            </a:xfrm>
            <a:prstGeom prst="rect">
              <a:avLst/>
            </a:prstGeom>
            <a:noFill/>
            <a:ln w="9525">
              <a:noFill/>
              <a:miter lim="800000"/>
              <a:headEnd/>
              <a:tailEnd/>
            </a:ln>
          </p:spPr>
        </p:pic>
        <p:sp>
          <p:nvSpPr>
            <p:cNvPr id="8" name="内容占位符 2"/>
            <p:cNvSpPr txBox="1">
              <a:spLocks/>
            </p:cNvSpPr>
            <p:nvPr/>
          </p:nvSpPr>
          <p:spPr>
            <a:xfrm>
              <a:off x="2895601" y="2076451"/>
              <a:ext cx="6619874" cy="210502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char ch=cin.get();		//读取字符</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cout&lt;&lt;ch&lt;&lt;endl;</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cin.putback(ch);		//将字符重新放回输入流</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cout&lt;&lt;cin.get()&lt;&lt;endl;	//再次读取</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 </a:t>
            </a:r>
            <a:r>
              <a:rPr lang="zh-CN" altLang="en-US" sz="3200" b="1" dirty="0" smtClean="0">
                <a:solidFill>
                  <a:srgbClr val="1353A2"/>
                </a:solidFill>
                <a:latin typeface="微软雅黑" pitchFamily="34" charset="-122"/>
                <a:ea typeface="微软雅黑" pitchFamily="34" charset="-122"/>
              </a:rPr>
              <a:t>文件流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5781676" y="1781174"/>
            <a:ext cx="5343524" cy="357187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文件流是以磁盘中的文件作为输入输出对象的数据流。输出文件流将数据从内存输出到文件中，这个过程通常称为写文件；输入文件流将数据从磁盘中的文件读入内存，这个过程通常称为读文件。</a:t>
            </a:r>
          </a:p>
        </p:txBody>
      </p:sp>
      <p:pic>
        <p:nvPicPr>
          <p:cNvPr id="183298" name="Picture 2"/>
          <p:cNvPicPr>
            <a:picLocks noChangeAspect="1" noChangeArrowheads="1"/>
          </p:cNvPicPr>
          <p:nvPr/>
        </p:nvPicPr>
        <p:blipFill>
          <a:blip r:embed="rId4" cstate="print"/>
          <a:srcRect/>
          <a:stretch>
            <a:fillRect/>
          </a:stretch>
        </p:blipFill>
        <p:spPr bwMode="auto">
          <a:xfrm>
            <a:off x="2006600" y="1511300"/>
            <a:ext cx="3175000" cy="414851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183298"/>
                                        </p:tgtEl>
                                        <p:attrNameLst>
                                          <p:attrName>style.visibility</p:attrName>
                                        </p:attrNameLst>
                                      </p:cBhvr>
                                      <p:to>
                                        <p:strVal val="visible"/>
                                      </p:to>
                                    </p:set>
                                    <p:anim calcmode="lin" valueType="num">
                                      <p:cBhvr>
                                        <p:cTn id="7" dur="500" fill="hold"/>
                                        <p:tgtEl>
                                          <p:spTgt spid="183298"/>
                                        </p:tgtEl>
                                        <p:attrNameLst>
                                          <p:attrName>ppt_w</p:attrName>
                                        </p:attrNameLst>
                                      </p:cBhvr>
                                      <p:tavLst>
                                        <p:tav tm="0">
                                          <p:val>
                                            <p:fltVal val="0"/>
                                          </p:val>
                                        </p:tav>
                                        <p:tav tm="100000">
                                          <p:val>
                                            <p:strVal val="#ppt_w"/>
                                          </p:val>
                                        </p:tav>
                                      </p:tavLst>
                                    </p:anim>
                                    <p:anim calcmode="lin" valueType="num">
                                      <p:cBhvr>
                                        <p:cTn id="8" dur="500" fill="hold"/>
                                        <p:tgtEl>
                                          <p:spTgt spid="183298"/>
                                        </p:tgtEl>
                                        <p:attrNameLst>
                                          <p:attrName>ppt_h</p:attrName>
                                        </p:attrNameLst>
                                      </p:cBhvr>
                                      <p:tavLst>
                                        <p:tav tm="0">
                                          <p:val>
                                            <p:fltVal val="0"/>
                                          </p:val>
                                        </p:tav>
                                        <p:tav tm="100000">
                                          <p:val>
                                            <p:strVal val="#ppt_h"/>
                                          </p:val>
                                        </p:tav>
                                      </p:tavLst>
                                    </p:anim>
                                    <p:animEffect transition="in" filter="fade">
                                      <p:cBhvr>
                                        <p:cTn id="9" dur="500"/>
                                        <p:tgtEl>
                                          <p:spTgt spid="183298"/>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8.3.1 </a:t>
            </a:r>
            <a:r>
              <a:rPr lang="zh-CN" altLang="en-US" sz="3200" b="1" dirty="0" smtClean="0">
                <a:solidFill>
                  <a:srgbClr val="1353A2"/>
                </a:solidFill>
                <a:latin typeface="微软雅黑" pitchFamily="34" charset="-122"/>
                <a:ea typeface="微软雅黑" pitchFamily="34" charset="-122"/>
              </a:rPr>
              <a:t>文件流对象的创建</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790700" y="1533525"/>
            <a:ext cx="9563100" cy="39814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中，要进行文件的读写操作，首先必须建立一个文件流对象，然后把文件流对象与文件关联起来（打开文件）。文件流对象与文件关联之后，程序就可以调用文件流类的各种方法对文件进行操作了。</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提供了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3</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个类支持文件的输入输出：</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：输入文件流类。</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：输出文件流类。</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：输入输出文件流类。</a:t>
            </a: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8.3.1 </a:t>
            </a:r>
            <a:r>
              <a:rPr lang="zh-CN" altLang="en-US" sz="3200" b="1" dirty="0" smtClean="0">
                <a:solidFill>
                  <a:srgbClr val="1353A2"/>
                </a:solidFill>
                <a:latin typeface="微软雅黑" pitchFamily="34" charset="-122"/>
                <a:ea typeface="微软雅黑" pitchFamily="34" charset="-122"/>
              </a:rPr>
              <a:t>文件流对象的创建</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571625" y="1466850"/>
            <a:ext cx="9982200" cy="41814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文件流不像标准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I/O</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流预定义了输入流对象和输出流对象，使用文件流时，需要创建文件流对象。创建文件流对象主要有以下两种方法。</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1</a:t>
            </a:r>
            <a:r>
              <a:rPr lang="zh-CN" altLang="zh-CN" sz="2400" dirty="0" smtClean="0">
                <a:solidFill>
                  <a:srgbClr val="FF0000"/>
                </a:solidFill>
                <a:latin typeface="微软雅黑" pitchFamily="34" charset="-122"/>
                <a:ea typeface="微软雅黑" pitchFamily="34" charset="-122"/>
                <a:cs typeface="Times New Roman" pitchFamily="18" charset="0"/>
              </a:rPr>
              <a:t>）调用无参构造函数</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类都提供了默认构造函数，可以创建不带参数的文件流对象，示例代码如下：</a:t>
            </a: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ifstream ifs;</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  		//定义一个文件输入流对象</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ofstream ofs;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		//定义一个文件输出流对象</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fstream fs;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		//定义一个文件输入输出流对象</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8.3.1 </a:t>
            </a:r>
            <a:r>
              <a:rPr lang="zh-CN" altLang="en-US" sz="3200" b="1" dirty="0" smtClean="0">
                <a:solidFill>
                  <a:srgbClr val="1353A2"/>
                </a:solidFill>
                <a:latin typeface="微软雅黑" pitchFamily="34" charset="-122"/>
                <a:ea typeface="微软雅黑" pitchFamily="34" charset="-122"/>
              </a:rPr>
              <a:t>文件流对象的创建</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657350" y="1466850"/>
            <a:ext cx="9982200" cy="42957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2</a:t>
            </a:r>
            <a:r>
              <a:rPr lang="zh-CN" altLang="zh-CN" sz="2400" dirty="0" smtClean="0">
                <a:solidFill>
                  <a:srgbClr val="FF0000"/>
                </a:solidFill>
                <a:latin typeface="微软雅黑" pitchFamily="34" charset="-122"/>
                <a:ea typeface="微软雅黑" pitchFamily="34" charset="-122"/>
                <a:cs typeface="Times New Roman" pitchFamily="18" charset="0"/>
              </a:rPr>
              <a:t>）调用有参构造函数</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类也提供了带参数的构造函数，在创建文件流对象时可以指定文件名和文件打开模式，示例代码如下：</a:t>
            </a: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ifstream ifs("filename",ios::in); </a:t>
            </a:r>
            <a:endParaRPr lang="zh-CN" altLang="zh-CN" sz="2000" dirty="0" smtClean="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ofstream ofs("filename",ios::out); </a:t>
            </a:r>
            <a:endParaRPr lang="zh-CN" altLang="zh-CN" sz="2000" dirty="0" smtClean="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fstream fs("filename",ios::in|ios::out);</a:t>
            </a:r>
            <a:endParaRPr lang="zh-CN" altLang="zh-CN" sz="2000" dirty="0" smtClean="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类默认打开模式为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类默认打开模式</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::out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类默认打开模式为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in|ios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::out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8.3.2 </a:t>
            </a:r>
            <a:r>
              <a:rPr lang="zh-CN" altLang="en-US" sz="3200" b="1" dirty="0" smtClean="0">
                <a:solidFill>
                  <a:srgbClr val="1353A2"/>
                </a:solidFill>
                <a:latin typeface="微软雅黑" pitchFamily="34" charset="-122"/>
                <a:ea typeface="微软雅黑" pitchFamily="34" charset="-122"/>
              </a:rPr>
              <a:t>文件的打开与关闭</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2028827" y="1381125"/>
            <a:ext cx="5610224" cy="44386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打开文件</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提供了两种打开文件的方式：调用文件流类的构造函数打开文件、调用文件流类的成员函数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open()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打开文件。调用文件流类的构造函数打开文件就是在创建文件流对象时传入文件名和打开模式，这种方式在上一节已经讲解。下面主要讲解调用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open()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函数打开文件。</a:t>
            </a: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pic>
        <p:nvPicPr>
          <p:cNvPr id="184322" name="Picture 2"/>
          <p:cNvPicPr>
            <a:picLocks noChangeAspect="1" noChangeArrowheads="1"/>
          </p:cNvPicPr>
          <p:nvPr/>
        </p:nvPicPr>
        <p:blipFill>
          <a:blip r:embed="rId4" cstate="print"/>
          <a:srcRect/>
          <a:stretch>
            <a:fillRect/>
          </a:stretch>
        </p:blipFill>
        <p:spPr bwMode="auto">
          <a:xfrm>
            <a:off x="8181975" y="1423988"/>
            <a:ext cx="2628900" cy="446722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84322"/>
                                        </p:tgtEl>
                                        <p:attrNameLst>
                                          <p:attrName>style.visibility</p:attrName>
                                        </p:attrNameLst>
                                      </p:cBhvr>
                                      <p:to>
                                        <p:strVal val="visible"/>
                                      </p:to>
                                    </p:set>
                                    <p:animEffect transition="in" filter="strips(downLeft)">
                                      <p:cBhvr>
                                        <p:cTn id="7" dur="500"/>
                                        <p:tgtEl>
                                          <p:spTgt spid="18432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8.3.2 </a:t>
            </a:r>
            <a:r>
              <a:rPr lang="zh-CN" altLang="en-US" sz="3200" b="1" dirty="0" smtClean="0">
                <a:solidFill>
                  <a:srgbClr val="1353A2"/>
                </a:solidFill>
                <a:latin typeface="微软雅黑" pitchFamily="34" charset="-122"/>
                <a:ea typeface="微软雅黑" pitchFamily="34" charset="-122"/>
              </a:rPr>
              <a:t>文件的打开与关闭</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2028827" y="1752600"/>
            <a:ext cx="9563098" cy="31337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ifstream类、ostream类和fstream类都提供了成员函数open()用于打开文件，其</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声明</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如下所示：</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void open(const char* filename, int mode);</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在上述声明中，参数filename表示要打开的文件，参数mode表示文件打开方式。</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如果文件打开失败，则文件流对象的值为</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0</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（假）。</a:t>
            </a: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8.3.2 </a:t>
            </a:r>
            <a:r>
              <a:rPr lang="zh-CN" altLang="en-US" sz="3200" b="1" dirty="0" smtClean="0">
                <a:solidFill>
                  <a:srgbClr val="1353A2"/>
                </a:solidFill>
                <a:latin typeface="微软雅黑" pitchFamily="34" charset="-122"/>
                <a:ea typeface="微软雅黑" pitchFamily="34" charset="-122"/>
              </a:rPr>
              <a:t>文件的打开与关闭</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3943352" y="1266825"/>
            <a:ext cx="4562473" cy="6762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常用的文件打开模式及含义</a:t>
            </a: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graphicFrame>
        <p:nvGraphicFramePr>
          <p:cNvPr id="7" name="表格 6"/>
          <p:cNvGraphicFramePr>
            <a:graphicFrameLocks noGrp="1"/>
          </p:cNvGraphicFramePr>
          <p:nvPr/>
        </p:nvGraphicFramePr>
        <p:xfrm>
          <a:off x="1828800" y="2000250"/>
          <a:ext cx="9191625" cy="4048125"/>
        </p:xfrm>
        <a:graphic>
          <a:graphicData uri="http://schemas.openxmlformats.org/drawingml/2006/table">
            <a:tbl>
              <a:tblPr/>
              <a:tblGrid>
                <a:gridCol w="1842245">
                  <a:extLst>
                    <a:ext uri="{9D8B030D-6E8A-4147-A177-3AD203B41FA5}">
                      <a16:colId xmlns:a16="http://schemas.microsoft.com/office/drawing/2014/main" val="20000"/>
                    </a:ext>
                  </a:extLst>
                </a:gridCol>
                <a:gridCol w="7349380">
                  <a:extLst>
                    <a:ext uri="{9D8B030D-6E8A-4147-A177-3AD203B41FA5}">
                      <a16:colId xmlns:a16="http://schemas.microsoft.com/office/drawing/2014/main" val="20001"/>
                    </a:ext>
                  </a:extLst>
                </a:gridCol>
              </a:tblGrid>
              <a:tr h="368011">
                <a:tc>
                  <a:txBody>
                    <a:bodyPr/>
                    <a:lstStyle/>
                    <a:p>
                      <a:pPr indent="266700" algn="ctr">
                        <a:spcAft>
                          <a:spcPts val="0"/>
                        </a:spcAft>
                      </a:pPr>
                      <a:r>
                        <a:rPr lang="x-none" sz="1800" b="1" kern="100" dirty="0">
                          <a:solidFill>
                            <a:schemeClr val="bg1">
                              <a:lumMod val="50000"/>
                            </a:schemeClr>
                          </a:solidFill>
                          <a:latin typeface="微软雅黑" pitchFamily="34" charset="-122"/>
                          <a:ea typeface="微软雅黑" pitchFamily="34" charset="-122"/>
                        </a:rPr>
                        <a:t>文件打开模式</a:t>
                      </a:r>
                      <a:endParaRPr lang="zh-CN" sz="1800" kern="100" dirty="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ctr">
                        <a:spcAft>
                          <a:spcPts val="0"/>
                        </a:spcAft>
                      </a:pPr>
                      <a:r>
                        <a:rPr lang="x-none" sz="1800" b="1" kern="100">
                          <a:solidFill>
                            <a:schemeClr val="bg1">
                              <a:lumMod val="50000"/>
                            </a:schemeClr>
                          </a:solidFill>
                          <a:latin typeface="微软雅黑" pitchFamily="34" charset="-122"/>
                          <a:ea typeface="微软雅黑" pitchFamily="34" charset="-122"/>
                        </a:rPr>
                        <a:t>说明</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68011">
                <a:tc>
                  <a:txBody>
                    <a:bodyPr/>
                    <a:lstStyle/>
                    <a:p>
                      <a:pPr indent="266700" algn="ctr">
                        <a:spcAft>
                          <a:spcPts val="0"/>
                        </a:spcAft>
                      </a:pPr>
                      <a:r>
                        <a:rPr lang="x-none" sz="1800" kern="100">
                          <a:solidFill>
                            <a:schemeClr val="bg1">
                              <a:lumMod val="50000"/>
                            </a:schemeClr>
                          </a:solidFill>
                          <a:latin typeface="微软雅黑" pitchFamily="34" charset="-122"/>
                          <a:ea typeface="微软雅黑" pitchFamily="34" charset="-122"/>
                        </a:rPr>
                        <a:t>ios::in</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1800" kern="100">
                          <a:solidFill>
                            <a:schemeClr val="bg1">
                              <a:lumMod val="50000"/>
                            </a:schemeClr>
                          </a:solidFill>
                          <a:latin typeface="微软雅黑" pitchFamily="34" charset="-122"/>
                          <a:ea typeface="微软雅黑" pitchFamily="34" charset="-122"/>
                        </a:rPr>
                        <a:t>以只读模式打开文件，若文件不存在，则发生错误。</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6023">
                <a:tc>
                  <a:txBody>
                    <a:bodyPr/>
                    <a:lstStyle/>
                    <a:p>
                      <a:pPr indent="266700" algn="ctr">
                        <a:spcAft>
                          <a:spcPts val="0"/>
                        </a:spcAft>
                      </a:pPr>
                      <a:r>
                        <a:rPr lang="x-none" sz="1800" kern="100">
                          <a:solidFill>
                            <a:schemeClr val="bg1">
                              <a:lumMod val="50000"/>
                            </a:schemeClr>
                          </a:solidFill>
                          <a:latin typeface="微软雅黑" pitchFamily="34" charset="-122"/>
                          <a:ea typeface="微软雅黑" pitchFamily="34" charset="-122"/>
                        </a:rPr>
                        <a:t>ios::out</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1800" kern="100" dirty="0">
                          <a:solidFill>
                            <a:schemeClr val="bg1">
                              <a:lumMod val="50000"/>
                            </a:schemeClr>
                          </a:solidFill>
                          <a:latin typeface="微软雅黑" pitchFamily="34" charset="-122"/>
                          <a:ea typeface="微软雅黑" pitchFamily="34" charset="-122"/>
                        </a:rPr>
                        <a:t>以只写模式打开文件，写入时覆盖写入；若文件不存在，则创建一个新文件。</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6023">
                <a:tc>
                  <a:txBody>
                    <a:bodyPr/>
                    <a:lstStyle/>
                    <a:p>
                      <a:pPr indent="266700" algn="ctr">
                        <a:spcAft>
                          <a:spcPts val="0"/>
                        </a:spcAft>
                      </a:pPr>
                      <a:r>
                        <a:rPr lang="x-none" sz="1800" kern="100">
                          <a:solidFill>
                            <a:schemeClr val="bg1">
                              <a:lumMod val="50000"/>
                            </a:schemeClr>
                          </a:solidFill>
                          <a:latin typeface="微软雅黑" pitchFamily="34" charset="-122"/>
                          <a:ea typeface="微软雅黑" pitchFamily="34" charset="-122"/>
                        </a:rPr>
                        <a:t>ios::app</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1800" kern="100" dirty="0">
                          <a:solidFill>
                            <a:schemeClr val="bg1">
                              <a:lumMod val="50000"/>
                            </a:schemeClr>
                          </a:solidFill>
                          <a:latin typeface="微软雅黑" pitchFamily="34" charset="-122"/>
                          <a:ea typeface="微软雅黑" pitchFamily="34" charset="-122"/>
                        </a:rPr>
                        <a:t>以追加模式打开文件，若文件不存在，则创建一个新文件。</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36023">
                <a:tc>
                  <a:txBody>
                    <a:bodyPr/>
                    <a:lstStyle/>
                    <a:p>
                      <a:pPr indent="266700" algn="ctr">
                        <a:spcAft>
                          <a:spcPts val="0"/>
                        </a:spcAft>
                      </a:pPr>
                      <a:r>
                        <a:rPr lang="x-none" sz="1800" kern="100">
                          <a:solidFill>
                            <a:schemeClr val="bg1">
                              <a:lumMod val="50000"/>
                            </a:schemeClr>
                          </a:solidFill>
                          <a:latin typeface="微软雅黑" pitchFamily="34" charset="-122"/>
                          <a:ea typeface="微软雅黑" pitchFamily="34" charset="-122"/>
                        </a:rPr>
                        <a:t>ios::ate</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x-none" sz="1800" kern="100">
                          <a:solidFill>
                            <a:schemeClr val="bg1">
                              <a:lumMod val="50000"/>
                            </a:schemeClr>
                          </a:solidFill>
                          <a:latin typeface="微软雅黑" pitchFamily="34" charset="-122"/>
                          <a:ea typeface="微软雅黑" pitchFamily="34" charset="-122"/>
                        </a:rPr>
                        <a:t>打开一</a:t>
                      </a:r>
                      <a:r>
                        <a:rPr lang="zh-CN" sz="1800" kern="100">
                          <a:solidFill>
                            <a:schemeClr val="bg1">
                              <a:lumMod val="50000"/>
                            </a:schemeClr>
                          </a:solidFill>
                          <a:latin typeface="微软雅黑" pitchFamily="34" charset="-122"/>
                          <a:ea typeface="微软雅黑" pitchFamily="34" charset="-122"/>
                        </a:rPr>
                        <a:t>个已存在文件，并将文件位置指针移动到文件末尾。</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36023">
                <a:tc>
                  <a:txBody>
                    <a:bodyPr/>
                    <a:lstStyle/>
                    <a:p>
                      <a:pPr indent="266700" algn="ctr">
                        <a:spcAft>
                          <a:spcPts val="0"/>
                        </a:spcAft>
                      </a:pPr>
                      <a:r>
                        <a:rPr lang="x-none" sz="1800" kern="100">
                          <a:solidFill>
                            <a:schemeClr val="bg1">
                              <a:lumMod val="50000"/>
                            </a:schemeClr>
                          </a:solidFill>
                          <a:latin typeface="微软雅黑" pitchFamily="34" charset="-122"/>
                          <a:ea typeface="微软雅黑" pitchFamily="34" charset="-122"/>
                        </a:rPr>
                        <a:t>ios::trunc</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tabLst>
                          <a:tab pos="491490" algn="l"/>
                        </a:tabLst>
                      </a:pPr>
                      <a:r>
                        <a:rPr lang="zh-CN" sz="1800" kern="100">
                          <a:solidFill>
                            <a:schemeClr val="bg1">
                              <a:lumMod val="50000"/>
                            </a:schemeClr>
                          </a:solidFill>
                          <a:latin typeface="微软雅黑" pitchFamily="34" charset="-122"/>
                          <a:ea typeface="微软雅黑" pitchFamily="34" charset="-122"/>
                        </a:rPr>
                        <a:t>打开一个文件，将文件内容删除。若文件不存在，则创建一个新文件。</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68011">
                <a:tc>
                  <a:txBody>
                    <a:bodyPr/>
                    <a:lstStyle/>
                    <a:p>
                      <a:pPr indent="266700" algn="ctr">
                        <a:spcAft>
                          <a:spcPts val="0"/>
                        </a:spcAft>
                      </a:pPr>
                      <a:r>
                        <a:rPr lang="x-none" sz="1800" kern="100">
                          <a:solidFill>
                            <a:schemeClr val="bg1">
                              <a:lumMod val="50000"/>
                            </a:schemeClr>
                          </a:solidFill>
                          <a:latin typeface="微软雅黑" pitchFamily="34" charset="-122"/>
                          <a:ea typeface="微软雅黑" pitchFamily="34" charset="-122"/>
                        </a:rPr>
                        <a:t>ios::binary</a:t>
                      </a:r>
                      <a:endParaRPr lang="zh-CN" sz="1800" kern="100">
                        <a:solidFill>
                          <a:schemeClr val="bg1">
                            <a:lumMod val="50000"/>
                          </a:schemeClr>
                        </a:solidFill>
                        <a:latin typeface="微软雅黑" pitchFamily="34" charset="-122"/>
                        <a:ea typeface="微软雅黑"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266700" algn="just">
                        <a:spcAft>
                          <a:spcPts val="0"/>
                        </a:spcAft>
                      </a:pPr>
                      <a:r>
                        <a:rPr lang="x-none" sz="1800" kern="100" dirty="0">
                          <a:solidFill>
                            <a:schemeClr val="bg1">
                              <a:lumMod val="50000"/>
                            </a:schemeClr>
                          </a:solidFill>
                          <a:latin typeface="微软雅黑" pitchFamily="34" charset="-122"/>
                          <a:ea typeface="微软雅黑" pitchFamily="34" charset="-122"/>
                        </a:rPr>
                        <a:t>以二进制方式打开文件</a:t>
                      </a:r>
                      <a:r>
                        <a:rPr lang="zh-CN" sz="1800" kern="100" dirty="0">
                          <a:solidFill>
                            <a:schemeClr val="bg1">
                              <a:lumMod val="50000"/>
                            </a:schemeClr>
                          </a:solidFill>
                          <a:latin typeface="微软雅黑" pitchFamily="34" charset="-122"/>
                          <a:ea typeface="微软雅黑" pitchFamily="34" charset="-122"/>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8.3.2 </a:t>
            </a:r>
            <a:r>
              <a:rPr lang="zh-CN" altLang="en-US" sz="3200" b="1" dirty="0" smtClean="0">
                <a:solidFill>
                  <a:srgbClr val="1353A2"/>
                </a:solidFill>
                <a:latin typeface="微软雅黑" pitchFamily="34" charset="-122"/>
                <a:ea typeface="微软雅黑" pitchFamily="34" charset="-122"/>
              </a:rPr>
              <a:t>文件的打开与关闭</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657350" y="2266950"/>
            <a:ext cx="9429750" cy="17716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文件打开模式可以通过位或运算符“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”组合使用，示例代码如下所示：</a:t>
            </a: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ofstream ofs;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//创建文件流对象</a:t>
            </a:r>
            <a:endParaRPr lang="en-US"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rgbClr val="00B0F0"/>
                </a:solidFill>
                <a:latin typeface="微软雅黑" pitchFamily="34" charset="-122"/>
                <a:ea typeface="微软雅黑" pitchFamily="34" charset="-122"/>
                <a:cs typeface="Times New Roman" pitchFamily="18" charset="0"/>
              </a:rPr>
              <a:t>ofs.open("Hello.txt", ios::in|ios::out|ios::binary);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//组合使用</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8.3.2 </a:t>
            </a:r>
            <a:r>
              <a:rPr lang="zh-CN" altLang="en-US" sz="3200" b="1" dirty="0" smtClean="0">
                <a:solidFill>
                  <a:srgbClr val="1353A2"/>
                </a:solidFill>
                <a:latin typeface="微软雅黑" pitchFamily="34" charset="-122"/>
                <a:ea typeface="微软雅黑" pitchFamily="34" charset="-122"/>
              </a:rPr>
              <a:t>文件的打开与关闭</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内容占位符 2"/>
          <p:cNvSpPr txBox="1">
            <a:spLocks/>
          </p:cNvSpPr>
          <p:nvPr/>
        </p:nvSpPr>
        <p:spPr>
          <a:xfrm>
            <a:off x="1485900" y="1390649"/>
            <a:ext cx="9953625" cy="40862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关闭文件</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文件使用完毕之后，要关闭文件，关闭文件就是解除文件与文件流的关联，释放缓冲区和其他资源的过程。</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类都提供了成员函数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close()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用于关闭文件，其声明如下所示：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void close();</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close()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函数没有参数和返回值，其用法也很简单，直接通过文件流对象调用就可以关闭文件。</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8.3.2 </a:t>
            </a:r>
            <a:r>
              <a:rPr lang="zh-CN" altLang="en-US" sz="3200" b="1" dirty="0" smtClean="0">
                <a:solidFill>
                  <a:srgbClr val="1353A2"/>
                </a:solidFill>
                <a:latin typeface="微软雅黑" pitchFamily="34" charset="-122"/>
                <a:ea typeface="微软雅黑" pitchFamily="34" charset="-122"/>
              </a:rPr>
              <a:t>文件的打开与关闭</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743075" y="1514474"/>
            <a:ext cx="9629775" cy="4709043"/>
            <a:chOff x="1581150" y="1524000"/>
            <a:chExt cx="9629775" cy="4476750"/>
          </a:xfrm>
        </p:grpSpPr>
        <p:pic>
          <p:nvPicPr>
            <p:cNvPr id="228354" name="Picture 2"/>
            <p:cNvPicPr>
              <a:picLocks noChangeAspect="1" noChangeArrowheads="1"/>
            </p:cNvPicPr>
            <p:nvPr/>
          </p:nvPicPr>
          <p:blipFill>
            <a:blip r:embed="rId4" cstate="print"/>
            <a:srcRect/>
            <a:stretch>
              <a:fillRect/>
            </a:stretch>
          </p:blipFill>
          <p:spPr bwMode="auto">
            <a:xfrm>
              <a:off x="1581150" y="1524000"/>
              <a:ext cx="9629775" cy="4476750"/>
            </a:xfrm>
            <a:prstGeom prst="rect">
              <a:avLst/>
            </a:prstGeom>
            <a:noFill/>
            <a:ln w="9525">
              <a:noFill/>
              <a:miter lim="800000"/>
              <a:headEnd/>
              <a:tailEnd/>
            </a:ln>
          </p:spPr>
        </p:pic>
        <p:sp>
          <p:nvSpPr>
            <p:cNvPr id="6" name="内容占位符 2"/>
            <p:cNvSpPr txBox="1">
              <a:spLocks/>
            </p:cNvSpPr>
            <p:nvPr/>
          </p:nvSpPr>
          <p:spPr>
            <a:xfrm>
              <a:off x="2343151" y="1583766"/>
              <a:ext cx="8382000" cy="40862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8-3    open_close.cpp</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main(){</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ifs;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创建输入流对象</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a:t>
              </a:r>
              <a:r>
                <a:rPr lang="en-US" altLang="zh-CN" sz="1800" dirty="0" err="1" smtClean="0">
                  <a:solidFill>
                    <a:srgbClr val="00B0F0"/>
                  </a:solidFill>
                  <a:latin typeface="微软雅黑" pitchFamily="34" charset="-122"/>
                  <a:ea typeface="微软雅黑" pitchFamily="34" charset="-122"/>
                  <a:cs typeface="Times New Roman" pitchFamily="18" charset="0"/>
                </a:rPr>
                <a:t>open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("hello.txt",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::in);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以只读方式打开</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hello.txt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(!ifs)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判断文件打开是否成功</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else</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文件打开成功</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a:t>
              </a:r>
              <a:r>
                <a:rPr lang="en-US" altLang="zh-CN" sz="1800" dirty="0" err="1" smtClean="0">
                  <a:solidFill>
                    <a:srgbClr val="00B0F0"/>
                  </a:solidFill>
                  <a:latin typeface="微软雅黑" pitchFamily="34" charset="-122"/>
                  <a:ea typeface="微软雅黑" pitchFamily="34" charset="-122"/>
                  <a:cs typeface="Times New Roman" pitchFamily="18" charset="0"/>
                </a:rPr>
                <a:t>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2590801" y="2171700"/>
            <a:ext cx="7810500" cy="183832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对文本文件的读写，</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提供了两种读写方式：</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1</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使用提取运算符“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”和插入运算符“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”读写</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2</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调用文件流类的成员函数进行读写。</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447800" y="1352550"/>
            <a:ext cx="10067924" cy="45339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使用提取运算符“</a:t>
            </a:r>
            <a:r>
              <a:rPr lang="en-US" altLang="zh-CN" sz="2400" dirty="0" smtClean="0">
                <a:solidFill>
                  <a:srgbClr val="FF0000"/>
                </a:solidFill>
                <a:latin typeface="微软雅黑" pitchFamily="34" charset="-122"/>
                <a:ea typeface="微软雅黑" pitchFamily="34" charset="-122"/>
                <a:cs typeface="Times New Roman" pitchFamily="18" charset="0"/>
              </a:rPr>
              <a:t>&gt;&gt;</a:t>
            </a:r>
            <a:r>
              <a:rPr lang="zh-CN" altLang="zh-CN" sz="2400" dirty="0" smtClean="0">
                <a:solidFill>
                  <a:srgbClr val="FF0000"/>
                </a:solidFill>
                <a:latin typeface="微软雅黑" pitchFamily="34" charset="-122"/>
                <a:ea typeface="微软雅黑" pitchFamily="34" charset="-122"/>
                <a:cs typeface="Times New Roman" pitchFamily="18" charset="0"/>
              </a:rPr>
              <a:t>”和插入运算符“</a:t>
            </a:r>
            <a:r>
              <a:rPr lang="en-US" altLang="zh-CN" sz="2400" dirty="0" smtClean="0">
                <a:solidFill>
                  <a:srgbClr val="FF0000"/>
                </a:solidFill>
                <a:latin typeface="微软雅黑" pitchFamily="34" charset="-122"/>
                <a:ea typeface="微软雅黑" pitchFamily="34" charset="-122"/>
                <a:cs typeface="Times New Roman" pitchFamily="18" charset="0"/>
              </a:rPr>
              <a:t>&lt;&lt;</a:t>
            </a:r>
            <a:r>
              <a:rPr lang="zh-CN" altLang="zh-CN" sz="2400" dirty="0" smtClean="0">
                <a:solidFill>
                  <a:srgbClr val="FF0000"/>
                </a:solidFill>
                <a:latin typeface="微软雅黑" pitchFamily="34" charset="-122"/>
                <a:ea typeface="微软雅黑" pitchFamily="34" charset="-122"/>
                <a:cs typeface="Times New Roman" pitchFamily="18" charset="0"/>
              </a:rPr>
              <a:t>”读写文件</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类重载了运算符“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类继承了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类，也继承了 “</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类重载了运算符“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继承了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类，也继承了“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类共同派生了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类又继承自</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 因此</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类同时继承了“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文件流对象也可以使用运算符“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”传输数据，实现文件读写。</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2143125" y="1145716"/>
            <a:ext cx="8820150" cy="5432361"/>
            <a:chOff x="2143125" y="1276349"/>
            <a:chExt cx="8820150" cy="5432361"/>
          </a:xfrm>
        </p:grpSpPr>
        <p:pic>
          <p:nvPicPr>
            <p:cNvPr id="229378" name="Picture 2"/>
            <p:cNvPicPr>
              <a:picLocks noChangeAspect="1" noChangeArrowheads="1"/>
            </p:cNvPicPr>
            <p:nvPr/>
          </p:nvPicPr>
          <p:blipFill>
            <a:blip r:embed="rId4" cstate="print"/>
            <a:srcRect/>
            <a:stretch>
              <a:fillRect/>
            </a:stretch>
          </p:blipFill>
          <p:spPr bwMode="auto">
            <a:xfrm>
              <a:off x="2143125" y="1314450"/>
              <a:ext cx="8820150" cy="5394260"/>
            </a:xfrm>
            <a:prstGeom prst="rect">
              <a:avLst/>
            </a:prstGeom>
            <a:noFill/>
            <a:ln w="9525">
              <a:noFill/>
              <a:miter lim="800000"/>
              <a:headEnd/>
              <a:tailEnd/>
            </a:ln>
          </p:spPr>
        </p:pic>
        <p:sp>
          <p:nvSpPr>
            <p:cNvPr id="8" name="内容占位符 2"/>
            <p:cNvSpPr txBox="1">
              <a:spLocks/>
            </p:cNvSpPr>
            <p:nvPr/>
          </p:nvSpPr>
          <p:spPr>
            <a:xfrm>
              <a:off x="2562225" y="1276349"/>
              <a:ext cx="8172450" cy="50577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8-4     operator.cpp</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main(){</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创建文件流对象，并以只写模式打开</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hello.txt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hello.txt",ios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::out);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判断文件打开是否成功</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写文件时，文件打开失败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请输入要写入文件的数据：</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[1024]={0};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定义数据</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&gt;&gt;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从键盘输入数据存储到</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数组</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将</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数组中数据写入文件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文件写入成功</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533524" y="1343024"/>
            <a:ext cx="10134601" cy="4762501"/>
            <a:chOff x="1533524" y="1343024"/>
            <a:chExt cx="10134601" cy="4762501"/>
          </a:xfrm>
        </p:grpSpPr>
        <p:pic>
          <p:nvPicPr>
            <p:cNvPr id="230402" name="Picture 2"/>
            <p:cNvPicPr>
              <a:picLocks noChangeAspect="1" noChangeArrowheads="1"/>
            </p:cNvPicPr>
            <p:nvPr/>
          </p:nvPicPr>
          <p:blipFill>
            <a:blip r:embed="rId4" cstate="print"/>
            <a:srcRect/>
            <a:stretch>
              <a:fillRect/>
            </a:stretch>
          </p:blipFill>
          <p:spPr bwMode="auto">
            <a:xfrm>
              <a:off x="1990725" y="1343025"/>
              <a:ext cx="9677400" cy="4762500"/>
            </a:xfrm>
            <a:prstGeom prst="rect">
              <a:avLst/>
            </a:prstGeom>
            <a:noFill/>
            <a:ln w="9525">
              <a:noFill/>
              <a:miter lim="800000"/>
              <a:headEnd/>
              <a:tailEnd/>
            </a:ln>
          </p:spPr>
        </p:pic>
        <p:sp>
          <p:nvSpPr>
            <p:cNvPr id="8" name="内容占位符 2"/>
            <p:cNvSpPr txBox="1">
              <a:spLocks/>
            </p:cNvSpPr>
            <p:nvPr/>
          </p:nvSpPr>
          <p:spPr>
            <a:xfrm>
              <a:off x="1533524" y="1343024"/>
              <a:ext cx="10067925" cy="474345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ifs("</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hello.txt",ios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::in);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创建文件流对象，并以只读模式打开</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hello.txt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(!ifs){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判断文件是否打开成功</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读文件时，文件打开失败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[1024]={0};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定义数组</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ifs&gt;&gt;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将文件内容读入到</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文件读取成功，内容如下：</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输出</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数组中的数据</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752600" y="1466850"/>
            <a:ext cx="9639300" cy="42100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上述代码首先定义了输出流对象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，以写入模式打开当前目录下的</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hello.txt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文件，并定义了字符数组</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通过预定义流对象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cin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从键盘输入数据存储到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数组中</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，再</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使用对象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数组中的数据写入到文件中</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，写入完成后，</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close()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函数关闭文件。</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写入完成后，又定义了输入流对象</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，以读取模式打开</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hello.txt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，并定义了字符数组</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，通过</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对象将文件中内容读取到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对象中，最后关闭文件。</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5591175" y="1657350"/>
            <a:ext cx="5705475" cy="37147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调用文件流类的成员函数读写文件</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类通过继承，继承了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类的成员函数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函数，通过调用这些成员函数，文件流对象也可以完成文件读写。</a:t>
            </a:r>
          </a:p>
        </p:txBody>
      </p:sp>
      <p:pic>
        <p:nvPicPr>
          <p:cNvPr id="256002" name="Picture 2"/>
          <p:cNvPicPr>
            <a:picLocks noChangeAspect="1" noChangeArrowheads="1"/>
          </p:cNvPicPr>
          <p:nvPr/>
        </p:nvPicPr>
        <p:blipFill>
          <a:blip r:embed="rId4" cstate="print"/>
          <a:srcRect/>
          <a:stretch>
            <a:fillRect/>
          </a:stretch>
        </p:blipFill>
        <p:spPr bwMode="auto">
          <a:xfrm>
            <a:off x="1616080" y="1347789"/>
            <a:ext cx="3564241" cy="442436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56002"/>
                                        </p:tgtEl>
                                        <p:attrNameLst>
                                          <p:attrName>style.visibility</p:attrName>
                                        </p:attrNameLst>
                                      </p:cBhvr>
                                      <p:to>
                                        <p:strVal val="visible"/>
                                      </p:to>
                                    </p:set>
                                    <p:animEffect transition="in" filter="randombar(horizontal)">
                                      <p:cBhvr>
                                        <p:cTn id="7" dur="500"/>
                                        <p:tgtEl>
                                          <p:spTgt spid="25600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9" name="组合 8"/>
          <p:cNvGrpSpPr/>
          <p:nvPr/>
        </p:nvGrpSpPr>
        <p:grpSpPr>
          <a:xfrm>
            <a:off x="1190625" y="1428750"/>
            <a:ext cx="10401300" cy="4794767"/>
            <a:chOff x="1190625" y="1428750"/>
            <a:chExt cx="10401300" cy="4794767"/>
          </a:xfrm>
        </p:grpSpPr>
        <p:pic>
          <p:nvPicPr>
            <p:cNvPr id="257026" name="Picture 2"/>
            <p:cNvPicPr>
              <a:picLocks noChangeAspect="1" noChangeArrowheads="1"/>
            </p:cNvPicPr>
            <p:nvPr/>
          </p:nvPicPr>
          <p:blipFill>
            <a:blip r:embed="rId4" cstate="print"/>
            <a:srcRect/>
            <a:stretch>
              <a:fillRect/>
            </a:stretch>
          </p:blipFill>
          <p:spPr bwMode="auto">
            <a:xfrm>
              <a:off x="1190625" y="1428750"/>
              <a:ext cx="10401300" cy="4794767"/>
            </a:xfrm>
            <a:prstGeom prst="rect">
              <a:avLst/>
            </a:prstGeom>
            <a:noFill/>
            <a:ln w="9525">
              <a:noFill/>
              <a:miter lim="800000"/>
              <a:headEnd/>
              <a:tailEnd/>
            </a:ln>
          </p:spPr>
        </p:pic>
        <p:sp>
          <p:nvSpPr>
            <p:cNvPr id="8" name="内容占位符 2"/>
            <p:cNvSpPr txBox="1">
              <a:spLocks/>
            </p:cNvSpPr>
            <p:nvPr/>
          </p:nvSpPr>
          <p:spPr>
            <a:xfrm>
              <a:off x="1438275" y="1485899"/>
              <a:ext cx="10058400" cy="43338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8-5    memfunc.cpp</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main(){</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hello.txt",ios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::out);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创建文件流对象，并以只写模式打开</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hello.txt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判断文件打开是否成功</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写文件时，文件打开失败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将</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26</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个字母写入文件</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ch1='a';</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for(</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=0;i&lt;26;i++){    </a:t>
              </a:r>
              <a:r>
                <a:rPr lang="en-US" altLang="zh-CN" sz="1800" dirty="0" err="1" smtClean="0">
                  <a:solidFill>
                    <a:srgbClr val="FF0000"/>
                  </a:solidFill>
                  <a:latin typeface="微软雅黑" pitchFamily="34" charset="-122"/>
                  <a:ea typeface="微软雅黑" pitchFamily="34" charset="-122"/>
                  <a:cs typeface="Times New Roman" pitchFamily="18" charset="0"/>
                </a:rPr>
                <a:t>ofs.put</a:t>
              </a:r>
              <a:r>
                <a:rPr lang="en-US" altLang="zh-CN" sz="1800" dirty="0" smtClean="0">
                  <a:solidFill>
                    <a:srgbClr val="FF0000"/>
                  </a:solidFill>
                  <a:latin typeface="微软雅黑" pitchFamily="34" charset="-122"/>
                  <a:ea typeface="微软雅黑" pitchFamily="34" charset="-122"/>
                  <a:cs typeface="Times New Roman" pitchFamily="18" charset="0"/>
                </a:rPr>
                <a:t>(ch1+i);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put()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函数将字母写入文件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文件写入成功</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8.3.3 </a:t>
            </a:r>
            <a:r>
              <a:rPr lang="zh-CN" altLang="en-US" sz="3200" b="1" dirty="0" smtClean="0">
                <a:solidFill>
                  <a:srgbClr val="1353A2"/>
                </a:solidFill>
                <a:latin typeface="微软雅黑" pitchFamily="34" charset="-122"/>
                <a:ea typeface="微软雅黑" pitchFamily="34" charset="-122"/>
              </a:rPr>
              <a:t>文本文件的读写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114425" y="1314449"/>
            <a:ext cx="10277475" cy="5029200"/>
            <a:chOff x="1533525" y="1314449"/>
            <a:chExt cx="10277475" cy="5029200"/>
          </a:xfrm>
        </p:grpSpPr>
        <p:pic>
          <p:nvPicPr>
            <p:cNvPr id="258050" name="Picture 2"/>
            <p:cNvPicPr>
              <a:picLocks noChangeAspect="1" noChangeArrowheads="1"/>
            </p:cNvPicPr>
            <p:nvPr/>
          </p:nvPicPr>
          <p:blipFill>
            <a:blip r:embed="rId4" cstate="print"/>
            <a:srcRect/>
            <a:stretch>
              <a:fillRect/>
            </a:stretch>
          </p:blipFill>
          <p:spPr bwMode="auto">
            <a:xfrm>
              <a:off x="1838325" y="1314450"/>
              <a:ext cx="9972675" cy="5029199"/>
            </a:xfrm>
            <a:prstGeom prst="rect">
              <a:avLst/>
            </a:prstGeom>
            <a:noFill/>
            <a:ln w="9525">
              <a:noFill/>
              <a:miter lim="800000"/>
              <a:headEnd/>
              <a:tailEnd/>
            </a:ln>
          </p:spPr>
        </p:pic>
        <p:sp>
          <p:nvSpPr>
            <p:cNvPr id="8" name="内容占位符 2"/>
            <p:cNvSpPr txBox="1">
              <a:spLocks/>
            </p:cNvSpPr>
            <p:nvPr/>
          </p:nvSpPr>
          <p:spPr>
            <a:xfrm>
              <a:off x="1533525" y="1314449"/>
              <a:ext cx="10058400" cy="50196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ifs("</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hello.txt",ios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::in);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创建文件流对象，并以只读模式打开</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hello.txt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(!ifs){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判断文件是否打开成功</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读文件时，文件打开失败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文件读取成功，内容如下：</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ch2;</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ifs.get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(ch2);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get()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函数将字母读取到</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ch2</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变量中</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while (!ifs.eof()){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循环读取剩余字母</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&lt;&lt;ch2;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输出</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ch2</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的值</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ifs.get</a:t>
              </a:r>
              <a:r>
                <a:rPr lang="en-US" altLang="zh-CN" sz="1800" dirty="0" smtClean="0">
                  <a:solidFill>
                    <a:srgbClr val="FF0000"/>
                  </a:solidFill>
                  <a:latin typeface="微软雅黑" pitchFamily="34" charset="-122"/>
                  <a:ea typeface="微软雅黑" pitchFamily="34" charset="-122"/>
                  <a:cs typeface="Times New Roman" pitchFamily="18" charset="0"/>
                </a:rPr>
                <a:t>(ch2);</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2667001" y="1895475"/>
            <a:ext cx="8058149" cy="27527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1</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eof()函数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eof()函数用于检测文件是否到达末尾，其声明如下所示：</a:t>
            </a:r>
            <a:endParaRPr lang="zh-CN" altLang="zh-CN" sz="24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bool eof() const;</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在读文件时，如果文件到达末尾，eof()函数会返回true。</a:t>
            </a:r>
            <a:endParaRPr lang="zh-CN" altLang="zh-CN" sz="2400" dirty="0" smtClean="0">
              <a:solidFill>
                <a:schemeClr val="bg1">
                  <a:lumMod val="50000"/>
                </a:schemeClr>
              </a:solidFill>
              <a:latin typeface="楷体" pitchFamily="49" charset="-122"/>
              <a:ea typeface="楷体" pitchFamily="49"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847851" y="1543050"/>
            <a:ext cx="9696450" cy="36861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2</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bad()函数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bad()函数用于检测</a:t>
            </a:r>
            <a:r>
              <a:rPr lang="zh-CN" altLang="zh-CN" sz="2400" dirty="0" smtClean="0">
                <a:solidFill>
                  <a:schemeClr val="bg1">
                    <a:lumMod val="50000"/>
                  </a:schemeClr>
                </a:solidFill>
                <a:latin typeface="楷体" pitchFamily="49" charset="-122"/>
                <a:ea typeface="楷体" pitchFamily="49" charset="-122"/>
                <a:cs typeface="Times New Roman" pitchFamily="18" charset="0"/>
              </a:rPr>
              <a:t>文件</a:t>
            </a:r>
            <a:r>
              <a:rPr lang="x-none" altLang="zh-CN" sz="2400" dirty="0" smtClean="0">
                <a:solidFill>
                  <a:schemeClr val="bg1">
                    <a:lumMod val="50000"/>
                  </a:schemeClr>
                </a:solidFill>
                <a:latin typeface="楷体" pitchFamily="49" charset="-122"/>
                <a:ea typeface="楷体" pitchFamily="49" charset="-122"/>
                <a:cs typeface="Times New Roman" pitchFamily="18" charset="0"/>
              </a:rPr>
              <a:t>在读写过程中是否出错，其函数声明如下所示：</a:t>
            </a:r>
            <a:endParaRPr lang="zh-CN" altLang="zh-CN" sz="24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bool bad() const;</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如果文件读写出错，</a:t>
            </a:r>
            <a:r>
              <a:rPr lang="en-US" altLang="zh-CN" sz="2400" dirty="0" smtClean="0">
                <a:solidFill>
                  <a:schemeClr val="bg1">
                    <a:lumMod val="50000"/>
                  </a:schemeClr>
                </a:solidFill>
                <a:latin typeface="楷体" pitchFamily="49" charset="-122"/>
                <a:ea typeface="楷体" pitchFamily="49" charset="-122"/>
                <a:cs typeface="Times New Roman" pitchFamily="18" charset="0"/>
              </a:rPr>
              <a:t>bad()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函数会返回</a:t>
            </a:r>
            <a:r>
              <a:rPr lang="en-US" altLang="zh-CN" sz="2400" dirty="0" smtClean="0">
                <a:solidFill>
                  <a:schemeClr val="bg1">
                    <a:lumMod val="50000"/>
                  </a:schemeClr>
                </a:solidFill>
                <a:latin typeface="楷体" pitchFamily="49" charset="-122"/>
                <a:ea typeface="楷体" pitchFamily="49" charset="-122"/>
                <a:cs typeface="Times New Roman" pitchFamily="18" charset="0"/>
              </a:rPr>
              <a:t>true</a:t>
            </a:r>
            <a:r>
              <a:rPr lang="zh-CN" altLang="zh-CN" sz="2400" dirty="0" smtClean="0">
                <a:solidFill>
                  <a:schemeClr val="bg1">
                    <a:lumMod val="50000"/>
                  </a:schemeClr>
                </a:solidFill>
                <a:latin typeface="楷体" pitchFamily="49" charset="-122"/>
                <a:ea typeface="楷体" pitchFamily="49" charset="-122"/>
                <a:cs typeface="Times New Roman" pitchFamily="18" charset="0"/>
              </a:rPr>
              <a:t>。例如，对一个打开模式为</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ios</a:t>
            </a:r>
            <a:r>
              <a:rPr lang="en-US" altLang="zh-CN" sz="2400" dirty="0" smtClean="0">
                <a:solidFill>
                  <a:schemeClr val="bg1">
                    <a:lumMod val="50000"/>
                  </a:schemeClr>
                </a:solidFill>
                <a:latin typeface="楷体" pitchFamily="49" charset="-122"/>
                <a:ea typeface="楷体" pitchFamily="49" charset="-122"/>
                <a:cs typeface="Times New Roman" pitchFamily="18" charset="0"/>
              </a:rPr>
              <a:t>::in</a:t>
            </a:r>
            <a:r>
              <a:rPr lang="zh-CN" altLang="zh-CN" sz="2400" dirty="0" smtClean="0">
                <a:solidFill>
                  <a:schemeClr val="bg1">
                    <a:lumMod val="50000"/>
                  </a:schemeClr>
                </a:solidFill>
                <a:latin typeface="楷体" pitchFamily="49" charset="-122"/>
                <a:ea typeface="楷体" pitchFamily="49" charset="-122"/>
                <a:cs typeface="Times New Roman" pitchFamily="18" charset="0"/>
              </a:rPr>
              <a:t>的文件进行写入操作，或者写入的设备没有足够空间，调用</a:t>
            </a:r>
            <a:r>
              <a:rPr lang="en-US" altLang="zh-CN" sz="2400" dirty="0" smtClean="0">
                <a:solidFill>
                  <a:schemeClr val="bg1">
                    <a:lumMod val="50000"/>
                  </a:schemeClr>
                </a:solidFill>
                <a:latin typeface="楷体" pitchFamily="49" charset="-122"/>
                <a:ea typeface="楷体" pitchFamily="49" charset="-122"/>
                <a:cs typeface="Times New Roman" pitchFamily="18" charset="0"/>
              </a:rPr>
              <a:t>bad()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函数会返回</a:t>
            </a:r>
            <a:r>
              <a:rPr lang="en-US" altLang="zh-CN" sz="2400" dirty="0" smtClean="0">
                <a:solidFill>
                  <a:schemeClr val="bg1">
                    <a:lumMod val="50000"/>
                  </a:schemeClr>
                </a:solidFill>
                <a:latin typeface="楷体" pitchFamily="49" charset="-122"/>
                <a:ea typeface="楷体" pitchFamily="49" charset="-122"/>
                <a:cs typeface="Times New Roman" pitchFamily="18" charset="0"/>
              </a:rPr>
              <a:t>true</a:t>
            </a:r>
            <a:r>
              <a:rPr lang="zh-CN" altLang="zh-CN" sz="2400" dirty="0" smtClean="0">
                <a:solidFill>
                  <a:schemeClr val="bg1">
                    <a:lumMod val="50000"/>
                  </a:schemeClr>
                </a:solidFill>
                <a:latin typeface="楷体" pitchFamily="49" charset="-122"/>
                <a:ea typeface="楷体" pitchFamily="49" charset="-122"/>
                <a:cs typeface="Times New Roman" pitchFamily="18" charset="0"/>
              </a:rPr>
              <a:t>。</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676400" y="1800225"/>
            <a:ext cx="9753599" cy="2809875"/>
            <a:chOff x="1676400" y="1800225"/>
            <a:chExt cx="9753599" cy="2809875"/>
          </a:xfrm>
        </p:grpSpPr>
        <p:pic>
          <p:nvPicPr>
            <p:cNvPr id="259074" name="Picture 2"/>
            <p:cNvPicPr>
              <a:picLocks noChangeAspect="1" noChangeArrowheads="1"/>
            </p:cNvPicPr>
            <p:nvPr/>
          </p:nvPicPr>
          <p:blipFill>
            <a:blip r:embed="rId4" cstate="print"/>
            <a:srcRect/>
            <a:stretch>
              <a:fillRect/>
            </a:stretch>
          </p:blipFill>
          <p:spPr bwMode="auto">
            <a:xfrm>
              <a:off x="1676400" y="1800225"/>
              <a:ext cx="9753599" cy="2809875"/>
            </a:xfrm>
            <a:prstGeom prst="rect">
              <a:avLst/>
            </a:prstGeom>
            <a:noFill/>
            <a:ln w="9525">
              <a:noFill/>
              <a:miter lim="800000"/>
              <a:headEnd/>
              <a:tailEnd/>
            </a:ln>
          </p:spPr>
        </p:pic>
        <p:sp>
          <p:nvSpPr>
            <p:cNvPr id="8" name="内容占位符 2"/>
            <p:cNvSpPr txBox="1">
              <a:spLocks/>
            </p:cNvSpPr>
            <p:nvPr/>
          </p:nvSpPr>
          <p:spPr>
            <a:xfrm>
              <a:off x="2257426" y="2190751"/>
              <a:ext cx="8858249" cy="20954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fstream fs("a.txt",ios::in);	//创建fstream类对象，以只读模式打开a.txt</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fs.put('a');			//向文件中写入字符'a'</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if(fs.bad())			//调用bad()函数检测，写入过程是否出错</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	cout&lt;&lt;"文件写入失败"&lt;&lt;endl;</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809751" y="1524000"/>
            <a:ext cx="9696450" cy="36861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3</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fail()函数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itchFamily="49" charset="-122"/>
                <a:ea typeface="楷体" pitchFamily="49" charset="-122"/>
                <a:cs typeface="Times New Roman" pitchFamily="18" charset="0"/>
              </a:rPr>
              <a:t>fail()</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函数也是用于检测在读写过程中是否出错，其声明如下所示：</a:t>
            </a: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bool fail() const;</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itchFamily="49" charset="-122"/>
                <a:ea typeface="楷体" pitchFamily="49" charset="-122"/>
                <a:cs typeface="Times New Roman" pitchFamily="18" charset="0"/>
              </a:rPr>
              <a:t>fail()</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函数比</a:t>
            </a:r>
            <a:r>
              <a:rPr lang="en-US" altLang="zh-CN" sz="2400" dirty="0" smtClean="0">
                <a:solidFill>
                  <a:schemeClr val="bg1">
                    <a:lumMod val="50000"/>
                  </a:schemeClr>
                </a:solidFill>
                <a:latin typeface="楷体" pitchFamily="49" charset="-122"/>
                <a:ea typeface="楷体" pitchFamily="49" charset="-122"/>
                <a:cs typeface="Times New Roman" pitchFamily="18" charset="0"/>
              </a:rPr>
              <a:t>bad()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函数的检错范围更广泛。文件到达末尾，或者读写过程没有达到预期条件，例如，想要读取一个整数却获得了一个字母时，</a:t>
            </a:r>
            <a:r>
              <a:rPr lang="en-US" altLang="zh-CN" sz="2400" dirty="0" smtClean="0">
                <a:solidFill>
                  <a:schemeClr val="bg1">
                    <a:lumMod val="50000"/>
                  </a:schemeClr>
                </a:solidFill>
                <a:latin typeface="楷体" pitchFamily="49" charset="-122"/>
                <a:ea typeface="楷体" pitchFamily="49" charset="-122"/>
                <a:cs typeface="Times New Roman" pitchFamily="18" charset="0"/>
              </a:rPr>
              <a:t>fail()</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函数都能检测到并返回</a:t>
            </a:r>
            <a:r>
              <a:rPr lang="en-US" altLang="zh-CN" sz="2400" dirty="0" smtClean="0">
                <a:solidFill>
                  <a:schemeClr val="bg1">
                    <a:lumMod val="50000"/>
                  </a:schemeClr>
                </a:solidFill>
                <a:latin typeface="楷体" pitchFamily="49" charset="-122"/>
                <a:ea typeface="楷体" pitchFamily="49" charset="-122"/>
                <a:cs typeface="Times New Roman" pitchFamily="18" charset="0"/>
              </a:rPr>
              <a:t>true</a:t>
            </a:r>
            <a:r>
              <a:rPr lang="zh-CN" altLang="zh-CN" sz="2400" dirty="0" smtClean="0">
                <a:solidFill>
                  <a:schemeClr val="bg1">
                    <a:lumMod val="50000"/>
                  </a:schemeClr>
                </a:solidFill>
                <a:latin typeface="楷体" pitchFamily="49" charset="-122"/>
                <a:ea typeface="楷体" pitchFamily="49" charset="-122"/>
                <a:cs typeface="Times New Roman" pitchFamily="18" charset="0"/>
              </a:rPr>
              <a:t>。</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971675" y="1895475"/>
            <a:ext cx="9344025" cy="2638425"/>
            <a:chOff x="1971675" y="1895475"/>
            <a:chExt cx="9344025" cy="2638425"/>
          </a:xfrm>
        </p:grpSpPr>
        <p:pic>
          <p:nvPicPr>
            <p:cNvPr id="260098" name="Picture 2"/>
            <p:cNvPicPr>
              <a:picLocks noChangeAspect="1" noChangeArrowheads="1"/>
            </p:cNvPicPr>
            <p:nvPr/>
          </p:nvPicPr>
          <p:blipFill>
            <a:blip r:embed="rId4" cstate="print"/>
            <a:srcRect/>
            <a:stretch>
              <a:fillRect/>
            </a:stretch>
          </p:blipFill>
          <p:spPr bwMode="auto">
            <a:xfrm>
              <a:off x="1971675" y="1895475"/>
              <a:ext cx="9344025" cy="2638425"/>
            </a:xfrm>
            <a:prstGeom prst="rect">
              <a:avLst/>
            </a:prstGeom>
            <a:noFill/>
            <a:ln w="9525">
              <a:noFill/>
              <a:miter lim="800000"/>
              <a:headEnd/>
              <a:tailEnd/>
            </a:ln>
          </p:spPr>
        </p:pic>
        <p:sp>
          <p:nvSpPr>
            <p:cNvPr id="8" name="内容占位符 2"/>
            <p:cNvSpPr txBox="1">
              <a:spLocks/>
            </p:cNvSpPr>
            <p:nvPr/>
          </p:nvSpPr>
          <p:spPr>
            <a:xfrm>
              <a:off x="2314576" y="2200276"/>
              <a:ext cx="8886824" cy="20764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fstream fs("a.txt",ios::in);	//创建fstream类对象，以只读模式打开a.txt</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cout&lt;&lt;fs.get()&lt;&lt;endl;	</a:t>
              </a:r>
              <a:r>
                <a:rPr lang="en-US" altLang="zh-CN" sz="2000" dirty="0" smtClean="0">
                  <a:solidFill>
                    <a:schemeClr val="bg1">
                      <a:lumMod val="50000"/>
                    </a:schemeClr>
                  </a:solidFill>
                  <a:latin typeface="楷体" pitchFamily="49" charset="-122"/>
                  <a:ea typeface="楷体" pitchFamily="49" charset="-122"/>
                  <a:cs typeface="Times New Roman" pitchFamily="18" charset="0"/>
                </a:rPr>
                <a:t>	</a:t>
              </a:r>
              <a:r>
                <a:rPr lang="x-none" altLang="zh-CN" sz="2000" dirty="0" smtClean="0">
                  <a:solidFill>
                    <a:schemeClr val="bg1">
                      <a:lumMod val="50000"/>
                    </a:schemeClr>
                  </a:solidFill>
                  <a:latin typeface="楷体" pitchFamily="49" charset="-122"/>
                  <a:ea typeface="楷体" pitchFamily="49" charset="-122"/>
                  <a:cs typeface="Times New Roman" pitchFamily="18" charset="0"/>
                </a:rPr>
                <a:t>//读取字符</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if(fs.fail())			//如果文件不存在或到达末尾，则读取失败</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	cout&lt;&lt;"文件读取失败"&lt;&lt;endl;</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809751" y="1524000"/>
            <a:ext cx="9696450" cy="40195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4</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good()函数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en-US" altLang="zh-CN" sz="2400" dirty="0" smtClean="0">
                <a:solidFill>
                  <a:schemeClr val="bg1">
                    <a:lumMod val="50000"/>
                  </a:schemeClr>
                </a:solidFill>
                <a:latin typeface="楷体" pitchFamily="49" charset="-122"/>
                <a:ea typeface="楷体" pitchFamily="49" charset="-122"/>
                <a:cs typeface="Times New Roman" pitchFamily="18" charset="0"/>
              </a:rPr>
              <a:t>good()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函数用于检测文件流状态和文件读写过程是否正常，其声明如下所示：</a:t>
            </a: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bool good() const;</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对于</a:t>
            </a:r>
            <a:r>
              <a:rPr lang="en-US" altLang="zh-CN" sz="2400" dirty="0" smtClean="0">
                <a:solidFill>
                  <a:schemeClr val="bg1">
                    <a:lumMod val="50000"/>
                  </a:schemeClr>
                </a:solidFill>
                <a:latin typeface="楷体" pitchFamily="49" charset="-122"/>
                <a:ea typeface="楷体" pitchFamily="49" charset="-122"/>
                <a:cs typeface="Times New Roman" pitchFamily="18" charset="0"/>
              </a:rPr>
              <a:t>good()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函数来说，如果文件流状态、文件读写过程没有错误，就返回</a:t>
            </a:r>
            <a:r>
              <a:rPr lang="en-US" altLang="zh-CN" sz="2400" dirty="0" smtClean="0">
                <a:solidFill>
                  <a:schemeClr val="bg1">
                    <a:lumMod val="50000"/>
                  </a:schemeClr>
                </a:solidFill>
                <a:latin typeface="楷体" pitchFamily="49" charset="-122"/>
                <a:ea typeface="楷体" pitchFamily="49" charset="-122"/>
                <a:cs typeface="Times New Roman" pitchFamily="18" charset="0"/>
              </a:rPr>
              <a:t>true</a:t>
            </a:r>
            <a:r>
              <a:rPr lang="zh-CN" altLang="zh-CN" sz="2400" dirty="0" smtClean="0">
                <a:solidFill>
                  <a:schemeClr val="bg1">
                    <a:lumMod val="50000"/>
                  </a:schemeClr>
                </a:solidFill>
                <a:latin typeface="楷体" pitchFamily="49" charset="-122"/>
                <a:ea typeface="楷体" pitchFamily="49" charset="-122"/>
                <a:cs typeface="Times New Roman" pitchFamily="18" charset="0"/>
              </a:rPr>
              <a:t>。它的作用与</a:t>
            </a:r>
            <a:r>
              <a:rPr lang="en-US" altLang="zh-CN" sz="2400" dirty="0" smtClean="0">
                <a:solidFill>
                  <a:schemeClr val="bg1">
                    <a:lumMod val="50000"/>
                  </a:schemeClr>
                </a:solidFill>
                <a:latin typeface="楷体" pitchFamily="49" charset="-122"/>
                <a:ea typeface="楷体" pitchFamily="49" charset="-122"/>
                <a:cs typeface="Times New Roman" pitchFamily="18" charset="0"/>
              </a:rPr>
              <a:t>bad()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a:t>
            </a:r>
            <a:r>
              <a:rPr lang="en-US" altLang="zh-CN" sz="2400" dirty="0" smtClean="0">
                <a:solidFill>
                  <a:schemeClr val="bg1">
                    <a:lumMod val="50000"/>
                  </a:schemeClr>
                </a:solidFill>
                <a:latin typeface="楷体" pitchFamily="49" charset="-122"/>
                <a:ea typeface="楷体" pitchFamily="49" charset="-122"/>
                <a:cs typeface="Times New Roman" pitchFamily="18" charset="0"/>
              </a:rPr>
              <a:t>fail()</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函数相反，</a:t>
            </a:r>
            <a:r>
              <a:rPr lang="en-US" altLang="zh-CN" sz="2400" dirty="0" smtClean="0">
                <a:solidFill>
                  <a:schemeClr val="bg1">
                    <a:lumMod val="50000"/>
                  </a:schemeClr>
                </a:solidFill>
                <a:latin typeface="楷体" pitchFamily="49" charset="-122"/>
                <a:ea typeface="楷体" pitchFamily="49" charset="-122"/>
                <a:cs typeface="Times New Roman" pitchFamily="18" charset="0"/>
              </a:rPr>
              <a:t>bad()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a:t>
            </a:r>
            <a:r>
              <a:rPr lang="en-US" altLang="zh-CN" sz="2400" dirty="0" smtClean="0">
                <a:solidFill>
                  <a:schemeClr val="bg1">
                    <a:lumMod val="50000"/>
                  </a:schemeClr>
                </a:solidFill>
                <a:latin typeface="楷体" pitchFamily="49" charset="-122"/>
                <a:ea typeface="楷体" pitchFamily="49" charset="-122"/>
                <a:cs typeface="Times New Roman" pitchFamily="18" charset="0"/>
              </a:rPr>
              <a:t>fail()</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函数返回</a:t>
            </a:r>
            <a:r>
              <a:rPr lang="en-US" altLang="zh-CN" sz="2400" dirty="0" smtClean="0">
                <a:solidFill>
                  <a:schemeClr val="bg1">
                    <a:lumMod val="50000"/>
                  </a:schemeClr>
                </a:solidFill>
                <a:latin typeface="楷体" pitchFamily="49" charset="-122"/>
                <a:ea typeface="楷体" pitchFamily="49" charset="-122"/>
                <a:cs typeface="Times New Roman" pitchFamily="18" charset="0"/>
              </a:rPr>
              <a:t>true</a:t>
            </a:r>
            <a:r>
              <a:rPr lang="zh-CN" altLang="zh-CN" sz="2400" dirty="0" smtClean="0">
                <a:solidFill>
                  <a:schemeClr val="bg1">
                    <a:lumMod val="50000"/>
                  </a:schemeClr>
                </a:solidFill>
                <a:latin typeface="楷体" pitchFamily="49" charset="-122"/>
                <a:ea typeface="楷体" pitchFamily="49" charset="-122"/>
                <a:cs typeface="Times New Roman" pitchFamily="18" charset="0"/>
              </a:rPr>
              <a:t>的情况，</a:t>
            </a:r>
            <a:r>
              <a:rPr lang="en-US" altLang="zh-CN" sz="2400" dirty="0" smtClean="0">
                <a:solidFill>
                  <a:schemeClr val="bg1">
                    <a:lumMod val="50000"/>
                  </a:schemeClr>
                </a:solidFill>
                <a:latin typeface="楷体" pitchFamily="49" charset="-122"/>
                <a:ea typeface="楷体" pitchFamily="49" charset="-122"/>
                <a:cs typeface="Times New Roman" pitchFamily="18" charset="0"/>
              </a:rPr>
              <a:t>good()</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函数返回</a:t>
            </a:r>
            <a:r>
              <a:rPr lang="en-US" altLang="zh-CN" sz="2400" dirty="0" smtClean="0">
                <a:solidFill>
                  <a:schemeClr val="bg1">
                    <a:lumMod val="50000"/>
                  </a:schemeClr>
                </a:solidFill>
                <a:latin typeface="楷体" pitchFamily="49" charset="-122"/>
                <a:ea typeface="楷体" pitchFamily="49" charset="-122"/>
                <a:cs typeface="Times New Roman" pitchFamily="18" charset="0"/>
              </a:rPr>
              <a:t>false</a:t>
            </a:r>
            <a:r>
              <a:rPr lang="zh-CN" altLang="zh-CN" sz="2400" dirty="0" smtClean="0">
                <a:solidFill>
                  <a:schemeClr val="bg1">
                    <a:lumMod val="50000"/>
                  </a:schemeClr>
                </a:solidFill>
                <a:latin typeface="楷体" pitchFamily="49" charset="-122"/>
                <a:ea typeface="楷体" pitchFamily="49" charset="-122"/>
                <a:cs typeface="Times New Roman" pitchFamily="18" charset="0"/>
              </a:rPr>
              <a:t>。</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9" name="组合 8"/>
          <p:cNvGrpSpPr/>
          <p:nvPr/>
        </p:nvGrpSpPr>
        <p:grpSpPr>
          <a:xfrm>
            <a:off x="1990725" y="1876425"/>
            <a:ext cx="9401175" cy="2724149"/>
            <a:chOff x="1990725" y="1876425"/>
            <a:chExt cx="9401175" cy="2724149"/>
          </a:xfrm>
        </p:grpSpPr>
        <p:pic>
          <p:nvPicPr>
            <p:cNvPr id="262146" name="Picture 2"/>
            <p:cNvPicPr>
              <a:picLocks noChangeAspect="1" noChangeArrowheads="1"/>
            </p:cNvPicPr>
            <p:nvPr/>
          </p:nvPicPr>
          <p:blipFill>
            <a:blip r:embed="rId4" cstate="print"/>
            <a:srcRect/>
            <a:stretch>
              <a:fillRect/>
            </a:stretch>
          </p:blipFill>
          <p:spPr bwMode="auto">
            <a:xfrm>
              <a:off x="1990725" y="1876425"/>
              <a:ext cx="9401175" cy="2724149"/>
            </a:xfrm>
            <a:prstGeom prst="rect">
              <a:avLst/>
            </a:prstGeom>
            <a:noFill/>
            <a:ln w="9525">
              <a:noFill/>
              <a:miter lim="800000"/>
              <a:headEnd/>
              <a:tailEnd/>
            </a:ln>
          </p:spPr>
        </p:pic>
        <p:sp>
          <p:nvSpPr>
            <p:cNvPr id="8" name="内容占位符 2"/>
            <p:cNvSpPr txBox="1">
              <a:spLocks/>
            </p:cNvSpPr>
            <p:nvPr/>
          </p:nvSpPr>
          <p:spPr>
            <a:xfrm>
              <a:off x="2352676" y="2228850"/>
              <a:ext cx="8829674" cy="22383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fstream fs("a.txt",ios::in);	//创建fstream类对象，以只读模式打开a.txt</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cout&lt;&lt;fs.get()&lt;&lt;endl;	</a:t>
              </a:r>
              <a:r>
                <a:rPr lang="en-US" altLang="zh-CN" sz="2000" dirty="0" smtClean="0">
                  <a:solidFill>
                    <a:schemeClr val="bg1">
                      <a:lumMod val="50000"/>
                    </a:schemeClr>
                  </a:solidFill>
                  <a:latin typeface="楷体" pitchFamily="49" charset="-122"/>
                  <a:ea typeface="楷体" pitchFamily="49" charset="-122"/>
                  <a:cs typeface="Times New Roman" pitchFamily="18" charset="0"/>
                </a:rPr>
                <a:t>	</a:t>
              </a:r>
              <a:r>
                <a:rPr lang="x-none" altLang="zh-CN" sz="2000" dirty="0" smtClean="0">
                  <a:solidFill>
                    <a:schemeClr val="bg1">
                      <a:lumMod val="50000"/>
                    </a:schemeClr>
                  </a:solidFill>
                  <a:latin typeface="楷体" pitchFamily="49" charset="-122"/>
                  <a:ea typeface="楷体" pitchFamily="49" charset="-122"/>
                  <a:cs typeface="Times New Roman" pitchFamily="18" charset="0"/>
                </a:rPr>
                <a:t>//读取字符</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if(fs.good())			//如果没有错误，good()函数返回true</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	cout&lt;&lt;"文件读取成功"&lt;&lt;endl;</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514475" y="1409700"/>
            <a:ext cx="9991726" cy="40195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5</a:t>
            </a:r>
            <a:r>
              <a:rPr lang="en-US" altLang="zh-CN" sz="2400" dirty="0" smtClean="0">
                <a:solidFill>
                  <a:srgbClr val="FF0000"/>
                </a:solidFill>
                <a:latin typeface="楷体" pitchFamily="49" charset="-122"/>
                <a:ea typeface="楷体" pitchFamily="49" charset="-122"/>
                <a:cs typeface="Times New Roman" pitchFamily="18" charset="0"/>
              </a:rPr>
              <a:t>.</a:t>
            </a:r>
            <a:r>
              <a:rPr lang="x-none" altLang="zh-CN" sz="2400" dirty="0" smtClean="0">
                <a:solidFill>
                  <a:srgbClr val="FF0000"/>
                </a:solidFill>
                <a:latin typeface="楷体" pitchFamily="49" charset="-122"/>
                <a:ea typeface="楷体" pitchFamily="49" charset="-122"/>
                <a:cs typeface="Times New Roman" pitchFamily="18" charset="0"/>
              </a:rPr>
              <a:t>clear()函数</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400" dirty="0" smtClean="0">
                <a:solidFill>
                  <a:schemeClr val="bg1">
                    <a:lumMod val="50000"/>
                  </a:schemeClr>
                </a:solidFill>
                <a:latin typeface="楷体" pitchFamily="49" charset="-122"/>
                <a:ea typeface="楷体" pitchFamily="49" charset="-122"/>
                <a:cs typeface="Times New Roman" pitchFamily="18" charset="0"/>
              </a:rPr>
              <a:t>clear()</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函数用于清除流的错误状态，即重置流的状态标志位，其声明如下所示：</a:t>
            </a:r>
          </a:p>
          <a:p>
            <a:pPr marL="0" indent="0" eaLnBrk="1" hangingPunct="1">
              <a:lnSpc>
                <a:spcPct val="150000"/>
              </a:lnSpc>
              <a:spcBef>
                <a:spcPct val="0"/>
              </a:spcBef>
              <a:buNone/>
              <a:defRPr/>
            </a:pPr>
            <a:r>
              <a:rPr lang="x-none" altLang="zh-CN" sz="2400" dirty="0" smtClean="0">
                <a:solidFill>
                  <a:srgbClr val="FF0000"/>
                </a:solidFill>
                <a:latin typeface="楷体" pitchFamily="49" charset="-122"/>
                <a:ea typeface="楷体" pitchFamily="49" charset="-122"/>
                <a:cs typeface="Times New Roman" pitchFamily="18" charset="0"/>
              </a:rPr>
              <a:t>void clear(iostate state= goodbit);</a:t>
            </a:r>
            <a:endParaRPr lang="zh-CN" altLang="zh-CN" sz="2400" dirty="0" smtClean="0">
              <a:solidFill>
                <a:srgbClr val="FF0000"/>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在上述格式中，参数</a:t>
            </a:r>
            <a:r>
              <a:rPr lang="en-US" altLang="zh-CN" sz="2400" dirty="0" smtClean="0">
                <a:solidFill>
                  <a:schemeClr val="bg1">
                    <a:lumMod val="50000"/>
                  </a:schemeClr>
                </a:solidFill>
                <a:latin typeface="楷体" pitchFamily="49" charset="-122"/>
                <a:ea typeface="楷体" pitchFamily="49" charset="-122"/>
                <a:cs typeface="Times New Roman" pitchFamily="18" charset="0"/>
              </a:rPr>
              <a:t>state</a:t>
            </a:r>
            <a:r>
              <a:rPr lang="zh-CN" altLang="zh-CN" sz="2400" dirty="0" smtClean="0">
                <a:solidFill>
                  <a:schemeClr val="bg1">
                    <a:lumMod val="50000"/>
                  </a:schemeClr>
                </a:solidFill>
                <a:latin typeface="楷体" pitchFamily="49" charset="-122"/>
                <a:ea typeface="楷体" pitchFamily="49" charset="-122"/>
                <a:cs typeface="Times New Roman" pitchFamily="18" charset="0"/>
              </a:rPr>
              <a:t>表示流的状态，默认值为</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goodbit</a:t>
            </a:r>
            <a:r>
              <a:rPr lang="zh-CN" altLang="zh-CN" sz="2400" dirty="0" smtClean="0">
                <a:solidFill>
                  <a:schemeClr val="bg1">
                    <a:lumMod val="50000"/>
                  </a:schemeClr>
                </a:solidFill>
                <a:latin typeface="楷体" pitchFamily="49" charset="-122"/>
                <a:ea typeface="楷体" pitchFamily="49" charset="-122"/>
                <a:cs typeface="Times New Roman" pitchFamily="18" charset="0"/>
              </a:rPr>
              <a:t>（值为</a:t>
            </a:r>
            <a:r>
              <a:rPr lang="en-US" altLang="zh-CN" sz="2400" dirty="0" smtClean="0">
                <a:solidFill>
                  <a:schemeClr val="bg1">
                    <a:lumMod val="50000"/>
                  </a:schemeClr>
                </a:solidFill>
                <a:latin typeface="楷体" pitchFamily="49" charset="-122"/>
                <a:ea typeface="楷体" pitchFamily="49" charset="-122"/>
                <a:cs typeface="Times New Roman" pitchFamily="18" charset="0"/>
              </a:rPr>
              <a:t>0</a:t>
            </a:r>
            <a:r>
              <a:rPr lang="zh-CN" altLang="zh-CN" sz="2400" dirty="0" smtClean="0">
                <a:solidFill>
                  <a:schemeClr val="bg1">
                    <a:lumMod val="50000"/>
                  </a:schemeClr>
                </a:solidFill>
                <a:latin typeface="楷体" pitchFamily="49" charset="-122"/>
                <a:ea typeface="楷体" pitchFamily="49" charset="-122"/>
                <a:cs typeface="Times New Roman" pitchFamily="18" charset="0"/>
              </a:rPr>
              <a:t>）。在文件读写过程中，调用</a:t>
            </a:r>
            <a:r>
              <a:rPr lang="en-US" altLang="zh-CN" sz="2400" dirty="0" smtClean="0">
                <a:solidFill>
                  <a:schemeClr val="bg1">
                    <a:lumMod val="50000"/>
                  </a:schemeClr>
                </a:solidFill>
                <a:latin typeface="楷体" pitchFamily="49" charset="-122"/>
                <a:ea typeface="楷体" pitchFamily="49" charset="-122"/>
                <a:cs typeface="Times New Roman" pitchFamily="18" charset="0"/>
              </a:rPr>
              <a:t>close()</a:t>
            </a:r>
            <a:r>
              <a:rPr lang="zh-CN" altLang="zh-CN" sz="2400" dirty="0" smtClean="0">
                <a:solidFill>
                  <a:schemeClr val="bg1">
                    <a:lumMod val="50000"/>
                  </a:schemeClr>
                </a:solidFill>
                <a:latin typeface="楷体" pitchFamily="49" charset="-122"/>
                <a:ea typeface="楷体" pitchFamily="49" charset="-122"/>
                <a:cs typeface="Times New Roman" pitchFamily="18" charset="0"/>
              </a:rPr>
              <a:t>关闭文件之后，如果再使用文件流对象打开其他文件，一般先调用</a:t>
            </a:r>
            <a:r>
              <a:rPr lang="en-US" altLang="zh-CN" sz="2400" dirty="0" smtClean="0">
                <a:solidFill>
                  <a:schemeClr val="bg1">
                    <a:lumMod val="50000"/>
                  </a:schemeClr>
                </a:solidFill>
                <a:latin typeface="楷体" pitchFamily="49" charset="-122"/>
                <a:ea typeface="楷体" pitchFamily="49" charset="-122"/>
                <a:cs typeface="Times New Roman" pitchFamily="18" charset="0"/>
              </a:rPr>
              <a:t>clear()</a:t>
            </a:r>
            <a:r>
              <a:rPr lang="zh-CN" altLang="zh-CN" sz="2400" dirty="0" smtClean="0">
                <a:solidFill>
                  <a:schemeClr val="bg1">
                    <a:lumMod val="50000"/>
                  </a:schemeClr>
                </a:solidFill>
                <a:latin typeface="楷体" pitchFamily="49" charset="-122"/>
                <a:ea typeface="楷体" pitchFamily="49" charset="-122"/>
                <a:cs typeface="Times New Roman" pitchFamily="18" charset="0"/>
              </a:rPr>
              <a:t>函数将文件流对象的标志位重新初始化。</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74041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itchFamily="49" charset="-122"/>
                <a:ea typeface="楷体" pitchFamily="49" charset="-122"/>
                <a:sym typeface="Wingdings"/>
              </a:rPr>
              <a:t></a:t>
            </a:r>
            <a:r>
              <a:rPr lang="zh-CN" altLang="zh-CN" sz="3200" b="1" dirty="0" smtClean="0">
                <a:solidFill>
                  <a:srgbClr val="1353A2"/>
                </a:solidFill>
                <a:latin typeface="楷体" pitchFamily="49" charset="-122"/>
                <a:ea typeface="楷体" pitchFamily="49" charset="-122"/>
              </a:rPr>
              <a:t>多学一招：文件流类的其他成员函数</a:t>
            </a:r>
            <a:endParaRPr lang="zh-CN" altLang="en-US" sz="3200" b="1" dirty="0">
              <a:solidFill>
                <a:srgbClr val="1353A2"/>
              </a:solidFill>
              <a:latin typeface="楷体" pitchFamily="49" charset="-122"/>
              <a:ea typeface="楷体" pitchFamily="49"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2152650" y="1943101"/>
            <a:ext cx="8505825" cy="3133724"/>
            <a:chOff x="2152650" y="1943101"/>
            <a:chExt cx="8505825" cy="3133724"/>
          </a:xfrm>
        </p:grpSpPr>
        <p:pic>
          <p:nvPicPr>
            <p:cNvPr id="394242" name="Picture 2"/>
            <p:cNvPicPr>
              <a:picLocks noChangeAspect="1" noChangeArrowheads="1"/>
            </p:cNvPicPr>
            <p:nvPr/>
          </p:nvPicPr>
          <p:blipFill>
            <a:blip r:embed="rId4" cstate="print"/>
            <a:srcRect/>
            <a:stretch>
              <a:fillRect/>
            </a:stretch>
          </p:blipFill>
          <p:spPr bwMode="auto">
            <a:xfrm>
              <a:off x="2152650" y="1943101"/>
              <a:ext cx="8505825" cy="3133724"/>
            </a:xfrm>
            <a:prstGeom prst="rect">
              <a:avLst/>
            </a:prstGeom>
            <a:noFill/>
            <a:ln w="9525">
              <a:noFill/>
              <a:miter lim="800000"/>
              <a:headEnd/>
              <a:tailEnd/>
            </a:ln>
          </p:spPr>
        </p:pic>
        <p:sp>
          <p:nvSpPr>
            <p:cNvPr id="8" name="内容占位符 2"/>
            <p:cNvSpPr txBox="1">
              <a:spLocks/>
            </p:cNvSpPr>
            <p:nvPr/>
          </p:nvSpPr>
          <p:spPr>
            <a:xfrm>
              <a:off x="2847975" y="2057400"/>
              <a:ext cx="7639050" cy="28289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ofstream ofs;</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ofs.open("file1");	//打开file1文件</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ofs.close();		//关闭file1文件</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ofs.clear();		//调用clear()函数重置文件流状态标志位</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ofs.open("file2");	//关闭file1文件后，再打开file2文件</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楷体" pitchFamily="49" charset="-122"/>
                  <a:ea typeface="楷体" pitchFamily="49" charset="-122"/>
                  <a:cs typeface="Times New Roman" pitchFamily="18" charset="0"/>
                </a:rPr>
                <a:t>ofs.close();</a:t>
              </a:r>
              <a:endParaRPr lang="zh-CN" altLang="zh-CN" sz="2000" dirty="0" smtClean="0">
                <a:solidFill>
                  <a:schemeClr val="bg1">
                    <a:lumMod val="50000"/>
                  </a:schemeClr>
                </a:solidFill>
                <a:latin typeface="楷体" pitchFamily="49" charset="-122"/>
                <a:ea typeface="楷体" pitchFamily="49"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2114550" y="2105025"/>
            <a:ext cx="5162549" cy="19907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文件流类从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类分别继承了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函数，这两个函数用来读写二进制文件。</a:t>
            </a:r>
          </a:p>
        </p:txBody>
      </p:sp>
      <p:pic>
        <p:nvPicPr>
          <p:cNvPr id="395266" name="Picture 2"/>
          <p:cNvPicPr>
            <a:picLocks noChangeAspect="1" noChangeArrowheads="1"/>
          </p:cNvPicPr>
          <p:nvPr/>
        </p:nvPicPr>
        <p:blipFill>
          <a:blip r:embed="rId4" cstate="print"/>
          <a:srcRect/>
          <a:stretch>
            <a:fillRect/>
          </a:stretch>
        </p:blipFill>
        <p:spPr bwMode="auto">
          <a:xfrm>
            <a:off x="7703602" y="1435100"/>
            <a:ext cx="3243797" cy="423227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1" presetClass="entr" presetSubtype="0" fill="hold" nodeType="afterEffect">
                                  <p:stCondLst>
                                    <p:cond delay="0"/>
                                  </p:stCondLst>
                                  <p:childTnLst>
                                    <p:set>
                                      <p:cBhvr>
                                        <p:cTn id="6" dur="1000">
                                          <p:stCondLst>
                                            <p:cond delay="0"/>
                                          </p:stCondLst>
                                        </p:cTn>
                                        <p:tgtEl>
                                          <p:spTgt spid="395266"/>
                                        </p:tgtEl>
                                        <p:attrNameLst>
                                          <p:attrName>style.visibility</p:attrName>
                                        </p:attrNameLst>
                                      </p:cBhvr>
                                      <p:to>
                                        <p:strVal val="visible"/>
                                      </p:to>
                                    </p:set>
                                  </p:childTnLst>
                                </p:cTn>
                              </p:par>
                            </p:childTnLst>
                          </p:cTn>
                        </p:par>
                        <p:par>
                          <p:cTn id="7" fill="hold">
                            <p:stCondLst>
                              <p:cond delay="1000"/>
                            </p:stCondLst>
                            <p:childTnLst>
                              <p:par>
                                <p:cTn id="8" presetID="22" presetClass="entr" presetSubtype="1"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9" name="组合 8"/>
          <p:cNvGrpSpPr/>
          <p:nvPr/>
        </p:nvGrpSpPr>
        <p:grpSpPr>
          <a:xfrm>
            <a:off x="3067051" y="1905000"/>
            <a:ext cx="7391400" cy="3505200"/>
            <a:chOff x="2495551" y="1771650"/>
            <a:chExt cx="7391400" cy="3505200"/>
          </a:xfrm>
        </p:grpSpPr>
        <p:pic>
          <p:nvPicPr>
            <p:cNvPr id="396290" name="Picture 2"/>
            <p:cNvPicPr>
              <a:picLocks noChangeAspect="1" noChangeArrowheads="1"/>
            </p:cNvPicPr>
            <p:nvPr/>
          </p:nvPicPr>
          <p:blipFill>
            <a:blip r:embed="rId4" cstate="print"/>
            <a:srcRect/>
            <a:stretch>
              <a:fillRect/>
            </a:stretch>
          </p:blipFill>
          <p:spPr bwMode="auto">
            <a:xfrm>
              <a:off x="2495551" y="1771650"/>
              <a:ext cx="7391400" cy="3505200"/>
            </a:xfrm>
            <a:prstGeom prst="rect">
              <a:avLst/>
            </a:prstGeom>
            <a:noFill/>
            <a:ln w="9525">
              <a:noFill/>
              <a:miter lim="800000"/>
              <a:headEnd/>
              <a:tailEnd/>
            </a:ln>
          </p:spPr>
        </p:pic>
        <p:sp>
          <p:nvSpPr>
            <p:cNvPr id="8" name="内容占位符 2"/>
            <p:cNvSpPr txBox="1">
              <a:spLocks/>
            </p:cNvSpPr>
            <p:nvPr/>
          </p:nvSpPr>
          <p:spPr>
            <a:xfrm>
              <a:off x="3362326" y="1962151"/>
              <a:ext cx="5962650" cy="30098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000" dirty="0" smtClean="0">
                  <a:solidFill>
                    <a:srgbClr val="FF0000"/>
                  </a:solidFill>
                  <a:latin typeface="微软雅黑" pitchFamily="34" charset="-122"/>
                  <a:ea typeface="微软雅黑" pitchFamily="34" charset="-122"/>
                  <a:cs typeface="Times New Roman" pitchFamily="18" charset="0"/>
                </a:rPr>
                <a:t>//</a:t>
              </a:r>
              <a:r>
                <a:rPr lang="zh-CN" altLang="en-US" sz="2000" dirty="0" smtClean="0">
                  <a:solidFill>
                    <a:srgbClr val="FF0000"/>
                  </a:solidFill>
                  <a:latin typeface="微软雅黑" pitchFamily="34" charset="-122"/>
                  <a:ea typeface="微软雅黑" pitchFamily="34" charset="-122"/>
                  <a:cs typeface="Times New Roman" pitchFamily="18" charset="0"/>
                </a:rPr>
                <a:t>例</a:t>
              </a:r>
              <a:r>
                <a:rPr lang="en-US" altLang="zh-CN" sz="2000" dirty="0" smtClean="0">
                  <a:solidFill>
                    <a:srgbClr val="FF0000"/>
                  </a:solidFill>
                  <a:latin typeface="微软雅黑" pitchFamily="34" charset="-122"/>
                  <a:ea typeface="微软雅黑" pitchFamily="34" charset="-122"/>
                  <a:cs typeface="Times New Roman" pitchFamily="18" charset="0"/>
                </a:rPr>
                <a:t>8-6   binary.cpp</a:t>
              </a:r>
            </a:p>
            <a:p>
              <a:pPr marL="0" lvl="0" indent="0" eaLnBrk="1" hangingPunct="1">
                <a:lnSpc>
                  <a:spcPct val="150000"/>
                </a:lnSpc>
                <a:spcBef>
                  <a:spcPct val="0"/>
                </a:spcBef>
                <a:buNone/>
                <a:defRPr/>
              </a:pPr>
              <a:r>
                <a:rPr lang="en-US" altLang="zh-CN" sz="2000" dirty="0" err="1" smtClean="0">
                  <a:solidFill>
                    <a:schemeClr val="bg1">
                      <a:lumMod val="50000"/>
                    </a:schemeClr>
                  </a:solidFill>
                  <a:latin typeface="微软雅黑" pitchFamily="34" charset="-122"/>
                  <a:ea typeface="微软雅黑" pitchFamily="34" charset="-122"/>
                  <a:cs typeface="Times New Roman" pitchFamily="18" charset="0"/>
                </a:rPr>
                <a:t>struct</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Student		//</a:t>
              </a:r>
              <a:r>
                <a:rPr lang="zh-CN" altLang="zh-CN" sz="2000" dirty="0" smtClean="0">
                  <a:solidFill>
                    <a:schemeClr val="bg1">
                      <a:lumMod val="50000"/>
                    </a:schemeClr>
                  </a:solidFill>
                  <a:latin typeface="微软雅黑" pitchFamily="34" charset="-122"/>
                  <a:ea typeface="微软雅黑" pitchFamily="34" charset="-122"/>
                  <a:cs typeface="Times New Roman" pitchFamily="18" charset="0"/>
                </a:rPr>
                <a:t>定义学生结构体</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Student</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char name[20];		//</a:t>
              </a:r>
              <a:r>
                <a:rPr lang="zh-CN" altLang="zh-CN" sz="2000" dirty="0" smtClean="0">
                  <a:solidFill>
                    <a:schemeClr val="bg1">
                      <a:lumMod val="50000"/>
                    </a:schemeClr>
                  </a:solidFill>
                  <a:latin typeface="微软雅黑" pitchFamily="34" charset="-122"/>
                  <a:ea typeface="微软雅黑" pitchFamily="34" charset="-122"/>
                  <a:cs typeface="Times New Roman" pitchFamily="18" charset="0"/>
                </a:rPr>
                <a:t>姓名</a:t>
              </a:r>
            </a:p>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0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age;			//</a:t>
              </a:r>
              <a:r>
                <a:rPr lang="zh-CN" altLang="zh-CN" sz="2000" dirty="0" smtClean="0">
                  <a:solidFill>
                    <a:schemeClr val="bg1">
                      <a:lumMod val="50000"/>
                    </a:schemeClr>
                  </a:solidFill>
                  <a:latin typeface="微软雅黑" pitchFamily="34" charset="-122"/>
                  <a:ea typeface="微软雅黑" pitchFamily="34" charset="-122"/>
                  <a:cs typeface="Times New Roman" pitchFamily="18" charset="0"/>
                </a:rPr>
                <a:t>年龄</a:t>
              </a:r>
            </a:p>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char sex;		//</a:t>
              </a:r>
              <a:r>
                <a:rPr lang="zh-CN" altLang="zh-CN" sz="2000" dirty="0" smtClean="0">
                  <a:solidFill>
                    <a:schemeClr val="bg1">
                      <a:lumMod val="50000"/>
                    </a:schemeClr>
                  </a:solidFill>
                  <a:latin typeface="微软雅黑" pitchFamily="34" charset="-122"/>
                  <a:ea typeface="微软雅黑" pitchFamily="34" charset="-122"/>
                  <a:cs typeface="Times New Roman" pitchFamily="18" charset="0"/>
                </a:rPr>
                <a:t>性别</a:t>
              </a:r>
            </a:p>
            <a:p>
              <a:pPr marL="0" lvl="0" indent="0" eaLnBrk="1" hangingPunct="1">
                <a:lnSpc>
                  <a:spcPct val="150000"/>
                </a:lnSpc>
                <a:spcBef>
                  <a:spcPct val="0"/>
                </a:spcBef>
                <a:buNone/>
                <a:defRPr/>
              </a:pP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819275" y="1476375"/>
            <a:ext cx="9525000" cy="4552950"/>
            <a:chOff x="1809750" y="1323975"/>
            <a:chExt cx="9525000" cy="4552950"/>
          </a:xfrm>
        </p:grpSpPr>
        <p:pic>
          <p:nvPicPr>
            <p:cNvPr id="397314" name="Picture 2"/>
            <p:cNvPicPr>
              <a:picLocks noChangeAspect="1" noChangeArrowheads="1"/>
            </p:cNvPicPr>
            <p:nvPr/>
          </p:nvPicPr>
          <p:blipFill>
            <a:blip r:embed="rId4" cstate="print"/>
            <a:srcRect/>
            <a:stretch>
              <a:fillRect/>
            </a:stretch>
          </p:blipFill>
          <p:spPr bwMode="auto">
            <a:xfrm>
              <a:off x="1809750" y="1323975"/>
              <a:ext cx="9525000" cy="4552950"/>
            </a:xfrm>
            <a:prstGeom prst="rect">
              <a:avLst/>
            </a:prstGeom>
            <a:noFill/>
            <a:ln w="9525">
              <a:noFill/>
              <a:miter lim="800000"/>
              <a:headEnd/>
              <a:tailEnd/>
            </a:ln>
          </p:spPr>
        </p:pic>
        <p:sp>
          <p:nvSpPr>
            <p:cNvPr id="8" name="内容占位符 2"/>
            <p:cNvSpPr txBox="1">
              <a:spLocks/>
            </p:cNvSpPr>
            <p:nvPr/>
          </p:nvSpPr>
          <p:spPr>
            <a:xfrm>
              <a:off x="2152649" y="1485900"/>
              <a:ext cx="9124951" cy="43148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main(){</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Student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stus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[3];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定义学生结构体数组，大小为</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3</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请输入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3</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个学生的信息</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:\n</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（姓名 年龄 性别）</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 0;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 3;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&gt;&gt;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stus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].name&gt;&gt;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stus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].age&gt;&gt;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stus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].sex;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创建输出文件流对象，以二进制、写入模式打开</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student.dat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二进制文件</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("student.dat",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::out |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ios_base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::binary);</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cerr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写入时，文件打开失败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2219324" y="1390649"/>
            <a:ext cx="8582026" cy="4876801"/>
            <a:chOff x="2219324" y="1390649"/>
            <a:chExt cx="8582026" cy="4876801"/>
          </a:xfrm>
        </p:grpSpPr>
        <p:pic>
          <p:nvPicPr>
            <p:cNvPr id="398338" name="Picture 2"/>
            <p:cNvPicPr>
              <a:picLocks noChangeAspect="1" noChangeArrowheads="1"/>
            </p:cNvPicPr>
            <p:nvPr/>
          </p:nvPicPr>
          <p:blipFill>
            <a:blip r:embed="rId4" cstate="print"/>
            <a:srcRect/>
            <a:stretch>
              <a:fillRect/>
            </a:stretch>
          </p:blipFill>
          <p:spPr bwMode="auto">
            <a:xfrm>
              <a:off x="2295526" y="1390649"/>
              <a:ext cx="8505824" cy="4876801"/>
            </a:xfrm>
            <a:prstGeom prst="rect">
              <a:avLst/>
            </a:prstGeom>
            <a:noFill/>
            <a:ln w="9525">
              <a:noFill/>
              <a:miter lim="800000"/>
              <a:headEnd/>
              <a:tailEnd/>
            </a:ln>
          </p:spPr>
        </p:pic>
        <p:sp>
          <p:nvSpPr>
            <p:cNvPr id="8" name="内容占位符 2"/>
            <p:cNvSpPr txBox="1">
              <a:spLocks/>
            </p:cNvSpPr>
            <p:nvPr/>
          </p:nvSpPr>
          <p:spPr>
            <a:xfrm>
              <a:off x="2219324" y="1524000"/>
              <a:ext cx="8267701" cy="46386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通过</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for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循环将</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3</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个学生的信息写入文件</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 0;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 3;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函数写入数据，每次写入一个学生信息</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ofs.write</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err="1" smtClean="0">
                  <a:solidFill>
                    <a:srgbClr val="FF0000"/>
                  </a:solidFill>
                  <a:latin typeface="微软雅黑" pitchFamily="34" charset="-122"/>
                  <a:ea typeface="微软雅黑" pitchFamily="34" charset="-122"/>
                  <a:cs typeface="Times New Roman" pitchFamily="18" charset="0"/>
                </a:rPr>
                <a:t>reinterpret_cast</a:t>
              </a:r>
              <a:r>
                <a:rPr lang="en-US" altLang="zh-CN" sz="1800" dirty="0" smtClean="0">
                  <a:solidFill>
                    <a:srgbClr val="FF0000"/>
                  </a:solidFill>
                  <a:latin typeface="微软雅黑" pitchFamily="34" charset="-122"/>
                  <a:ea typeface="微软雅黑" pitchFamily="34" charset="-122"/>
                  <a:cs typeface="Times New Roman" pitchFamily="18" charset="0"/>
                </a:rPr>
                <a:t>&lt;char*&gt;(&amp;</a:t>
              </a:r>
              <a:r>
                <a:rPr lang="en-US" altLang="zh-CN" sz="1800" dirty="0" err="1" smtClean="0">
                  <a:solidFill>
                    <a:srgbClr val="FF0000"/>
                  </a:solidFill>
                  <a:latin typeface="微软雅黑" pitchFamily="34" charset="-122"/>
                  <a:ea typeface="微软雅黑" pitchFamily="34" charset="-122"/>
                  <a:cs typeface="Times New Roman" pitchFamily="18" charset="0"/>
                </a:rPr>
                <a:t>stus</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err="1" smtClean="0">
                  <a:solidFill>
                    <a:srgbClr val="FF0000"/>
                  </a:solidFill>
                  <a:latin typeface="微软雅黑" pitchFamily="34" charset="-122"/>
                  <a:ea typeface="微软雅黑" pitchFamily="34" charset="-122"/>
                  <a:cs typeface="Times New Roman" pitchFamily="18" charset="0"/>
                </a:rPr>
                <a:t>i</a:t>
              </a:r>
              <a:r>
                <a:rPr lang="en-US" altLang="zh-CN" sz="1800" dirty="0" smtClean="0">
                  <a:solidFill>
                    <a:srgbClr val="FF0000"/>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sizeof</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err="1" smtClean="0">
                  <a:solidFill>
                    <a:srgbClr val="FF0000"/>
                  </a:solidFill>
                  <a:latin typeface="微软雅黑" pitchFamily="34" charset="-122"/>
                  <a:ea typeface="微软雅黑" pitchFamily="34" charset="-122"/>
                  <a:cs typeface="Times New Roman" pitchFamily="18" charset="0"/>
                </a:rPr>
                <a:t>stus</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err="1" smtClean="0">
                  <a:solidFill>
                    <a:srgbClr val="FF0000"/>
                  </a:solidFill>
                  <a:latin typeface="微软雅黑" pitchFamily="34" charset="-122"/>
                  <a:ea typeface="微软雅黑" pitchFamily="34" charset="-122"/>
                  <a:cs typeface="Times New Roman" pitchFamily="18" charset="0"/>
                </a:rPr>
                <a:t>i</a:t>
              </a:r>
              <a:r>
                <a:rPr lang="en-US" altLang="zh-CN" sz="1800" dirty="0" smtClean="0">
                  <a:solidFill>
                    <a:srgbClr val="FF0000"/>
                  </a:solidFill>
                  <a:latin typeface="微软雅黑" pitchFamily="34" charset="-122"/>
                  <a:ea typeface="微软雅黑" pitchFamily="34" charset="-122"/>
                  <a:cs typeface="Times New Roman" pitchFamily="18" charset="0"/>
                </a:rPr>
                <a:t>]));</a:t>
              </a:r>
              <a:endParaRPr lang="zh-CN" altLang="zh-CN" sz="18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ofs.flush</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写入成功</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读取文件</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ifs("student.dat",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::in |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ios_base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::binary);</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 (!ifs){</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读取时，文件打开失败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895476" y="1447800"/>
            <a:ext cx="9458324" cy="4486275"/>
            <a:chOff x="1895476" y="1400175"/>
            <a:chExt cx="9458324" cy="4486275"/>
          </a:xfrm>
        </p:grpSpPr>
        <p:pic>
          <p:nvPicPr>
            <p:cNvPr id="399362" name="Picture 2"/>
            <p:cNvPicPr>
              <a:picLocks noChangeAspect="1" noChangeArrowheads="1"/>
            </p:cNvPicPr>
            <p:nvPr/>
          </p:nvPicPr>
          <p:blipFill>
            <a:blip r:embed="rId4" cstate="print"/>
            <a:srcRect/>
            <a:stretch>
              <a:fillRect/>
            </a:stretch>
          </p:blipFill>
          <p:spPr bwMode="auto">
            <a:xfrm>
              <a:off x="1895476" y="1400175"/>
              <a:ext cx="9458324" cy="4486275"/>
            </a:xfrm>
            <a:prstGeom prst="rect">
              <a:avLst/>
            </a:prstGeom>
            <a:noFill/>
            <a:ln w="9525">
              <a:noFill/>
              <a:miter lim="800000"/>
              <a:headEnd/>
              <a:tailEnd/>
            </a:ln>
          </p:spPr>
        </p:pic>
        <p:sp>
          <p:nvSpPr>
            <p:cNvPr id="8" name="内容占位符 2"/>
            <p:cNvSpPr txBox="1">
              <a:spLocks/>
            </p:cNvSpPr>
            <p:nvPr/>
          </p:nvSpPr>
          <p:spPr>
            <a:xfrm>
              <a:off x="2333624" y="1581150"/>
              <a:ext cx="8553451" cy="42195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Student stus1[3];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定义学生结构体数据存储读取的文件内容</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 0;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 3;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函数读取数据，每次读取一个学生信息</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ifs.read</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err="1" smtClean="0">
                  <a:solidFill>
                    <a:srgbClr val="FF0000"/>
                  </a:solidFill>
                  <a:latin typeface="微软雅黑" pitchFamily="34" charset="-122"/>
                  <a:ea typeface="微软雅黑" pitchFamily="34" charset="-122"/>
                  <a:cs typeface="Times New Roman" pitchFamily="18" charset="0"/>
                </a:rPr>
                <a:t>reinterpret_cast</a:t>
              </a:r>
              <a:r>
                <a:rPr lang="en-US" altLang="zh-CN" sz="1800" dirty="0" smtClean="0">
                  <a:solidFill>
                    <a:srgbClr val="FF0000"/>
                  </a:solidFill>
                  <a:latin typeface="微软雅黑" pitchFamily="34" charset="-122"/>
                  <a:ea typeface="微软雅黑" pitchFamily="34" charset="-122"/>
                  <a:cs typeface="Times New Roman" pitchFamily="18" charset="0"/>
                </a:rPr>
                <a:t>&lt;char*&gt;(&amp;stus1[</a:t>
              </a:r>
              <a:r>
                <a:rPr lang="en-US" altLang="zh-CN" sz="1800" dirty="0" err="1" smtClean="0">
                  <a:solidFill>
                    <a:srgbClr val="FF0000"/>
                  </a:solidFill>
                  <a:latin typeface="微软雅黑" pitchFamily="34" charset="-122"/>
                  <a:ea typeface="微软雅黑" pitchFamily="34" charset="-122"/>
                  <a:cs typeface="Times New Roman" pitchFamily="18" charset="0"/>
                </a:rPr>
                <a:t>i</a:t>
              </a:r>
              <a:r>
                <a:rPr lang="en-US" altLang="zh-CN" sz="1800" dirty="0" smtClean="0">
                  <a:solidFill>
                    <a:srgbClr val="FF0000"/>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sizeof</a:t>
              </a:r>
              <a:r>
                <a:rPr lang="en-US" altLang="zh-CN" sz="1800" dirty="0" smtClean="0">
                  <a:solidFill>
                    <a:srgbClr val="FF0000"/>
                  </a:solidFill>
                  <a:latin typeface="微软雅黑" pitchFamily="34" charset="-122"/>
                  <a:ea typeface="微软雅黑" pitchFamily="34" charset="-122"/>
                  <a:cs typeface="Times New Roman" pitchFamily="18" charset="0"/>
                </a:rPr>
                <a:t>(stus1[</a:t>
              </a:r>
              <a:r>
                <a:rPr lang="en-US" altLang="zh-CN" sz="1800" dirty="0" err="1" smtClean="0">
                  <a:solidFill>
                    <a:srgbClr val="FF0000"/>
                  </a:solidFill>
                  <a:latin typeface="微软雅黑" pitchFamily="34" charset="-122"/>
                  <a:ea typeface="微软雅黑" pitchFamily="34" charset="-122"/>
                  <a:cs typeface="Times New Roman" pitchFamily="18" charset="0"/>
                </a:rPr>
                <a:t>i</a:t>
              </a:r>
              <a:r>
                <a:rPr lang="en-US" altLang="zh-CN" sz="1800" dirty="0" smtClean="0">
                  <a:solidFill>
                    <a:srgbClr val="FF0000"/>
                  </a:solidFill>
                  <a:latin typeface="微软雅黑" pitchFamily="34" charset="-122"/>
                  <a:ea typeface="微软雅黑" pitchFamily="34" charset="-122"/>
                  <a:cs typeface="Times New Roman" pitchFamily="18" charset="0"/>
                </a:rPr>
                <a:t>]));</a:t>
              </a:r>
              <a:endParaRPr lang="zh-CN" altLang="zh-CN" sz="18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stus1[</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].name &lt;&lt; " " &lt;&lt; stus1[</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].age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&lt;&lt; " " &lt;&lt; stus1[</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].sex &lt;&lt;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ifs.close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关闭文件</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5857876" y="1676401"/>
            <a:ext cx="5543550" cy="3429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上述代码，从键盘输入了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3</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个学生的信息，然后创建输出流对象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，通过对象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将学生信息写入到</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student.dat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文件中。接着创建文件输入流对象</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，通过对象</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函数读取</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student.dat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文件中的数据。</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pic>
        <p:nvPicPr>
          <p:cNvPr id="400386" name="Picture 2"/>
          <p:cNvPicPr>
            <a:picLocks noChangeAspect="1" noChangeArrowheads="1"/>
          </p:cNvPicPr>
          <p:nvPr/>
        </p:nvPicPr>
        <p:blipFill>
          <a:blip r:embed="rId4" cstate="print"/>
          <a:srcRect/>
          <a:stretch>
            <a:fillRect/>
          </a:stretch>
        </p:blipFill>
        <p:spPr bwMode="auto">
          <a:xfrm>
            <a:off x="1397000" y="2157412"/>
            <a:ext cx="3870325" cy="234689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400386"/>
                                        </p:tgtEl>
                                        <p:attrNameLst>
                                          <p:attrName>style.visibility</p:attrName>
                                        </p:attrNameLst>
                                      </p:cBhvr>
                                      <p:to>
                                        <p:strVal val="visible"/>
                                      </p:to>
                                    </p:set>
                                    <p:anim calcmode="lin" valueType="num">
                                      <p:cBhvr>
                                        <p:cTn id="7" dur="500" fill="hold"/>
                                        <p:tgtEl>
                                          <p:spTgt spid="400386"/>
                                        </p:tgtEl>
                                        <p:attrNameLst>
                                          <p:attrName>ppt_w</p:attrName>
                                        </p:attrNameLst>
                                      </p:cBhvr>
                                      <p:tavLst>
                                        <p:tav tm="0">
                                          <p:val>
                                            <p:fltVal val="0"/>
                                          </p:val>
                                        </p:tav>
                                        <p:tav tm="100000">
                                          <p:val>
                                            <p:strVal val="#ppt_w"/>
                                          </p:val>
                                        </p:tav>
                                      </p:tavLst>
                                    </p:anim>
                                    <p:anim calcmode="lin" valueType="num">
                                      <p:cBhvr>
                                        <p:cTn id="8" dur="500" fill="hold"/>
                                        <p:tgtEl>
                                          <p:spTgt spid="400386"/>
                                        </p:tgtEl>
                                        <p:attrNameLst>
                                          <p:attrName>ppt_h</p:attrName>
                                        </p:attrNameLst>
                                      </p:cBhvr>
                                      <p:tavLst>
                                        <p:tav tm="0">
                                          <p:val>
                                            <p:fltVal val="0"/>
                                          </p:val>
                                        </p:tav>
                                        <p:tav tm="100000">
                                          <p:val>
                                            <p:strVal val="#ppt_h"/>
                                          </p:val>
                                        </p:tav>
                                      </p:tavLst>
                                    </p:anim>
                                    <p:animEffect transition="in" filter="fade">
                                      <p:cBhvr>
                                        <p:cTn id="9" dur="500"/>
                                        <p:tgtEl>
                                          <p:spTgt spid="400386"/>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8.3.4 </a:t>
            </a:r>
            <a:r>
              <a:rPr lang="zh-CN" altLang="en-US" sz="3200" b="1" dirty="0" smtClean="0">
                <a:solidFill>
                  <a:srgbClr val="1353A2"/>
                </a:solidFill>
                <a:latin typeface="微软雅黑" pitchFamily="34" charset="-122"/>
                <a:ea typeface="微软雅黑" pitchFamily="34" charset="-122"/>
              </a:rPr>
              <a:t>二进制文件的读写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5743576" y="1771651"/>
            <a:ext cx="5543550" cy="3429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在上述代码中</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，每一次读写一个结构体变量，由于</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read()</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函数和</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函数第一个参数为</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char*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类型，因此在传递参数时，调用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reinterpret_cast</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运算符将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Student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结构体变量的地址显示转换成</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char*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a:t>
            </a:r>
          </a:p>
        </p:txBody>
      </p:sp>
      <p:grpSp>
        <p:nvGrpSpPr>
          <p:cNvPr id="7" name="组合 6"/>
          <p:cNvGrpSpPr/>
          <p:nvPr/>
        </p:nvGrpSpPr>
        <p:grpSpPr>
          <a:xfrm>
            <a:off x="2218055" y="1736107"/>
            <a:ext cx="2834640" cy="3676730"/>
            <a:chOff x="2311398" y="1676344"/>
            <a:chExt cx="2834640" cy="3676730"/>
          </a:xfrm>
        </p:grpSpPr>
        <p:pic>
          <p:nvPicPr>
            <p:cNvPr id="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itchFamily="34" charset="-122"/>
                  <a:ea typeface="微软雅黑" pitchFamily="34" charset="-122"/>
                  <a:cs typeface="Times New Roman" pitchFamily="18" charset="0"/>
                </a:rPr>
                <a:t>注</a:t>
              </a:r>
              <a:r>
                <a:rPr lang="zh-CN" altLang="en-US" sz="2800" b="1" dirty="0" smtClean="0">
                  <a:solidFill>
                    <a:srgbClr val="FF0000"/>
                  </a:solidFill>
                  <a:latin typeface="微软雅黑" pitchFamily="34" charset="-122"/>
                  <a:ea typeface="微软雅黑" pitchFamily="34" charset="-122"/>
                  <a:cs typeface="Times New Roman" pitchFamily="18" charset="0"/>
                </a:rPr>
                <a:t>      </a:t>
              </a:r>
              <a:r>
                <a:rPr lang="zh-CN" altLang="en-US" sz="2800" b="1" dirty="0">
                  <a:solidFill>
                    <a:srgbClr val="FF0000"/>
                  </a:solidFill>
                  <a:latin typeface="微软雅黑" pitchFamily="34" charset="-122"/>
                  <a:ea typeface="微软雅黑" pitchFamily="34" charset="-122"/>
                  <a:cs typeface="Times New Roman" pitchFamily="18" charset="0"/>
                </a:rPr>
                <a:t>意</a:t>
              </a:r>
              <a:endParaRPr lang="en-US" altLang="zh-CN" sz="2800" b="1" dirty="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514475" y="1543050"/>
            <a:ext cx="10010775" cy="40576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语言中实现文件的随机读写要依靠文件位置指针，在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中实现文件的随机读写也是通过移动文件位置指针完成的。</a:t>
            </a:r>
          </a:p>
          <a:p>
            <a:pPr mar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文件流类提供了设置文件位置指针的函数。</a:t>
            </a:r>
            <a:r>
              <a:rPr lang="en-US" altLang="zh-CN" sz="2400" dirty="0" err="1" smtClean="0">
                <a:solidFill>
                  <a:srgbClr val="FF0000"/>
                </a:solidFill>
                <a:latin typeface="微软雅黑" pitchFamily="34" charset="-122"/>
                <a:ea typeface="微软雅黑" pitchFamily="34" charset="-122"/>
                <a:cs typeface="Times New Roman" pitchFamily="18" charset="0"/>
              </a:rPr>
              <a:t>ifstream</a:t>
            </a:r>
            <a:r>
              <a:rPr lang="zh-CN" altLang="zh-CN" sz="2400" dirty="0" smtClean="0">
                <a:solidFill>
                  <a:srgbClr val="FF0000"/>
                </a:solidFill>
                <a:latin typeface="微软雅黑" pitchFamily="34" charset="-122"/>
                <a:ea typeface="微软雅黑" pitchFamily="34" charset="-122"/>
                <a:cs typeface="Times New Roman" pitchFamily="18" charset="0"/>
              </a:rPr>
              <a:t>类提供了</a:t>
            </a:r>
            <a:r>
              <a:rPr lang="en-US" altLang="zh-CN" sz="2400" dirty="0" err="1" smtClean="0">
                <a:solidFill>
                  <a:srgbClr val="FF0000"/>
                </a:solidFill>
                <a:latin typeface="微软雅黑" pitchFamily="34" charset="-122"/>
                <a:ea typeface="微软雅黑" pitchFamily="34" charset="-122"/>
                <a:cs typeface="Times New Roman" pitchFamily="18" charset="0"/>
              </a:rPr>
              <a:t>tellg</a:t>
            </a:r>
            <a:r>
              <a:rPr lang="en-US" altLang="zh-CN" sz="2400" dirty="0" smtClean="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函数、</a:t>
            </a:r>
            <a:r>
              <a:rPr lang="en-US" altLang="zh-CN" sz="2400" dirty="0" err="1" smtClean="0">
                <a:solidFill>
                  <a:srgbClr val="FF0000"/>
                </a:solidFill>
                <a:latin typeface="微软雅黑" pitchFamily="34" charset="-122"/>
                <a:ea typeface="微软雅黑" pitchFamily="34" charset="-122"/>
                <a:cs typeface="Times New Roman" pitchFamily="18" charset="0"/>
              </a:rPr>
              <a:t>seekg</a:t>
            </a:r>
            <a:r>
              <a:rPr lang="en-US" altLang="zh-CN" sz="2400" dirty="0" smtClean="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函数</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，函数声明分别如下所示：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streampos tellg();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seekg(streampos);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istream&amp; seekg(streamoff, ios_base::seek_dir); </a:t>
            </a:r>
            <a:endParaRPr lang="zh-CN" altLang="zh-CN" sz="2400" dirty="0" smtClean="0">
              <a:solidFill>
                <a:srgbClr val="FF000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600200" y="1590675"/>
            <a:ext cx="9934575" cy="40576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在上述函数声明中，</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tellg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函数用于返回文件位置指针的位置，</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streampos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streamoff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是</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标准库重定义的数据类型。</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函数用于设置文件位置指针的位置，即移动文件位置指针，它有两种重载形式。第一种形式有一个参数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streampos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，表示文件位置指针从文件开头移动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streampos</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长度的距离；第二种重载形式有两个参数，第一个参数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streamoff</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表示文件位置指针的移动距离，第二个参数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seek_dir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表示参照位置。</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2628900" y="2095500"/>
            <a:ext cx="7667625" cy="26860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seek_dir</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有以下三个取值：</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::beg = 0; </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表示从文件开头开始移动文件位置指针。</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::cur = 1; </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表示从当前位置开始移动文件位置指针。</a:t>
            </a:r>
          </a:p>
          <a:p>
            <a:pPr marL="0" lvl="0" indent="0" eaLnBrk="1" hangingPunct="1">
              <a:lnSpc>
                <a:spcPct val="150000"/>
              </a:lnSpc>
              <a:spcBef>
                <a:spcPct val="0"/>
              </a:spcBef>
              <a:buNone/>
              <a:defRPr/>
            </a:pP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::end = 2; </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表示从文件结尾开始移动文件位置指针。</a:t>
            </a:r>
          </a:p>
          <a:p>
            <a:pPr marL="0" indent="0" eaLnBrk="1" hangingPunct="1">
              <a:lnSpc>
                <a:spcPct val="150000"/>
              </a:lnSpc>
              <a:spcBef>
                <a:spcPct val="0"/>
              </a:spcBef>
              <a:buNone/>
              <a:defRPr/>
            </a:pP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552574" y="1952625"/>
            <a:ext cx="10048875" cy="3162300"/>
            <a:chOff x="1552574" y="1952625"/>
            <a:chExt cx="10048875" cy="3162300"/>
          </a:xfrm>
        </p:grpSpPr>
        <p:pic>
          <p:nvPicPr>
            <p:cNvPr id="401410" name="Picture 2"/>
            <p:cNvPicPr>
              <a:picLocks noChangeAspect="1" noChangeArrowheads="1"/>
            </p:cNvPicPr>
            <p:nvPr/>
          </p:nvPicPr>
          <p:blipFill>
            <a:blip r:embed="rId4" cstate="print"/>
            <a:srcRect/>
            <a:stretch>
              <a:fillRect/>
            </a:stretch>
          </p:blipFill>
          <p:spPr bwMode="auto">
            <a:xfrm>
              <a:off x="1552574" y="1952625"/>
              <a:ext cx="10048875" cy="3162300"/>
            </a:xfrm>
            <a:prstGeom prst="rect">
              <a:avLst/>
            </a:prstGeom>
            <a:noFill/>
            <a:ln w="9525">
              <a:noFill/>
              <a:miter lim="800000"/>
              <a:headEnd/>
              <a:tailEnd/>
            </a:ln>
          </p:spPr>
        </p:pic>
        <p:sp>
          <p:nvSpPr>
            <p:cNvPr id="8" name="内容占位符 2"/>
            <p:cNvSpPr txBox="1">
              <a:spLocks/>
            </p:cNvSpPr>
            <p:nvPr/>
          </p:nvSpPr>
          <p:spPr>
            <a:xfrm>
              <a:off x="1924051" y="2390775"/>
              <a:ext cx="9572624" cy="21812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ifstream ifs("a.txt");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//创建输入文件流对象ifs</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ifs.tellg();			//调用tellg()函数获取文件位置指针</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ifs.seekg(20);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//将文件位置指针移动20个字节</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ifs.seekg(-20,ios::end);	</a:t>
              </a:r>
              <a:r>
                <a:rPr lang="en-US" altLang="zh-CN" sz="20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2000" dirty="0" smtClean="0">
                  <a:solidFill>
                    <a:schemeClr val="bg1">
                      <a:lumMod val="50000"/>
                    </a:schemeClr>
                  </a:solidFill>
                  <a:latin typeface="微软雅黑" pitchFamily="34" charset="-122"/>
                  <a:ea typeface="微软雅黑" pitchFamily="34" charset="-122"/>
                  <a:cs typeface="Times New Roman" pitchFamily="18" charset="0"/>
                </a:rPr>
                <a:t>//将文件位置指针从文件末尾处向前移动20个字节</a:t>
              </a:r>
              <a:endParaRPr lang="zh-CN" altLang="zh-CN" sz="2000" dirty="0"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1571626" y="1562100"/>
            <a:ext cx="9877424" cy="40767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ofstream</a:t>
            </a:r>
            <a:r>
              <a:rPr lang="zh-CN" altLang="zh-CN" sz="2400" dirty="0" smtClean="0">
                <a:solidFill>
                  <a:srgbClr val="FF0000"/>
                </a:solidFill>
                <a:latin typeface="微软雅黑" pitchFamily="34" charset="-122"/>
                <a:ea typeface="微软雅黑" pitchFamily="34" charset="-122"/>
                <a:cs typeface="Times New Roman" pitchFamily="18" charset="0"/>
              </a:rPr>
              <a:t>类提供了</a:t>
            </a:r>
            <a:r>
              <a:rPr lang="x-none" altLang="zh-CN" sz="2400" dirty="0" smtClean="0">
                <a:solidFill>
                  <a:srgbClr val="FF0000"/>
                </a:solidFill>
                <a:latin typeface="微软雅黑" pitchFamily="34" charset="-122"/>
                <a:ea typeface="微软雅黑" pitchFamily="34" charset="-122"/>
                <a:cs typeface="Times New Roman" pitchFamily="18" charset="0"/>
              </a:rPr>
              <a:t>tellp()</a:t>
            </a:r>
            <a:r>
              <a:rPr lang="zh-CN" altLang="zh-CN" sz="2400" dirty="0" smtClean="0">
                <a:solidFill>
                  <a:srgbClr val="FF0000"/>
                </a:solidFill>
                <a:latin typeface="微软雅黑" pitchFamily="34" charset="-122"/>
                <a:ea typeface="微软雅黑" pitchFamily="34" charset="-122"/>
                <a:cs typeface="Times New Roman" pitchFamily="18" charset="0"/>
              </a:rPr>
              <a:t>函数、</a:t>
            </a:r>
            <a:r>
              <a:rPr lang="x-none" altLang="zh-CN" sz="2400" dirty="0" smtClean="0">
                <a:solidFill>
                  <a:srgbClr val="FF0000"/>
                </a:solidFill>
                <a:latin typeface="微软雅黑" pitchFamily="34" charset="-122"/>
                <a:ea typeface="微软雅黑" pitchFamily="34" charset="-122"/>
                <a:cs typeface="Times New Roman" pitchFamily="18" charset="0"/>
              </a:rPr>
              <a:t>seekp()</a:t>
            </a:r>
            <a:r>
              <a:rPr lang="zh-CN" altLang="zh-CN" sz="2400" dirty="0" smtClean="0">
                <a:solidFill>
                  <a:srgbClr val="FF0000"/>
                </a:solidFill>
                <a:latin typeface="微软雅黑" pitchFamily="34" charset="-122"/>
                <a:ea typeface="微软雅黑" pitchFamily="34" charset="-122"/>
                <a:cs typeface="Times New Roman" pitchFamily="18" charset="0"/>
              </a:rPr>
              <a:t>函数</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，函数声明分别如下所示：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streampos tellp();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ostream&amp; seekp(streampos);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ostream&amp; seekp(streamoff, ios::seek_dir);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tellp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tellg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函数的含义与用法相同，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函数的含义与用法相同。</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fstream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类拥有上述所有函数，即拥有</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tellg()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seekg()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tellp()</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x-none" altLang="zh-CN" sz="2400" dirty="0" smtClean="0">
                <a:solidFill>
                  <a:schemeClr val="bg1">
                    <a:lumMod val="50000"/>
                  </a:schemeClr>
                </a:solidFill>
                <a:latin typeface="微软雅黑" pitchFamily="34" charset="-122"/>
                <a:ea typeface="微软雅黑" pitchFamily="34" charset="-122"/>
                <a:cs typeface="Times New Roman" pitchFamily="18" charset="0"/>
              </a:rPr>
              <a:t>seekp()</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2257424" y="1352549"/>
            <a:ext cx="8677276" cy="5048251"/>
            <a:chOff x="2105024" y="1333499"/>
            <a:chExt cx="8677276" cy="5048251"/>
          </a:xfrm>
        </p:grpSpPr>
        <p:pic>
          <p:nvPicPr>
            <p:cNvPr id="402434" name="Picture 2"/>
            <p:cNvPicPr>
              <a:picLocks noChangeAspect="1" noChangeArrowheads="1"/>
            </p:cNvPicPr>
            <p:nvPr/>
          </p:nvPicPr>
          <p:blipFill>
            <a:blip r:embed="rId4" cstate="print"/>
            <a:srcRect/>
            <a:stretch>
              <a:fillRect/>
            </a:stretch>
          </p:blipFill>
          <p:spPr bwMode="auto">
            <a:xfrm>
              <a:off x="2105024" y="1333499"/>
              <a:ext cx="8562975" cy="5048251"/>
            </a:xfrm>
            <a:prstGeom prst="rect">
              <a:avLst/>
            </a:prstGeom>
            <a:noFill/>
            <a:ln w="9525">
              <a:noFill/>
              <a:miter lim="800000"/>
              <a:headEnd/>
              <a:tailEnd/>
            </a:ln>
          </p:spPr>
        </p:pic>
        <p:sp>
          <p:nvSpPr>
            <p:cNvPr id="9" name="内容占位符 2"/>
            <p:cNvSpPr txBox="1">
              <a:spLocks/>
            </p:cNvSpPr>
            <p:nvPr/>
          </p:nvSpPr>
          <p:spPr>
            <a:xfrm>
              <a:off x="2524126" y="1353519"/>
              <a:ext cx="8258174" cy="46958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1800" dirty="0" smtClean="0">
                  <a:solidFill>
                    <a:schemeClr val="bg1">
                      <a:lumMod val="50000"/>
                    </a:schemeClr>
                  </a:solidFill>
                  <a:latin typeface="微软雅黑" pitchFamily="34" charset="-122"/>
                  <a:ea typeface="微软雅黑" pitchFamily="34" charset="-122"/>
                  <a:cs typeface="Times New Roman" pitchFamily="18" charset="0"/>
                </a:rPr>
                <a:t>例</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8-7    random.cpp</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main( )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创建输出文件流对象</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ofstream</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random.dat",ios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out|ios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::binary);</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if(!</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写入文件时，文件打开失败</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exit(0);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输出文件位置指针的位置</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文件打开时，文件位置指针位置：</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rgbClr val="FF0000"/>
                  </a:solidFill>
                  <a:latin typeface="微软雅黑" pitchFamily="34" charset="-122"/>
                  <a:ea typeface="微软雅黑" pitchFamily="34" charset="-122"/>
                  <a:cs typeface="Times New Roman" pitchFamily="18" charset="0"/>
                </a:rPr>
                <a:t>ofs.tellp</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请输入数据：</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char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[1024]={0};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定义字符数组</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err="1"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569426" y="1512276"/>
            <a:ext cx="9925050" cy="4384431"/>
            <a:chOff x="1400175" y="1657350"/>
            <a:chExt cx="9925050" cy="4133850"/>
          </a:xfrm>
        </p:grpSpPr>
        <p:pic>
          <p:nvPicPr>
            <p:cNvPr id="403458" name="Picture 2"/>
            <p:cNvPicPr>
              <a:picLocks noChangeAspect="1" noChangeArrowheads="1"/>
            </p:cNvPicPr>
            <p:nvPr/>
          </p:nvPicPr>
          <p:blipFill>
            <a:blip r:embed="rId4" cstate="print"/>
            <a:srcRect/>
            <a:stretch>
              <a:fillRect/>
            </a:stretch>
          </p:blipFill>
          <p:spPr bwMode="auto">
            <a:xfrm>
              <a:off x="1400175" y="1657350"/>
              <a:ext cx="9925050" cy="4133850"/>
            </a:xfrm>
            <a:prstGeom prst="rect">
              <a:avLst/>
            </a:prstGeom>
            <a:noFill/>
            <a:ln w="9525">
              <a:noFill/>
              <a:miter lim="800000"/>
              <a:headEnd/>
              <a:tailEnd/>
            </a:ln>
          </p:spPr>
        </p:pic>
        <p:sp>
          <p:nvSpPr>
            <p:cNvPr id="9" name="内容占位符 2"/>
            <p:cNvSpPr txBox="1">
              <a:spLocks/>
            </p:cNvSpPr>
            <p:nvPr/>
          </p:nvSpPr>
          <p:spPr>
            <a:xfrm>
              <a:off x="1827336" y="1876068"/>
              <a:ext cx="9410699" cy="38195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cin.getline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(buf,1024,'/');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从键盘读取数据存储到</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中</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ofs.write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(buf,30);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函数将</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buf</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中的数据写入到文件</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写入完成之后，输出文件位置指针的位置</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写入完成后，文件位置指针位置：</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rgbClr val="FF0000"/>
                  </a:solidFill>
                  <a:latin typeface="微软雅黑" pitchFamily="34" charset="-122"/>
                  <a:ea typeface="微软雅黑" pitchFamily="34" charset="-122"/>
                  <a:cs typeface="Times New Roman" pitchFamily="18" charset="0"/>
                </a:rPr>
                <a:t>ofs.tellp</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ofs.seekp</a:t>
              </a:r>
              <a:r>
                <a:rPr lang="en-US" altLang="zh-CN" sz="1800" dirty="0" smtClean="0">
                  <a:solidFill>
                    <a:srgbClr val="FF0000"/>
                  </a:solidFill>
                  <a:latin typeface="微软雅黑" pitchFamily="34" charset="-122"/>
                  <a:ea typeface="微软雅黑" pitchFamily="34" charset="-122"/>
                  <a:cs typeface="Times New Roman" pitchFamily="18" charset="0"/>
                </a:rPr>
                <a:t>(-10,ios::end);</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移动文件位置指针</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移动之后，输出文件位置指针的位置</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移动之后，文件位置指针位置：</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rgbClr val="FF0000"/>
                  </a:solidFill>
                  <a:latin typeface="微软雅黑" pitchFamily="34" charset="-122"/>
                  <a:ea typeface="微软雅黑" pitchFamily="34" charset="-122"/>
                  <a:cs typeface="Times New Roman" pitchFamily="18" charset="0"/>
                </a:rPr>
                <a:t>ofs.tellp</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err="1"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8.3.5 </a:t>
            </a:r>
            <a:r>
              <a:rPr lang="zh-CN" altLang="en-US" sz="3200" b="1" dirty="0" smtClean="0">
                <a:solidFill>
                  <a:srgbClr val="1353A2"/>
                </a:solidFill>
                <a:latin typeface="微软雅黑" pitchFamily="34" charset="-122"/>
                <a:ea typeface="微软雅黑" pitchFamily="34" charset="-122"/>
              </a:rPr>
              <a:t>随机文件读写</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257301" y="1514475"/>
            <a:ext cx="1051560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上述代码创建了文件输出流对象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，以写入模式和二进制模式打开当前目录下的</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random.dat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文件，文件成功打开之后，通过对象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ftellp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函数获取文件位置指针的位置，此时，文件位置指针在文件开头。</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之后，通过对象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write()</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函数向文件中写入数据，再次调用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ftellp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函数获取文件位置指针的位置，此时，文件位置指针位置随着写入数据而改变。</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最后，通过对象</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ofs</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函数移动文件位置指针，再调用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ftellp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函数获取文件位置指针的位置，此时，文件位置指针随着</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seekp</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函数的设置改变。</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4482" name="Picture 2"/>
          <p:cNvPicPr>
            <a:picLocks noChangeAspect="1" noChangeArrowheads="1"/>
          </p:cNvPicPr>
          <p:nvPr/>
        </p:nvPicPr>
        <p:blipFill>
          <a:blip r:embed="rId4" cstate="print"/>
          <a:srcRect/>
          <a:stretch>
            <a:fillRect/>
          </a:stretch>
        </p:blipFill>
        <p:spPr bwMode="auto">
          <a:xfrm>
            <a:off x="8221663" y="2225675"/>
            <a:ext cx="3559175" cy="3833813"/>
          </a:xfrm>
          <a:prstGeom prst="rect">
            <a:avLst/>
          </a:prstGeom>
          <a:noFill/>
          <a:ln w="9525">
            <a:noFill/>
            <a:miter lim="800000"/>
            <a:headEnd/>
            <a:tailEnd/>
          </a:ln>
        </p:spPr>
      </p:pic>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809752" y="1390649"/>
            <a:ext cx="6705598" cy="44862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字符串流是以</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string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对象为输入输出对象的数据流，这些数据流的传输在内存中完成，因此字符串流也称为内存流。</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提供了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三个类支持</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string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对象的输入输出。这三个类都是由</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类派生而来，因此它们都可以使用运算符“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&gt;&gt;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”和运算符“</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”，以及</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类的成员函数。</a:t>
            </a: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404482"/>
                                        </p:tgtEl>
                                        <p:attrNameLst>
                                          <p:attrName>style.visibility</p:attrName>
                                        </p:attrNameLst>
                                      </p:cBhvr>
                                      <p:to>
                                        <p:strVal val="visible"/>
                                      </p:to>
                                    </p:set>
                                    <p:animEffect transition="in" filter="strips(downLeft)">
                                      <p:cBhvr>
                                        <p:cTn id="7" dur="500"/>
                                        <p:tgtEl>
                                          <p:spTgt spid="40448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1933576" y="1638299"/>
            <a:ext cx="9629773" cy="358140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istringstream</a:t>
            </a:r>
            <a:r>
              <a:rPr lang="zh-CN" altLang="zh-CN" sz="2400" dirty="0" smtClean="0">
                <a:solidFill>
                  <a:srgbClr val="FF0000"/>
                </a:solidFill>
                <a:latin typeface="微软雅黑" pitchFamily="34" charset="-122"/>
                <a:ea typeface="微软雅黑" pitchFamily="34" charset="-122"/>
                <a:cs typeface="Times New Roman" pitchFamily="18" charset="0"/>
              </a:rPr>
              <a:t>类</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是输入字符串流类，用于实现字符串对象的输入。它提供了三个构造函数，分别如下所示：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istringstream (openmode=ios_base::in);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istringstream (const string&amp; str, openmode=ios_base::in);	</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istringstream (istringstream&amp;&amp; x);</a:t>
            </a:r>
            <a:endParaRPr lang="zh-CN" altLang="zh-CN" sz="2400" dirty="0" smtClean="0">
              <a:solidFill>
                <a:srgbClr val="FF000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5200651" y="1619249"/>
            <a:ext cx="6000749" cy="40100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第一个构造函数带有一个默认参数，表示流的打开方式，默认值为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第二个构造函数带有两个参数，其中，第一个参数为</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string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对象的引用，第二个参数是流的打开模式，默认值为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ios</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::in</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第三个构造函数为移动构造函数。需要注意的是，字符串流类都不支持拷贝构造。</a:t>
            </a:r>
          </a:p>
        </p:txBody>
      </p:sp>
      <p:pic>
        <p:nvPicPr>
          <p:cNvPr id="405506" name="Picture 2"/>
          <p:cNvPicPr>
            <a:picLocks noChangeAspect="1" noChangeArrowheads="1"/>
          </p:cNvPicPr>
          <p:nvPr/>
        </p:nvPicPr>
        <p:blipFill>
          <a:blip r:embed="rId4" cstate="print"/>
          <a:srcRect/>
          <a:stretch>
            <a:fillRect/>
          </a:stretch>
        </p:blipFill>
        <p:spPr bwMode="auto">
          <a:xfrm>
            <a:off x="1724025" y="1533525"/>
            <a:ext cx="3030263" cy="411597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5506"/>
                                        </p:tgtEl>
                                        <p:attrNameLst>
                                          <p:attrName>style.visibility</p:attrName>
                                        </p:attrNameLst>
                                      </p:cBhvr>
                                      <p:to>
                                        <p:strVal val="visible"/>
                                      </p:to>
                                    </p:set>
                                    <p:animEffect transition="in" filter="wipe(up)">
                                      <p:cBhvr>
                                        <p:cTn id="7" dur="500"/>
                                        <p:tgtEl>
                                          <p:spTgt spid="40550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p:cNvSpPr txBox="1">
            <a:spLocks/>
          </p:cNvSpPr>
          <p:nvPr/>
        </p:nvSpPr>
        <p:spPr>
          <a:xfrm>
            <a:off x="2133601" y="1619249"/>
            <a:ext cx="4714874" cy="354330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类一个典型的用法就是将一个数字字符串转换成对应的数值，相比于</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语言的数字和字符串转换函数，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类具有模板亲和性，转换效率更高而且更安全。</a:t>
            </a:r>
          </a:p>
        </p:txBody>
      </p:sp>
      <p:pic>
        <p:nvPicPr>
          <p:cNvPr id="406530" name="Picture 2"/>
          <p:cNvPicPr>
            <a:picLocks noChangeAspect="1" noChangeArrowheads="1"/>
          </p:cNvPicPr>
          <p:nvPr/>
        </p:nvPicPr>
        <p:blipFill>
          <a:blip r:embed="rId4" cstate="print"/>
          <a:srcRect/>
          <a:stretch>
            <a:fillRect/>
          </a:stretch>
        </p:blipFill>
        <p:spPr bwMode="auto">
          <a:xfrm>
            <a:off x="7345283" y="1719263"/>
            <a:ext cx="3856117" cy="3357562"/>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06530"/>
                                        </p:tgtEl>
                                        <p:attrNameLst>
                                          <p:attrName>style.visibility</p:attrName>
                                        </p:attrNameLst>
                                      </p:cBhvr>
                                      <p:to>
                                        <p:strVal val="visible"/>
                                      </p:to>
                                    </p:set>
                                    <p:animEffect transition="in" filter="wipe(down)">
                                      <p:cBhvr>
                                        <p:cTn id="11" dur="500"/>
                                        <p:tgtEl>
                                          <p:spTgt spid="406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9" name="组合 8"/>
          <p:cNvGrpSpPr/>
          <p:nvPr/>
        </p:nvGrpSpPr>
        <p:grpSpPr>
          <a:xfrm>
            <a:off x="1743075" y="1182652"/>
            <a:ext cx="9734549" cy="5404757"/>
            <a:chOff x="1676400" y="1266825"/>
            <a:chExt cx="9734549" cy="5404757"/>
          </a:xfrm>
        </p:grpSpPr>
        <p:pic>
          <p:nvPicPr>
            <p:cNvPr id="407554" name="Picture 2"/>
            <p:cNvPicPr>
              <a:picLocks noChangeAspect="1" noChangeArrowheads="1"/>
            </p:cNvPicPr>
            <p:nvPr/>
          </p:nvPicPr>
          <p:blipFill>
            <a:blip r:embed="rId4" cstate="print"/>
            <a:srcRect/>
            <a:stretch>
              <a:fillRect/>
            </a:stretch>
          </p:blipFill>
          <p:spPr bwMode="auto">
            <a:xfrm>
              <a:off x="1676400" y="1276349"/>
              <a:ext cx="9734549" cy="5395233"/>
            </a:xfrm>
            <a:prstGeom prst="rect">
              <a:avLst/>
            </a:prstGeom>
            <a:noFill/>
            <a:ln w="9525">
              <a:noFill/>
              <a:miter lim="800000"/>
              <a:headEnd/>
              <a:tailEnd/>
            </a:ln>
          </p:spPr>
        </p:pic>
        <p:sp>
          <p:nvSpPr>
            <p:cNvPr id="8" name="内容占位符 2"/>
            <p:cNvSpPr txBox="1">
              <a:spLocks/>
            </p:cNvSpPr>
            <p:nvPr/>
          </p:nvSpPr>
          <p:spPr>
            <a:xfrm>
              <a:off x="2133601" y="1266825"/>
              <a:ext cx="9163050" cy="50863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8-8   istringstream.cpp</a:t>
              </a:r>
              <a:endParaRPr lang="en-US" altLang="zh-CN" sz="1800" dirty="0" smtClean="0">
                <a:solidFill>
                  <a:srgbClr val="FF000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inline 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(const string &amp;</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istringstream</a:t>
              </a:r>
              <a:r>
                <a:rPr lang="en-US" altLang="zh-CN" sz="1800" dirty="0" smtClean="0">
                  <a:solidFill>
                    <a:srgbClr val="FF0000"/>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istr</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err="1" smtClean="0">
                  <a:solidFill>
                    <a:srgbClr val="FF0000"/>
                  </a:solidFill>
                  <a:latin typeface="微软雅黑" pitchFamily="34" charset="-122"/>
                  <a:ea typeface="微软雅黑" pitchFamily="34" charset="-122"/>
                  <a:cs typeface="Times New Roman" pitchFamily="18" charset="0"/>
                </a:rPr>
                <a:t>str</a:t>
              </a:r>
              <a:r>
                <a:rPr lang="en-US" altLang="zh-CN" sz="1800" dirty="0" smtClean="0">
                  <a:solidFill>
                    <a:srgbClr val="FF0000"/>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类对象</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istr</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rgbClr val="FF0000"/>
                  </a:solidFill>
                  <a:latin typeface="微软雅黑" pitchFamily="34" charset="-122"/>
                  <a:ea typeface="微软雅黑" pitchFamily="34" charset="-122"/>
                  <a:cs typeface="Times New Roman" pitchFamily="18" charset="0"/>
                </a:rPr>
                <a:t>T </a:t>
              </a:r>
              <a:r>
                <a:rPr lang="en-US" altLang="zh-CN" sz="1800" dirty="0" err="1" smtClean="0">
                  <a:solidFill>
                    <a:srgbClr val="FF0000"/>
                  </a:solidFill>
                  <a:latin typeface="微软雅黑" pitchFamily="34" charset="-122"/>
                  <a:ea typeface="微软雅黑" pitchFamily="34" charset="-122"/>
                  <a:cs typeface="Times New Roman" pitchFamily="18" charset="0"/>
                </a:rPr>
                <a:t>t</a:t>
              </a:r>
              <a:r>
                <a:rPr lang="en-US" altLang="zh-CN" sz="1800" dirty="0" smtClean="0">
                  <a:solidFill>
                    <a:srgbClr val="FF0000"/>
                  </a:solidFill>
                  <a:latin typeface="微软雅黑" pitchFamily="34" charset="-122"/>
                  <a:ea typeface="微软雅黑" pitchFamily="34" charset="-122"/>
                  <a:cs typeface="Times New Roman" pitchFamily="18" charset="0"/>
                </a:rPr>
                <a:t>;	</a:t>
              </a:r>
              <a:r>
                <a:rPr lang="en-US" altLang="zh-CN" sz="1800" dirty="0" err="1" smtClean="0">
                  <a:solidFill>
                    <a:srgbClr val="FF0000"/>
                  </a:solidFill>
                  <a:latin typeface="微软雅黑" pitchFamily="34" charset="-122"/>
                  <a:ea typeface="微软雅黑" pitchFamily="34" charset="-122"/>
                  <a:cs typeface="Times New Roman" pitchFamily="18" charset="0"/>
                </a:rPr>
                <a:t>istr</a:t>
              </a:r>
              <a:r>
                <a:rPr lang="en-US" altLang="zh-CN" sz="1800" dirty="0" smtClean="0">
                  <a:solidFill>
                    <a:srgbClr val="FF0000"/>
                  </a:solidFill>
                  <a:latin typeface="微软雅黑" pitchFamily="34" charset="-122"/>
                  <a:ea typeface="微软雅黑" pitchFamily="34" charset="-122"/>
                  <a:cs typeface="Times New Roman" pitchFamily="18" charset="0"/>
                </a:rPr>
                <a:t>&gt;&gt;t;		return 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main( )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num=</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&gt;("10");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将字符串</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"10"</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转换成数值</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10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&lt;&lt;"num="&lt;&lt;num&lt;&lt;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double d=</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&lt;double&gt;("3.14");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将字符串</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"3.14"</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转换成数值</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3.14</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&lt;&lt;"d="&lt;&lt;d&lt;&lt;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float f=</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&lt;float&gt;("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abc</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&lt;&lt;"f="&lt;&lt;f&lt;&lt;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zh-CN" altLang="zh-CN" sz="1800" dirty="0" err="1" smtClean="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1657350" y="1638300"/>
            <a:ext cx="9972675" cy="3667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定义了模板函数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函数，用于将字符串转换为对应的数值。</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main()</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函数中，第一次</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函数将字符串</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“10”</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转换为整型数据</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10</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第二次</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函数将字符串</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“3.14”</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转换为</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类型数据；</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第三次</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swapString</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函数将字符串</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ab</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转换为</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float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类型数据。</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前两次调用都会转换成功，最后一次调用会转换失败，因为“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ab</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”不是数值类型的字符串。</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1657350" y="1638300"/>
            <a:ext cx="9972675" cy="3667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ostringstream</a:t>
            </a:r>
            <a:r>
              <a:rPr lang="zh-CN" altLang="zh-CN" sz="2400" dirty="0" smtClean="0">
                <a:solidFill>
                  <a:srgbClr val="FF0000"/>
                </a:solidFill>
                <a:latin typeface="微软雅黑" pitchFamily="34" charset="-122"/>
                <a:ea typeface="微软雅黑" pitchFamily="34" charset="-122"/>
                <a:cs typeface="Times New Roman" pitchFamily="18" charset="0"/>
              </a:rPr>
              <a:t>类</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是输出字符串流类，用于实现字符串对象的输出。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类也提供了三个构造函数，分别如下所示：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ostringstream(openmode=ios_base::out);</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ostringstream(const string＆str，openmode=ios_base::out);</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ostringstream (ostringstream&amp;&amp; x);</a:t>
            </a:r>
            <a:endParaRPr lang="zh-CN" altLang="zh-CN" sz="2400" dirty="0" smtClean="0">
              <a:solidFill>
                <a:srgbClr val="FF000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1657350" y="1638300"/>
            <a:ext cx="9972675" cy="3667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类构造函数的参数含义与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类相同。除了构造函数，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类还提供了一个比较常用的成员函数</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函数用于获取</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流缓冲区中的内容副本，其声明如下所示：</a:t>
            </a: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string str() const;</a:t>
            </a:r>
            <a:endParaRPr lang="zh-CN"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在上述函数声明中，</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函数取出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流缓冲区的数据后，并不对数据进行修改，取出的数据可以存储到到一个</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string</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对象中。</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zh-CN" altLang="zh-CN" sz="2400" dirty="0" smtClean="0">
              <a:solidFill>
                <a:srgbClr val="FF000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 name="组合 6"/>
          <p:cNvGrpSpPr/>
          <p:nvPr/>
        </p:nvGrpSpPr>
        <p:grpSpPr>
          <a:xfrm>
            <a:off x="1743075" y="1381125"/>
            <a:ext cx="9629776" cy="4721095"/>
            <a:chOff x="1743075" y="1381125"/>
            <a:chExt cx="9629776" cy="4721095"/>
          </a:xfrm>
        </p:grpSpPr>
        <p:pic>
          <p:nvPicPr>
            <p:cNvPr id="408578" name="Picture 2"/>
            <p:cNvPicPr>
              <a:picLocks noChangeAspect="1" noChangeArrowheads="1"/>
            </p:cNvPicPr>
            <p:nvPr/>
          </p:nvPicPr>
          <p:blipFill>
            <a:blip r:embed="rId4" cstate="print"/>
            <a:srcRect/>
            <a:stretch>
              <a:fillRect/>
            </a:stretch>
          </p:blipFill>
          <p:spPr bwMode="auto">
            <a:xfrm>
              <a:off x="1743075" y="1381125"/>
              <a:ext cx="9563099" cy="4721095"/>
            </a:xfrm>
            <a:prstGeom prst="rect">
              <a:avLst/>
            </a:prstGeom>
            <a:noFill/>
            <a:ln w="9525">
              <a:noFill/>
              <a:miter lim="800000"/>
              <a:headEnd/>
              <a:tailEnd/>
            </a:ln>
          </p:spPr>
        </p:pic>
        <p:sp>
          <p:nvSpPr>
            <p:cNvPr id="9" name="内容占位符 2"/>
            <p:cNvSpPr txBox="1">
              <a:spLocks/>
            </p:cNvSpPr>
            <p:nvPr/>
          </p:nvSpPr>
          <p:spPr>
            <a:xfrm>
              <a:off x="2019301" y="1485900"/>
              <a:ext cx="9353550" cy="42862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8-9    ostringstream.cpp</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main( )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00B0F0"/>
                  </a:solidFill>
                  <a:latin typeface="微软雅黑" pitchFamily="34" charset="-122"/>
                  <a:ea typeface="微软雅黑" pitchFamily="34" charset="-122"/>
                  <a:cs typeface="Times New Roman" pitchFamily="18" charset="0"/>
                </a:rPr>
                <a:t>ostringstream</a:t>
              </a:r>
              <a:r>
                <a:rPr lang="en-US" altLang="zh-CN" sz="1800" dirty="0" smtClean="0">
                  <a:solidFill>
                    <a:srgbClr val="00B0F0"/>
                  </a:solidFill>
                  <a:latin typeface="微软雅黑" pitchFamily="34" charset="-122"/>
                  <a:ea typeface="微软雅黑" pitchFamily="34" charset="-122"/>
                  <a:cs typeface="Times New Roman" pitchFamily="18" charset="0"/>
                </a:rPr>
                <a:t> </a:t>
              </a:r>
              <a:r>
                <a:rPr lang="en-US" altLang="zh-CN" sz="1800" dirty="0" err="1" smtClean="0">
                  <a:solidFill>
                    <a:srgbClr val="00B0F0"/>
                  </a:solidFill>
                  <a:latin typeface="微软雅黑" pitchFamily="34" charset="-122"/>
                  <a:ea typeface="微软雅黑" pitchFamily="34" charset="-122"/>
                  <a:cs typeface="Times New Roman" pitchFamily="18" charset="0"/>
                </a:rPr>
                <a:t>ostr</a:t>
              </a:r>
              <a:r>
                <a:rPr lang="en-US" altLang="zh-CN" sz="1800" dirty="0" smtClean="0">
                  <a:solidFill>
                    <a:srgbClr val="00B0F0"/>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类对象</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string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创建</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string</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类对象</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请输入一个字符串</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cin,str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getline</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函数从键盘为</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输入内容</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rgbClr val="00B0F0"/>
                  </a:solidFill>
                  <a:latin typeface="微软雅黑" pitchFamily="34" charset="-122"/>
                  <a:ea typeface="微软雅黑" pitchFamily="34" charset="-122"/>
                  <a:cs typeface="Times New Roman" pitchFamily="18" charset="0"/>
                </a:rPr>
                <a:t>ostr</a:t>
              </a:r>
              <a:r>
                <a:rPr lang="en-US" altLang="zh-CN" sz="1800" dirty="0" smtClean="0">
                  <a:solidFill>
                    <a:srgbClr val="00B0F0"/>
                  </a:solidFill>
                  <a:latin typeface="微软雅黑" pitchFamily="34" charset="-122"/>
                  <a:ea typeface="微软雅黑" pitchFamily="34" charset="-122"/>
                  <a:cs typeface="Times New Roman" pitchFamily="18" charset="0"/>
                </a:rPr>
                <a:t>&lt;&lt;</a:t>
              </a:r>
              <a:r>
                <a:rPr lang="en-US" altLang="zh-CN" sz="1800" dirty="0" err="1" smtClean="0">
                  <a:solidFill>
                    <a:srgbClr val="00B0F0"/>
                  </a:solidFill>
                  <a:latin typeface="微软雅黑" pitchFamily="34" charset="-122"/>
                  <a:ea typeface="微软雅黑" pitchFamily="34" charset="-122"/>
                  <a:cs typeface="Times New Roman" pitchFamily="18" charset="0"/>
                </a:rPr>
                <a:t>str</a:t>
              </a:r>
              <a:r>
                <a:rPr lang="en-US" altLang="zh-CN" sz="1800" dirty="0" smtClean="0">
                  <a:solidFill>
                    <a:srgbClr val="00B0F0"/>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将</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内容插入到</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ostr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流对象中</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string result=</a:t>
              </a:r>
              <a:r>
                <a:rPr lang="en-US" altLang="zh-CN" sz="1800" dirty="0" smtClean="0">
                  <a:solidFill>
                    <a:srgbClr val="00B0F0"/>
                  </a:solidFill>
                  <a:latin typeface="微软雅黑" pitchFamily="34" charset="-122"/>
                  <a:ea typeface="微软雅黑" pitchFamily="34" charset="-122"/>
                  <a:cs typeface="Times New Roman" pitchFamily="18" charset="0"/>
                </a:rPr>
                <a:t>ostr.str();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str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成员函数获取</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ostr</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对象缓冲区内容</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&lt;&lt;result&lt;&lt;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输出获取的内容</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p>
            <a:p>
              <a:pPr marL="0" indent="0" eaLnBrk="1" hangingPunct="1">
                <a:lnSpc>
                  <a:spcPct val="150000"/>
                </a:lnSpc>
                <a:spcBef>
                  <a:spcPct val="0"/>
                </a:spcBef>
                <a:buNone/>
                <a:defRPr/>
              </a:pPr>
              <a:endParaRPr lang="zh-CN" altLang="zh-CN" sz="1800" dirty="0" smtClean="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1628776" y="1428750"/>
            <a:ext cx="10191750" cy="42671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3</a:t>
            </a:r>
            <a:r>
              <a:rPr lang="en-US" altLang="zh-CN" sz="2400" dirty="0">
                <a:solidFill>
                  <a:srgbClr val="FF0000"/>
                </a:solidFill>
                <a:latin typeface="微软雅黑" pitchFamily="34" charset="-122"/>
                <a:ea typeface="微软雅黑" pitchFamily="34" charset="-122"/>
                <a:cs typeface="Times New Roman" pitchFamily="18" charset="0"/>
              </a:rPr>
              <a:t>.</a:t>
            </a:r>
            <a:r>
              <a:rPr lang="en-US" altLang="zh-CN" sz="2400" dirty="0" smtClean="0">
                <a:solidFill>
                  <a:srgbClr val="FF0000"/>
                </a:solidFill>
                <a:latin typeface="微软雅黑" pitchFamily="34" charset="-122"/>
                <a:ea typeface="微软雅黑" pitchFamily="34" charset="-122"/>
                <a:cs typeface="Times New Roman" pitchFamily="18" charset="0"/>
              </a:rPr>
              <a:t>stringstream</a:t>
            </a:r>
            <a:r>
              <a:rPr lang="zh-CN" altLang="zh-CN" sz="2400" dirty="0" smtClean="0">
                <a:solidFill>
                  <a:srgbClr val="FF0000"/>
                </a:solidFill>
                <a:latin typeface="微软雅黑" pitchFamily="34" charset="-122"/>
                <a:ea typeface="微软雅黑" pitchFamily="34" charset="-122"/>
                <a:cs typeface="Times New Roman" pitchFamily="18" charset="0"/>
              </a:rPr>
              <a:t>类</a:t>
            </a: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类是输入输出字符串流类，可同时实现字符串对象的输入输出。</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类也提供了三个构造函数，分别如下所示：</a:t>
            </a:r>
          </a:p>
          <a:p>
            <a:pPr marL="0" indent="0" eaLnBrk="1" hangingPunct="1">
              <a:lnSpc>
                <a:spcPct val="150000"/>
              </a:lnSpc>
              <a:spcBef>
                <a:spcPct val="0"/>
              </a:spcBef>
              <a:buNone/>
              <a:defRPr/>
            </a:pPr>
            <a:r>
              <a:rPr lang="x-none" altLang="zh-CN" sz="1800" dirty="0" smtClean="0">
                <a:solidFill>
                  <a:srgbClr val="FF0000"/>
                </a:solidFill>
                <a:latin typeface="微软雅黑" pitchFamily="34" charset="-122"/>
                <a:ea typeface="微软雅黑" pitchFamily="34" charset="-122"/>
                <a:cs typeface="Times New Roman" pitchFamily="18" charset="0"/>
              </a:rPr>
              <a:t>stringstream (openmode= ios_base::in|ios_base::out);</a:t>
            </a:r>
            <a:endParaRPr lang="zh-CN" altLang="zh-CN" sz="18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FF0000"/>
                </a:solidFill>
                <a:latin typeface="微软雅黑" pitchFamily="34" charset="-122"/>
                <a:ea typeface="微软雅黑" pitchFamily="34" charset="-122"/>
                <a:cs typeface="Times New Roman" pitchFamily="18" charset="0"/>
              </a:rPr>
              <a:t>stringstream (const string&amp; str,openmode= ios_base::in|ios_base::out);</a:t>
            </a:r>
            <a:endParaRPr lang="zh-CN" altLang="zh-CN" sz="18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FF0000"/>
                </a:solidFill>
                <a:latin typeface="微软雅黑" pitchFamily="34" charset="-122"/>
                <a:ea typeface="微软雅黑" pitchFamily="34" charset="-122"/>
                <a:cs typeface="Times New Roman" pitchFamily="18" charset="0"/>
              </a:rPr>
              <a:t>stringstream (stringstream&amp;&amp; x);</a:t>
            </a:r>
            <a:endParaRPr lang="zh-CN" altLang="zh-CN" sz="18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类构造函数的参数含义与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类相同。</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类包括了</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istringstream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类与</a:t>
            </a:r>
            <a:r>
              <a:rPr lang="en-US" altLang="zh-CN" sz="2400" dirty="0" err="1" smtClean="0">
                <a:solidFill>
                  <a:schemeClr val="bg1">
                    <a:lumMod val="50000"/>
                  </a:schemeClr>
                </a:solidFill>
                <a:latin typeface="微软雅黑" pitchFamily="34" charset="-122"/>
                <a:ea typeface="微软雅黑" pitchFamily="34" charset="-122"/>
                <a:cs typeface="Times New Roman" pitchFamily="18" charset="0"/>
              </a:rPr>
              <a:t>ostringstream</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类的功能</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463600"/>
            <a:ext cx="47879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8.4 </a:t>
            </a:r>
            <a:r>
              <a:rPr lang="zh-CN" altLang="en-US" sz="3200" b="1" dirty="0" smtClean="0">
                <a:solidFill>
                  <a:srgbClr val="1353A2"/>
                </a:solidFill>
                <a:latin typeface="微软雅黑" pitchFamily="34" charset="-122"/>
                <a:ea typeface="微软雅黑" pitchFamily="34" charset="-122"/>
              </a:rPr>
              <a:t>字符串流</a:t>
            </a:r>
            <a:endParaRPr lang="zh-CN" altLang="en-US" sz="3200" b="1" kern="1200" dirty="0">
              <a:solidFill>
                <a:srgbClr val="1353A2"/>
              </a:solidFill>
              <a:latin typeface="微软雅黑" pitchFamily="34" charset="-122"/>
              <a:ea typeface="微软雅黑" pitchFamily="34" charset="-122"/>
            </a:endParaRPr>
          </a:p>
        </p:txBody>
      </p:sp>
      <p:sp>
        <p:nvSpPr>
          <p:cNvPr id="2969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0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内容占位符 2"/>
          <p:cNvSpPr txBox="1">
            <a:spLocks/>
          </p:cNvSpPr>
          <p:nvPr/>
        </p:nvSpPr>
        <p:spPr>
          <a:xfrm>
            <a:off x="5133975" y="1857375"/>
            <a:ext cx="5724525" cy="35337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itchFamily="49" charset="-122"/>
                <a:ea typeface="楷体" pitchFamily="49" charset="-122"/>
                <a:cs typeface="Times New Roman" pitchFamily="18" charset="0"/>
              </a:rPr>
              <a:t>在</a:t>
            </a:r>
            <a:r>
              <a:rPr lang="en-US" altLang="zh-CN" sz="2400" dirty="0" smtClean="0">
                <a:solidFill>
                  <a:schemeClr val="bg1">
                    <a:lumMod val="50000"/>
                  </a:schemeClr>
                </a:solidFill>
                <a:latin typeface="楷体" pitchFamily="49" charset="-122"/>
                <a:ea typeface="楷体" pitchFamily="49" charset="-122"/>
                <a:cs typeface="Times New Roman" pitchFamily="18" charset="0"/>
              </a:rPr>
              <a:t>C++98</a:t>
            </a:r>
            <a:r>
              <a:rPr lang="zh-CN" altLang="zh-CN" sz="2400" dirty="0" smtClean="0">
                <a:solidFill>
                  <a:schemeClr val="bg1">
                    <a:lumMod val="50000"/>
                  </a:schemeClr>
                </a:solidFill>
                <a:latin typeface="楷体" pitchFamily="49" charset="-122"/>
                <a:ea typeface="楷体" pitchFamily="49" charset="-122"/>
                <a:cs typeface="Times New Roman" pitchFamily="18" charset="0"/>
              </a:rPr>
              <a:t>标准之前，</a:t>
            </a:r>
            <a:r>
              <a:rPr lang="en-US" altLang="zh-CN" sz="2400" dirty="0" smtClean="0">
                <a:solidFill>
                  <a:schemeClr val="bg1">
                    <a:lumMod val="50000"/>
                  </a:schemeClr>
                </a:solidFill>
                <a:latin typeface="楷体" pitchFamily="49" charset="-122"/>
                <a:ea typeface="楷体" pitchFamily="49" charset="-122"/>
                <a:cs typeface="Times New Roman" pitchFamily="18" charset="0"/>
              </a:rPr>
              <a:t>C++</a:t>
            </a:r>
            <a:r>
              <a:rPr lang="zh-CN" altLang="zh-CN" sz="2400" dirty="0" smtClean="0">
                <a:solidFill>
                  <a:schemeClr val="bg1">
                    <a:lumMod val="50000"/>
                  </a:schemeClr>
                </a:solidFill>
                <a:latin typeface="楷体" pitchFamily="49" charset="-122"/>
                <a:ea typeface="楷体" pitchFamily="49" charset="-122"/>
                <a:cs typeface="Times New Roman" pitchFamily="18" charset="0"/>
              </a:rPr>
              <a:t>使用</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istrstream</a:t>
            </a:r>
            <a:r>
              <a:rPr lang="zh-CN" altLang="zh-CN" sz="2400" dirty="0" smtClean="0">
                <a:solidFill>
                  <a:schemeClr val="bg1">
                    <a:lumMod val="50000"/>
                  </a:schemeClr>
                </a:solidFill>
                <a:latin typeface="楷体" pitchFamily="49" charset="-122"/>
                <a:ea typeface="楷体" pitchFamily="49" charset="-122"/>
                <a:cs typeface="Times New Roman" pitchFamily="18" charset="0"/>
              </a:rPr>
              <a:t>、</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ostrstream</a:t>
            </a:r>
            <a:r>
              <a:rPr lang="zh-CN" altLang="zh-CN" sz="2400" dirty="0" smtClean="0">
                <a:solidFill>
                  <a:schemeClr val="bg1">
                    <a:lumMod val="50000"/>
                  </a:schemeClr>
                </a:solidFill>
                <a:latin typeface="楷体" pitchFamily="49" charset="-122"/>
                <a:ea typeface="楷体" pitchFamily="49" charset="-122"/>
                <a:cs typeface="Times New Roman" pitchFamily="18" charset="0"/>
              </a:rPr>
              <a:t>和</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strstream</a:t>
            </a:r>
            <a:r>
              <a:rPr lang="zh-CN" altLang="zh-CN" sz="2400" dirty="0" smtClean="0">
                <a:solidFill>
                  <a:schemeClr val="bg1">
                    <a:lumMod val="50000"/>
                  </a:schemeClr>
                </a:solidFill>
                <a:latin typeface="楷体" pitchFamily="49" charset="-122"/>
                <a:ea typeface="楷体" pitchFamily="49" charset="-122"/>
                <a:cs typeface="Times New Roman" pitchFamily="18" charset="0"/>
              </a:rPr>
              <a:t>三个类完成</a:t>
            </a:r>
            <a:r>
              <a:rPr lang="en-US" altLang="zh-CN" sz="2400" dirty="0" smtClean="0">
                <a:solidFill>
                  <a:schemeClr val="bg1">
                    <a:lumMod val="50000"/>
                  </a:schemeClr>
                </a:solidFill>
                <a:latin typeface="楷体" pitchFamily="49" charset="-122"/>
                <a:ea typeface="楷体" pitchFamily="49" charset="-122"/>
                <a:cs typeface="Times New Roman" pitchFamily="18" charset="0"/>
              </a:rPr>
              <a:t>string</a:t>
            </a:r>
            <a:r>
              <a:rPr lang="zh-CN" altLang="zh-CN" sz="2400" dirty="0" smtClean="0">
                <a:solidFill>
                  <a:schemeClr val="bg1">
                    <a:lumMod val="50000"/>
                  </a:schemeClr>
                </a:solidFill>
                <a:latin typeface="楷体" pitchFamily="49" charset="-122"/>
                <a:ea typeface="楷体" pitchFamily="49" charset="-122"/>
                <a:cs typeface="Times New Roman" pitchFamily="18" charset="0"/>
              </a:rPr>
              <a:t>对象的输入输出，但从</a:t>
            </a:r>
            <a:r>
              <a:rPr lang="en-US" altLang="zh-CN" sz="2400" dirty="0" smtClean="0">
                <a:solidFill>
                  <a:schemeClr val="bg1">
                    <a:lumMod val="50000"/>
                  </a:schemeClr>
                </a:solidFill>
                <a:latin typeface="楷体" pitchFamily="49" charset="-122"/>
                <a:ea typeface="楷体" pitchFamily="49" charset="-122"/>
                <a:cs typeface="Times New Roman" pitchFamily="18" charset="0"/>
              </a:rPr>
              <a:t>C++98</a:t>
            </a:r>
            <a:r>
              <a:rPr lang="zh-CN" altLang="zh-CN" sz="2400" dirty="0" smtClean="0">
                <a:solidFill>
                  <a:schemeClr val="bg1">
                    <a:lumMod val="50000"/>
                  </a:schemeClr>
                </a:solidFill>
                <a:latin typeface="楷体" pitchFamily="49" charset="-122"/>
                <a:ea typeface="楷体" pitchFamily="49" charset="-122"/>
                <a:cs typeface="Times New Roman" pitchFamily="18" charset="0"/>
              </a:rPr>
              <a:t>标准开始，这三个类被弃用了，取而代之的是</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istringstream</a:t>
            </a:r>
            <a:r>
              <a:rPr lang="zh-CN" altLang="zh-CN" sz="2400" dirty="0" smtClean="0">
                <a:solidFill>
                  <a:schemeClr val="bg1">
                    <a:lumMod val="50000"/>
                  </a:schemeClr>
                </a:solidFill>
                <a:latin typeface="楷体" pitchFamily="49" charset="-122"/>
                <a:ea typeface="楷体" pitchFamily="49" charset="-122"/>
                <a:cs typeface="Times New Roman" pitchFamily="18" charset="0"/>
              </a:rPr>
              <a:t>类、</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ostringstream</a:t>
            </a:r>
            <a:r>
              <a:rPr lang="zh-CN" altLang="zh-CN" sz="2400" dirty="0" smtClean="0">
                <a:solidFill>
                  <a:schemeClr val="bg1">
                    <a:lumMod val="50000"/>
                  </a:schemeClr>
                </a:solidFill>
                <a:latin typeface="楷体" pitchFamily="49" charset="-122"/>
                <a:ea typeface="楷体" pitchFamily="49" charset="-122"/>
                <a:cs typeface="Times New Roman" pitchFamily="18" charset="0"/>
              </a:rPr>
              <a:t>类和</a:t>
            </a:r>
            <a:r>
              <a:rPr lang="en-US" altLang="zh-CN" sz="2400" dirty="0" err="1" smtClean="0">
                <a:solidFill>
                  <a:schemeClr val="bg1">
                    <a:lumMod val="50000"/>
                  </a:schemeClr>
                </a:solidFill>
                <a:latin typeface="楷体" pitchFamily="49" charset="-122"/>
                <a:ea typeface="楷体" pitchFamily="49" charset="-122"/>
                <a:cs typeface="Times New Roman" pitchFamily="18" charset="0"/>
              </a:rPr>
              <a:t>stringstream</a:t>
            </a:r>
            <a:r>
              <a:rPr lang="zh-CN" altLang="zh-CN" sz="2400" dirty="0" smtClean="0">
                <a:solidFill>
                  <a:schemeClr val="bg1">
                    <a:lumMod val="50000"/>
                  </a:schemeClr>
                </a:solidFill>
                <a:latin typeface="楷体" pitchFamily="49" charset="-122"/>
                <a:ea typeface="楷体" pitchFamily="49" charset="-122"/>
                <a:cs typeface="Times New Roman" pitchFamily="18" charset="0"/>
              </a:rPr>
              <a:t>类。</a:t>
            </a:r>
          </a:p>
        </p:txBody>
      </p:sp>
      <p:pic>
        <p:nvPicPr>
          <p:cNvPr id="409602" name="Picture 2"/>
          <p:cNvPicPr>
            <a:picLocks noChangeAspect="1" noChangeArrowheads="1"/>
          </p:cNvPicPr>
          <p:nvPr/>
        </p:nvPicPr>
        <p:blipFill>
          <a:blip r:embed="rId4" cstate="print"/>
          <a:srcRect/>
          <a:stretch>
            <a:fillRect/>
          </a:stretch>
        </p:blipFill>
        <p:spPr bwMode="auto">
          <a:xfrm>
            <a:off x="2228850" y="1428750"/>
            <a:ext cx="2286000" cy="4101353"/>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780313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9602"/>
                                        </p:tgtEl>
                                        <p:attrNameLst>
                                          <p:attrName>style.visibility</p:attrName>
                                        </p:attrNameLst>
                                      </p:cBhvr>
                                      <p:to>
                                        <p:strVal val="visible"/>
                                      </p:to>
                                    </p:set>
                                    <p:animEffect transition="in" filter="wipe(up)">
                                      <p:cBhvr>
                                        <p:cTn id="7" dur="500"/>
                                        <p:tgtEl>
                                          <p:spTgt spid="40960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6071" y="1634705"/>
            <a:ext cx="4730773" cy="387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9338" y="500143"/>
            <a:ext cx="5903119" cy="584776"/>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微软雅黑" pitchFamily="34" charset="-122"/>
                <a:ea typeface="微软雅黑" pitchFamily="34" charset="-122"/>
              </a:rPr>
              <a:t>8.5 </a:t>
            </a:r>
            <a:r>
              <a:rPr lang="zh-CN" altLang="en-US" sz="3200" b="1" dirty="0" smtClean="0">
                <a:solidFill>
                  <a:srgbClr val="1353A2"/>
                </a:solidFill>
                <a:latin typeface="微软雅黑" pitchFamily="34" charset="-122"/>
                <a:ea typeface="微软雅黑" pitchFamily="34" charset="-122"/>
              </a:rPr>
              <a:t>本章小结</a:t>
            </a:r>
            <a:endParaRPr lang="zh-CN" altLang="en-US" sz="3200" b="1" dirty="0">
              <a:solidFill>
                <a:srgbClr val="1353A2"/>
              </a:solidFill>
              <a:latin typeface="微软雅黑" pitchFamily="34" charset="-122"/>
              <a:ea typeface="微软雅黑" pitchFamily="34" charset="-122"/>
            </a:endParaRPr>
          </a:p>
        </p:txBody>
      </p:sp>
      <p:sp>
        <p:nvSpPr>
          <p:cNvPr id="67" name="矩形 66"/>
          <p:cNvSpPr/>
          <p:nvPr/>
        </p:nvSpPr>
        <p:spPr>
          <a:xfrm>
            <a:off x="5532469" y="1889822"/>
            <a:ext cx="5745131" cy="332398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zh-CN" sz="2000" dirty="0" smtClean="0">
                <a:solidFill>
                  <a:srgbClr val="1353A2"/>
                </a:solidFill>
                <a:latin typeface="微软雅黑" pitchFamily="34" charset="-122"/>
                <a:ea typeface="微软雅黑" pitchFamily="34" charset="-122"/>
              </a:rPr>
              <a:t>本章主要讲解了</a:t>
            </a:r>
            <a:r>
              <a:rPr lang="en-US" altLang="zh-CN" sz="2000" dirty="0" smtClean="0">
                <a:solidFill>
                  <a:srgbClr val="1353A2"/>
                </a:solidFill>
                <a:latin typeface="微软雅黑" pitchFamily="34" charset="-122"/>
                <a:ea typeface="微软雅黑" pitchFamily="34" charset="-122"/>
              </a:rPr>
              <a:t>C++</a:t>
            </a:r>
            <a:r>
              <a:rPr lang="zh-CN" altLang="zh-CN" sz="2000" dirty="0" smtClean="0">
                <a:solidFill>
                  <a:srgbClr val="1353A2"/>
                </a:solidFill>
                <a:latin typeface="微软雅黑" pitchFamily="34" charset="-122"/>
                <a:ea typeface="微软雅黑" pitchFamily="34" charset="-122"/>
              </a:rPr>
              <a:t>中</a:t>
            </a:r>
            <a:r>
              <a:rPr lang="en-US" altLang="zh-CN" sz="2000" dirty="0" smtClean="0">
                <a:solidFill>
                  <a:srgbClr val="1353A2"/>
                </a:solidFill>
                <a:latin typeface="微软雅黑" pitchFamily="34" charset="-122"/>
                <a:ea typeface="微软雅黑" pitchFamily="34" charset="-122"/>
              </a:rPr>
              <a:t>I/O</a:t>
            </a:r>
            <a:r>
              <a:rPr lang="zh-CN" altLang="zh-CN" sz="2000" dirty="0" smtClean="0">
                <a:solidFill>
                  <a:srgbClr val="1353A2"/>
                </a:solidFill>
                <a:latin typeface="微软雅黑" pitchFamily="34" charset="-122"/>
                <a:ea typeface="微软雅黑" pitchFamily="34" charset="-122"/>
              </a:rPr>
              <a:t>流相关的知识。首先介绍了</a:t>
            </a:r>
            <a:r>
              <a:rPr lang="en-US" altLang="zh-CN" sz="2000" dirty="0" smtClean="0">
                <a:solidFill>
                  <a:srgbClr val="1353A2"/>
                </a:solidFill>
                <a:latin typeface="微软雅黑" pitchFamily="34" charset="-122"/>
                <a:ea typeface="微软雅黑" pitchFamily="34" charset="-122"/>
              </a:rPr>
              <a:t>I/O</a:t>
            </a:r>
            <a:r>
              <a:rPr lang="zh-CN" altLang="zh-CN" sz="2000" dirty="0" smtClean="0">
                <a:solidFill>
                  <a:srgbClr val="1353A2"/>
                </a:solidFill>
                <a:latin typeface="微软雅黑" pitchFamily="34" charset="-122"/>
                <a:ea typeface="微软雅黑" pitchFamily="34" charset="-122"/>
              </a:rPr>
              <a:t>流类库；其次讲解了标准</a:t>
            </a:r>
            <a:r>
              <a:rPr lang="en-US" altLang="zh-CN" sz="2000" dirty="0" smtClean="0">
                <a:solidFill>
                  <a:srgbClr val="1353A2"/>
                </a:solidFill>
                <a:latin typeface="微软雅黑" pitchFamily="34" charset="-122"/>
                <a:ea typeface="微软雅黑" pitchFamily="34" charset="-122"/>
              </a:rPr>
              <a:t>I/O</a:t>
            </a:r>
            <a:r>
              <a:rPr lang="zh-CN" altLang="zh-CN" sz="2000" dirty="0" smtClean="0">
                <a:solidFill>
                  <a:srgbClr val="1353A2"/>
                </a:solidFill>
                <a:latin typeface="微软雅黑" pitchFamily="34" charset="-122"/>
                <a:ea typeface="微软雅黑" pitchFamily="34" charset="-122"/>
              </a:rPr>
              <a:t>流，包括预定义流对象、标准输出流和标准输入流；然后讲解了文件流，包括文件流对象的创建、文件的打开与关闭、文本文件的读写、二进制文件的读写和文件的随机读写；最后介绍了字符串流。熟练掌握</a:t>
            </a:r>
            <a:r>
              <a:rPr lang="en-US" altLang="zh-CN" sz="2000" dirty="0" smtClean="0">
                <a:solidFill>
                  <a:srgbClr val="1353A2"/>
                </a:solidFill>
                <a:latin typeface="微软雅黑" pitchFamily="34" charset="-122"/>
                <a:ea typeface="微软雅黑" pitchFamily="34" charset="-122"/>
              </a:rPr>
              <a:t>I/O</a:t>
            </a:r>
            <a:r>
              <a:rPr lang="zh-CN" altLang="zh-CN" sz="2000" dirty="0" smtClean="0">
                <a:solidFill>
                  <a:srgbClr val="1353A2"/>
                </a:solidFill>
                <a:latin typeface="微软雅黑" pitchFamily="34" charset="-122"/>
                <a:ea typeface="微软雅黑" pitchFamily="34" charset="-122"/>
              </a:rPr>
              <a:t>流的使用，对编程非常重要。</a:t>
            </a:r>
            <a:endParaRPr lang="zh-CN" altLang="en-US" sz="2000" dirty="0">
              <a:solidFill>
                <a:srgbClr val="1353A2"/>
              </a:solidFill>
              <a:latin typeface="微软雅黑" pitchFamily="34" charset="-122"/>
              <a:ea typeface="微软雅黑" pitchFamily="34" charset="-122"/>
            </a:endParaRPr>
          </a:p>
        </p:txBody>
      </p:sp>
      <p:cxnSp>
        <p:nvCxnSpPr>
          <p:cNvPr id="94" name="直接连接符 71"/>
          <p:cNvCxnSpPr/>
          <p:nvPr/>
        </p:nvCxnSpPr>
        <p:spPr>
          <a:xfrm flipH="1">
            <a:off x="9202549" y="7121749"/>
            <a:ext cx="1474501" cy="1463953"/>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11069007" y="5941656"/>
            <a:ext cx="658541" cy="62690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707909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074740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UID" val="{8D62E317-9EB8-4EE3-A0B2-DEA7D8D8667A}"/>
  <p:tag name="ISPRING_RESOURCE_FOLDER" val="F:\7、计算机组装与维护\5、资源\2.PPT\ppt\第1章 认识计算机 教学PPT_薛蒙蒙_0827_1\"/>
  <p:tag name="ISPRING_RESOURCE_FOLDER_STATIC" val="F:\7、计算机组装与维护\5、资源\2.PPT\ppt\第1章 认识计算机 教学PPT_薛蒙蒙_0827_1\"/>
  <p:tag name="ISPRING_PRESENTATION_PATH" val="F:\7、计算机组装与维护\5、资源\2.PPT\ppt\第1章 认识计算机 教学PPT_薛蒙蒙_0827.pptx"/>
  <p:tag name="ISPRING_PROJECT_FOLDER_UPDATED" val="1"/>
  <p:tag name="ISPRING_PLAYERS_CUSTOMIZATION" val="UEsDBBQAAgAIAO9xSE3/6EwIKgQAAHYOAAAdAAAAdW5pdmVyc2FsL2NvbW1vbl9tZXNzYWdlcy5sbmetV1uP00YUfkfiP4wsUbUPXaASCKnZoEk8m1g4drAne+lF1mw8BAvHs7WdwPYJVS1i+wIStKItLVppu1upNK2QWlFW5ddsnOVf9NhOIAm0tnd5sJSx8n3n9p3jM6WLN7ou6nM/cIS3KJ1dOCMh7rWF7XidRalFl96/IKEgZJ7NXOHxRckTErpYPnmi5DKv02MdDr9PnkCo1OVBAMegHJ9enZFjL0rNilXVG02srVmqXtOtilKTylXR3WDeJlJFR3ziv/vB+Qs3zp47/17p9BiZh8hsYFWdpUIJ07kzOYg0auiqBWxEtTSySqXyO53ww/mnGI/eoqqiEak83NkbPXtyuHdr+MPzYhRNgyyDKy6Yn3syeVqGQTRqmaoiE0sxLU2nScJUQokslaMHvw/v7o7290b7vx08/frg6c3o8Xb0553DvduHgz+G/3yTZUA28Iqi1Syq66ppEU2evJHKo/170Y+PRvf3R4/vF6QxsEkM8O7e7ovvdo6AtRIRpPBo62b0cKsYSV2p1VV4aOzFi18fHDwbFCNoEg0SkB13g5gmrhGroq9CaUAjd3eLQPRLYGV7cDjYKYJaI2ZS+SyMhpeVGqaKrsXKMYhJDaWayGZN9FCbeUh47iZi7Tbg0IbP+47oBfCm7/Dr3EaB69g8KGbFJJdbIFgFq6mVq6zPUSgSyjEhcjwUXuWo4/Q5uODb3M+yAQ1UJXJcnsst5SNrCSsqkS2ol6yvWDRp9NgY8znyRIiY64o4ALDL7D7z2hyt8zbrBRxtwt9sx07+tsEg7NiTz3rO54iFqX/o1LjZNJmsnlo4nmsKVWFyrDDfg/FbkGqm1V8PttsLINIw5N2NMCuKqUwsvBUvjhtXE5vmfwaVpy7HjGjOftFwTJA4MeCrBy1fcUR+BGmAPqQy6TLHzY9StCUw1PR5wL2Q+0jxrhSwqeljAk2go3IsQ+ZnXFiGihTAr5CKqdA4x3w9cEKehUwKldb7zRppw4Lg8pC/0sk6vyKg/13O+lBEeO8EqXAWjmCskCAmkzUegdNzesyigUMdFsI6hsAl1+lC/HYOzlaDTDKYjteZTLzxyz/6/ssiH///M5L6bvCg1+UT2SRBZJGaBBvVulXFWpWA1Id3vo3+up0TBFKNfVKpaam4EsOjJ9vw9Y+++CV69HO09RwCHN76ajj4Oydhun/JZAkD6ThzOaHzjqT2YSf66WEhBmi+eOSQl0wfayLkwadZJBRXZnHJIQ9qvLFOcEX21qTs46xhSnG13gBlmIkQRM9vZ68D0wwNbFyC5k9WKqncYP41mBxUCLcQSxJ3PL3CYtaPtLhPExxvAMdRU6VpYVlOrjZwqXGd9rX0w2Ujloyw+I7jwh0nL1m1jjWYLnN83HbCgoTJQJ80O7Rdep4oLd7XXpvvL09BckMsnZ66MP4LUEsDBBQAAgAIAO9xSE2LtzoSDwQAANwPAAAnAAAAdW5pdmVyc2FsL2ZsYXNoX3B1Ymxpc2hpbmdfc2V0dGluZ3MueG1s5VdRaxtHEH7Xr1iupG/RyYldO+5JwdgSEZVl17rShFLM6m6s23pv93q7J0V5CiEJTV8aKIWShhZDavehdUugkNY0P6ZEkn9G53S2LFlyenJISSjiEDf7zbczs7Pf3lpXb/qcNCFUTIq8MZPNGQSEI10mGnnjI7t0ccEgSlPhUi4F5A0hDXK1kLGCqM6Z8mqgNUIVQRqhFgOdNzytg0XTbLVaWaaCMB6VPNLIr7KO9M0gBAVCQ2gGnLbxT7cDUEYhkyHESkyr0o04EOZiCILF0VFe4lR5hpnA6tTZboQyEu6y5DIkYaOeN95ZWIp/x5iEaoX5IOLkVAGNsVkvUtdlcTyU19gtIB6whoeBz88apMVc7eWNy7lLMQ3CzXGaPnmSBI1pliVmI/QRvw+aulTT5DWZUMNNrY4NicltC+ozx8YREhcgb6zYm7VKeaW4WV2zi7XNa/ZqJYlhCie7eN2ewsku25XiNPi09NdurBc3KuXqB5v22lrFLq+feGFFRwpimaMVs7CyMgodGBTM0l7k1wVlHLvtVBkVaOxXTsMG2LLEcBW3KFdgkM8CaHwYUc50G9s6h229DRAsqQAcvREvW97QYQTGCV1CiIHhWg56Yu7KoCfmF0ZSN5PZT9KaGKVFtaaOh82Dtn5oljlsOoZtSTGSWvxO6pK7g4TAr4NbpT4M7YnaNhMlRM4YZAsXgWOqSyGj3CBMY+rOwFlFdaWZ7u/C0jCSIBfudiCrtbFSOB4N1UjFB1WPG98pfFKVGtSnSSkS01nQ7re/dh7u9g72ege/vHj25Ytnt7s/7/Qe3e3+/tXh3heH+791/vomDc8NGRE/UpqgkgQcNBDtAfk8YrdIHbZkCIQDbaLmoJ0pojhzITsVcUCVOiGlOuEgF5IdUK6uFK9fIFoS6japcKYkx6UHP9Cvg59i7kLiFJzLFrhDFFgZh0YKSBthLnP7sDRpZs+9sudZVocKIgVvE+rg5lcEJbbJZKTQ0mQQp9QPUaXl82gT4irEzkeuhIl+zg3cPzhZ6EKYhi03c+ny7Nx78wtXFrPm37d3L77U6UgQ1zmNZ0sUcflMxU3ndUp3/8XpJeo75luSoR93pTs26eQT5Uj5xrXBMmPNmixhfaV9ExWs+8OP3QfPewdfd79/nKrZn+50Hz/o3vnpyPHR3c79e539P9L4dp7s9f58erh3v/Pd8zT4fv3TAN/l+v3TTyq/BmJPPSl3fKp8H+6mgfV29g/3n6RBboCKfCDrQ59eadw+pqHAA+GtgFbx7Gr0MyN4enHmM9yZb4VEnaUWr65u/4lCvdJHViJvr0ehzrWwb7yo/18qlrwNbjojVxvLnHiJjEd8JpiPdYw/WgY3z8LcbA4vSxOHMhlkG72RFzL/AFBLAwQUAAIACADvcUhNBOcD0bYCAABTCgAAIQAAAHVuaXZlcnNhbC9mbGFzaF9za2luX3NldHRpbmdzLnhtbJVWbU/bMBD+vl9Rdd8Jey2TTCUonYTEBhqI705yTaw6dmQ7Zf338yux26TNekKq757Hd763guSWsOWH2QwVnHLxDEoRVkmjCboZKa/neacUZxcFZwqYumBcNJjOlx9/2g/KLPIci+9ATOVscAG9m4X9TKF4H98WRsYIBW9azPYPvOIXOS62leAdK8+GVu9bEJSwrUZe/lis1qMOKJHqXkGTxLS+MjKN0gqQEkxI39dGzrIozoEGT5f2M5HTuzr9+gPajkiiLO3mk5ExWosrSJN8dWNkHM/07WlVFkZOExT8VRr65bORUSjFexDp5XdfjYwyeNu1/9MjreCVSWjKOV3Edw7luNTjZ6K6NHKWYB5kHJ2tgk+PfetdBPJf47lHZlwFp08mrwcLwRQ9p7BUogOUhZOzyZq/PXZKzwcsN5hKDYhVPehJB/2EOxmuSXU97g+8EVZGIK/oEa+cdg2sXLyx09TQE1arW7srYuy7LopQwM4roxB7ZY/8rfN6hIyUPfKZkhIeGd0fwQ8tjhNqfIt9NU+nX1uBYX0MCQunYDWeHszkysi1VwRMw0tYShPOC2nAlA1lVudCyo5iQgzvSIUV4eyXweV7+xiJsgODb7XhxkKKKApD/WZj1Fs6rpc9p+3orWk/ul+F/nHuPFN6iV/PsVK4qBv9qyTnM8/TU6ITM8+GGWZNajiIe7bhEcf6HiM1WGxBvHBOp7phXIGcej13szUGR1mUA5QNZxn5S4bSz7omB7HWVSMQ2ibVOVxNqprqP/VK4A3KlDBidExV6+sYJu9dGSl8CwAWRR161h2cpemoIhR2QL01UtgHj70MSd2jY+12ox5go+KG85pJHekXRd8pMS41DBBedVzDDGc5v4QVzqV9WTL3YQf3g59s5bDLTOvF3p3Ct1Jys7Yfp1ArzT+T/wBQSwMEFAACAAgA73FITaPtv2riAwAA7Q4AACYAAAB1bml2ZXJzYWwvaHRtbF9wdWJsaXNoaW5nX3NldHRpbmdzLnhtbN1X328bRRB+91+xOlTe6kv6g6Th7CpKHMXCdUJyiFYIReu7sW/p3u71ds+u+1ShUlFeqISQUKlAkUrCAwRUCakQ0T8G1Xb+DGZ9jhPHSTgHaNXKOlk7N/PtfLOz3946V2+HnDQhVkyKgjWdn7IICE/6TDQK1gfu0vlZiyhNhU+5FFCwhLTI1WLOiZIaZypYB63RVRGEEWou0gUr0Dqas+1Wq5VnKorNW8kTjfgq78nQjmJQIDTEdsRpG/90OwJlFXM5QpzUdE36CQfCfExBMJMd5cs65JadetWod7MRy0T4C5LLmMSNWsF6a3be/PZ9UqRFFoIw3FQRjcas56jvM5MO5evsDpAAWCPAvGcuWaTFfB0UrItTFwwMutvjMH3wlAM1MAsSyQg9wA9BU59qmg7TCTXc1mrfkJr8tqAh81x8Qwz/grXobqxXyouljeqKW1rfWHavVdIcJghyS9fdCYLcslspTeKfFX75xmpprVKuvrfhrqxU3PLqQRRWdKQgjj1aMQcrK5PYg2HBHB0kYU1QxrHZjpRRgcZ25TRugCuXGK5inXIFFvkkgsb7CeVMt7Grp7CrbwJE8yoCT6+ZZStYOk7AOoBLATExXMthT1y+MuyJmdkR6nY6+wGtY7N0qNbUC7B50NZPzbEPm/bd6lKMUDNjUpPcHxKqY5U5cpmPGeUWYRq5ecO32lRALzGO9Tex0/m60GPkvIDGaqSGwzqaVvaKH1WlBvVxSi41neTa/eaXzsOt3u52b/fnF8++ePHsbvenzd6je93fvtzb/nxv59fOn19nwbkhExImShOUhoiDBqIDILcSdofUoC5jIBxoE0UE7UwRxZkP+YmAI6rUASjVKQY5l/Z0ubpYun6OaEmo36TCmxAcFxPCSP8f+BS5C4lTcC5b4B+CwMp4NFFA2ujmM7/vloVm/swre5Zl9aggUvA2oR5uZ0VQNJtMJgotTQaGUj9FlRUvoE0wVTDBg1DCRJ9zAw8JnCz2Ic6CNjV94eKly+/MzF6Zy9t/3d06f2rQQOJWOTWzpRq3cKKGZos6oqT/EHSKno7FLsk4NF3pj016/Bkx0LJxbXBsoyTHi1JfO1+OJnW//6H74Hlv96vud48zte/Tze7jB91PfxwEPrrXuf9ZZ+f3LLGdJ9u9P57ubd/vfPs8i3+/olkc3+b63aNPprgG+h55Mu7hTHwfbmVx623u7O08yeK5BioJgawe+jzKEvYhjQVK/GvhWsXTqNFnRvA84ixkuNdeC9E5af//e716KZpz+odQqkj/keacaalevfC+sTVIR8Mbw8gVwbGPvYzl0D56RS3m/gZQSwMEFAACAAgA73FITQ/kWSCZAQAAHQYAAB8AAAB1bml2ZXJzYWwvaHRtbF9za2luX3NldHRpbmdzLmpzjZRNb8IwDIbv/AqUXSfEPrvthgaTJnGYNG7TDmkxpSJNoiR0MMR/Xx2+mtYdxJfm7dPXsStn0+mWiyWs+9Ld+Ge//wj3XgPUnFnCdaiLFj1HnVmRTWGS5SAyCayGFIdPj/L2RFDGTHrTeP2JtrbixxS+mXFhq7gmLAyhWUIrCO2HSrKixN+gtH1Zu5IqfY6XzinZS5R0IF1PKpNzz7CrN7+qFdZgVYA5g854AoFp5FcbeXJ8iDCqXKJyzeV6rFLVi3mySI1aymlb/vlagyn/+GIH9J+j11FgJzLr3h3k9cSjJ4x2UhuwFvZ5H0cYJCx4DKLi2/frHzQwbhZUo4vMZu5AD24wqrTmKTS69DTACDFZejW6GWE0OQcrtyPubjECQvA1mIbV8B4jAJVe6gt+oDYqxY400GbPj6hQfJrJdJ+6j0FyeFi0beveqVB//CELRkjVRmhOjGnednNcMPaOHFxbyzqmZl5QoqRERSTWFFiQp3H1awT3X13GnePJPC9vh/JqLNvAzQLMRClRHv/73EGLo7jL1dn+AVBLAwQUAAIACADvcUhNGtrqO6oAAAAfAQAAGgAAAHVuaXZlcnNhbC9pMThuX3ByZXNldHMueG1snY8xD8IgEIV3fgW5XbBb0wDdTNwcdDYVUUno0XDU+vOF1Bhnh0vuXd73Xk71rzHwp0vkI2poxBa4QxuvHu8aTsfdpgVOecDrECI6DRiB94Yp37R4SI5cJl4ikDQ8cp46KZdlEZ6mVBIohjmXYBI2jrLMGFFWUk4rCivb+b/ozw0MY5yry+xD3qMpe1GrhVOyGipzdig83iLIalDy667KzpRLRRFK/jxm2BtQSwMEFAACAAgA73FITZQTsyJpAAAAbgAAABwAAAB1bml2ZXJzYWwvbG9jYWxfc2V0dGluZ3MueG1sDcwxDoMwDEDRnVNY3int1oHAxlaW0gNYxEWRHBuRgOD2ZPvD02/7MwocvKVg6vD1eCKwzuaDLg5/01C/EVIm9SSm7FANoe+qVmwm+XLOBSZYhS7eJo4lMo8Uixx2EajhU17/wB6brroBUEsDBBQAAgAIAKBhr0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O9xSE0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73FITe7Vv9acGQAA8D4AABcAAAB1bml2ZXJzYWwvdW5pdmVyc2FsLnBuZ+17f1jSV/83u9ty3/XDWpmYP7idrZqWjlxaqdBWd9ZaulrmSoWSlJoikYkoArU2TUSpNXOulO3b7myZUlhCIlArwCSlckWEQvFJzQDxYwrIzwdsV652X89zPc9138/1XNfjHwrnfT6f9+v1fp/zfp/30XNKP0+In/HO/HcgEMiMDevXboFA3hRBIH8zvz3VLcmq6z/v/ngjd0v8J5DGzoABd+NN7MebPoZALjKn2Xe95W7/177123MhkJnXPT9vSPFnd0MgiG83rP14Kwll6MGVNfRvd4GtC9EHI1YPlX49Dyx9Ur2+6JdroermS2+93/y2eA/8k/X/WHp59pJrX72J33Lx8xnid3E/euFwDVc+Vt1YuO2+i/aZ2Y+durJvBbZReTwgt1Hui9DfPH85s+OWOjeTjb7/WdAKXKHhsiIB7XiWnIh2DldFFD2ehnZTgxy8Lznhw9+mT1GpA0ROg8a5VAD3yLvfv5hbHi5hV6GpKwXvjUv+cTE/jYFmi5yFhR6rIDxZurnw70LfZfxZnuYg54EgiDR4pf/utDfczUfhZT26Q/q/ebq+PARO82Bl+InGmyf+J809vRvR1rsDvVVoBMWm0iA2bDn1FmHhDeXRGr9ISYT7gYeWfpqzv0vHFlGNwewFDjQh6obfsZpAH8DX3Yuze3oFJVe+GzFpGW2dFXSP8oNRC/ZuIxK3Mjw2Xwre0MRpOp1ud3P7acaGHytfvrv+7nm9/ix0nMaa7zIzsPFii9vU1f7ffRQWExP6Av7oL9uVys1wqtvI28ULOtonIf7jEKeflUerVwiG28Pq3PNxbMTochqvpmuzYoQSIEsQ+hLxrJXpsjC76tnCwkLHqMIoWHf3U7GCWFQuVRQmvYTc7COffuwStYk9OgHQbnm/Jn5cyYmkDPt3nSHjJGTnllE39B8bZ52R5Cf65Xmbx8yrnHMM9N2C3R7SO7cnSSJ+pWnGOvMT5AibfiDRNZKoGfn9i8SaWvLgFbLiB+zEY/muUbQrr1B/UZrARFj3PPOwNaY1db5UukWj9UPDc8Rto1fklEEtKx5OFzeJtJw6FtWqzoqQ/+nB9KFzkgbDCtNlNsWgzno+btqSercdo4bSRbU8ywmpIVJoEj/Nq8TSxgPry22V4MZnKYwd4HUDNq23cMJaa6aH4sGws25rKf5Ieb21WeqLIj3WrqKZ82n5xuUFf3qWWAMjubRlEWoyrnbCMepyQpiwgWCbfgHK13pppRnBjclxa25N8DWm3y589mudOuBK6D1I5kuXDOTMRarCah3Lb3A/QZi7c+ukQWT9p1N+mNDMTyuyAURIWVUTy5Ux8d5g9NQLsmL2vx6Pgdhlnll34XwoUHUgaML6VcwJN/3L4S4c661KZAutzwS07y6lg8uD0Lqkl3N43T1/fCvB2hctKgDPz9q56bXu/+ejCHM/iy0gWstElrIuo3PQWEt1KGiOkWmioWlXA33RMnB5IFoFLkdMYJ8tBMW+id5I+9DAzyVBf5vngwbAy6gJ7VvjnBZg4HDGzqWvigvu+54qsexgT5A9x/G6efXHcy9Jlp/Tv7HswplzExEYSj4YQH1aQj0izhAZzzf8Kajbg/5eAo1HFQ68P2/0yfHEM3/t9gIUDxno/l8npZPSSem/W5qzjOqJc1+OzOTsRTt7cbVU60B0hApN6wuBja23WmU3KJSna2AtpDGOjd8pjYy1D13HC3sMBtpYFW3sN+do2taJ3JaknPJkp32H6g6om8Oy3BCzTiJtTciNEZqy9AsP55++k1dyflYGW/TZdBRADeeLLF82WsHpKlW2F9vgCCzgc/9F6Fcw0O5F13XA2p4s3A/qkuJrnskfEGPp2PWOTqO9U7zvo9qk5ZLTln4eKnVR+2BM45wqaQZIlOjMmN9JlG5sK5WMBDiktNQodRVoDc7xx+e3Ghp80UXgiFJONWlX2bh8gdpkEBx/NYHt/5DaYGizLK+9eBmWF3qHOPJfmM/pWgUpjbEueOo/oRUoyui9MtsRfAqjCsgjuDan0siw4Kl18Hbxaq7jfjvBsZhaboOFJB2RSOfIs8tsZSomdzliMDgHmcMPvKLt5VFby3mdboYL1VyeHGwhrfS/n5Pyp0KmMm71TAn7cs8TLBUXX1O9J3bjV1DMlrkiyQqfcvhiyWlomUTVNrVJAD0vUQWu2d56qhwNCvG0ecmMLwGgdPNXtO1QV2w20ktVxTVHo2DGxLmiCpXR2F+z5U/JPMP76GEwC2d8YqkUIBiy9CX0O3taqbFNoVMbSA7igvlcZRk+j4FNK8ceKP/5A39RM3uairkoyybM4CqFrRQVMArKtwNRxl9eS/YMdJYulooTZ8C/Kn8ju7tvGbxQHClNf7OM1ilhQ6XNSN9sG8jQ3crGN1HGOKCOwzTWbPsrL3OunX5tr02eco91kaCkBtAJoVPZoBxcehS+Ryy7A60qBnHfYm7T8QUMbLlYprQsFzbsj41ZUswBnUyWf5SwY5maCT6/3qxdBfhlgsM8SjfaFCnSOvyM6NR5OC9e/qf/wuO77XTsLpzIBy45I6tVbo0D9qbO42pmfgafKX76EV1XDg+V/GpAeoNORvqe+UZ0a49B7pqvYCqYOsmR5Y0wfPQg5vsZ6ODiehIZfgCHhMGJYh0wbNABFCisy+Qg1yX9NWI2SSIGG//qxEhqTd2kdFI6Kf2/IE23p6chraeRPzqFTc1/6nv2uASWAFswJauUPfpnMSiFJcIW/0Us9kWP6CO+TH1tZwrXhaHH2gfGV9Wf/Hiq8R0u9j+xLwgYYDufsb88dWnpS4UrtjBCIgQj75YVDt9cZHQkbNRMgK34zp1pJREG2UuUit32HSfBjbaJBTHET3Q/035X+NJMYL07U/qJLkVMqvn/SE2gn0gIluNPIZ5Xy0/VkrSl0+RIl12wMdxYja1dKTBSjDGObrmj+9t4GGVE/b4RBVLR/Y4HKCRVoAcqmMbwqolJetNyuTkEUBz2RpDg1DibvskXUCRJakuCCp+mf0hXfUNaKbmQ30RCNkZuxbFh1xVc4WhDWZXZ8cjb+UhQNZj5MkAkx9zhzB+0+Ey5HcKM3W9kCRXZ+lIsXZynVeBUjz8o/gXOMLA2+3D5eg5oNagqPs7pzmyNfahO5GXb6TY/ebZ/iMJkhTtxmkESmdBj6MfYhHi25sqrtveMYKnitw9UYhPF7gqiEDQwbW6e2OPiXngUjuUTFV52bWk4WU5WP+876BPBVEjzEKO/JqZ1L5TU8UQkSmsNL3uueTa31HZEhTWSGVsJShJa2wtPL9dJ3SXN5lR8N7pbARWlry6rktqgXD8jpv/V4SAeB8MkNVCySS5pp1/7irEW/rbYICHNnfKQ+BP95w8a54gkOO3wZgaWQIMvxqGRkguLc/zN0fMxW1MX5US3ZPPKDn1lW1pN4MN5GUCySRhPQNtsKhQ361VPxqyilgf3h15P3hZ7OnTdf0OPpj+iV5klDz5adwan1AFRKnQ8wAKov+1pdVDgB8R7ltf6Ra1rNoxKHVg8phvdikCpdaiXSYqw4EUND59ajn+r9VOCQ1+iYuJ9uplbVJK2j+hVgEGs42o+8Tt8z1SNVkmQ0siW9AP+GdfvCXkJrSwCS6VjmsMQXoSxZgLNZnY0fv/qBNJVoAGVNX09fRcWWpURch96RhJ59r+hjZKDzS7TTUMGkDIL6F089Z88pkMHVO/APGjJts83R+bM4colbFKK6uOwxmiE2mHxEdtWFfMsUC5GZaIwzHjk93lLXo0XRaAo/XbpY2wEnbC3tTVi6k9Qajr0Hfg7OFHG/ukogtKp+gDDmM9VIXKzbFYSGegvMmhKDEjpCh88rbXBoPIXq5RCNsFGSmtNBKygjgQDFGCU+fCO6Xk2bpfgtbn2xEud1fFvCGrVJvfkosV25yt190R/ieVmV/R1GarCxf/59XCKWUZNi8rGofH2Fv7EEhW/zL0nagEUp5mIQnh2Obag/JiOo4hnWX+vC0fB1GaheexEW99rz5+R238U2O3P5ejW2KlsS7+5tT/ON6Ie+1r8GkBd6aLaFXGWR4d9RTNV8M8c7a9aEgOnirkxOVL2UDm+CNDuH31tBePGUSl9kayVccNtIb4R8RrrfS4D3fGaO+6AYbZrJqUOoy98+nNJOPU2hYEijBGnfyF6LdbcewDYDhiyKay4wSAfbNGPbrbDYBj3xuDrX/P/4qq9hslFZVLNf17NFgb6vA7mfAwbfLWCm/yX0iTEJMQkxCTEJMQkxCTEJMQkxCTEJMQkxCTEJMQkxCTEJMQkxP8uhMXEFVGMjxsWCAQrQib+UBdBGdhYZ6Sa+eagvk/vunywa07NfkmlPVcel+85jT8Y1135S5e4ehZ2DTHzFvR/fTT+/7AZN6RxOTSLxmXH/g36AueLUAW9lV11SMdAVzzSeqfLCzF0qOu6N7I7oRUNOsU2PyPeRPC8I8BFH9GDrrS5sI2WJ4uQBQ0d7zX6c/24crXJLZPhBqMVQSKhc5TNog5UUT+gYPl0c7TaqAc8NwgKCx9/6/sQMdBHLe14D9GpBzR0XffluL4WrdkayirTtZgsoyCTFkvx4peZY2yknGeeA2Xf6jkClmuMhaSMydBUlc5lwrtMIymi0RTfILL+Ijet01BgUmI19m7k6O9f4K9k22zvKlSoZh8RFijU2PuiNfuVJEcSDR1hi9yPHMQQBd7UocO90oIvVK4duUhnb96IsiZN7e0e53mJ6VdgNKxoGtVopkY4ArLFeRxV40Kq3Gie80NjHLXnXiXcY8yVUuhsodEmNKZ/3hauIQ9d89KYWqCd2lH4pW9glkMwniWPFpcTXzSIGaHLxzwHyEUrD4qvfkSN+I1pb2OmrkqVGLQKHi4VnzqPFp7+OV0mkalUmRxkiBlAnNOJpfPxSOcSaa9K1RPBdTDukFTJKwP4rTD3bF3qvD4cwoz9zikgJyn7d4XxO85pzU4q4sqjh0CyKaHHRynN3cp4C/7JDTZ84W6Fkv54gf9CbTVCdS1YfT9JHRTtyzIbjs6VF9KvhaHU3mvhByTGpNaAw72WOH9AyUPZC6DyNxnwvbYlDZ5D+Ylelx67acUbQxDF4P48geUHKatfNV+kLsUyUL0v/abZfsxBIWe8INSula82Faz4zZJ322K6UF+RBK/N9mLISH2KmEXURJMoH/6umG3bvAwVJG+nH/qKkQh/r1z3DdgfXPxPRxNPy6rXqGRORoCASVrpPNXZGL3ugkE3yFUVNd+bZT7WY95WZZ4CgfBS7bfq9MaH9TKEb4oSt20es2FQIXcto/bchr7HkTVrq5ersOrd6fv85OFaU4YoH2N/6P0xOExd/Q5gvU46qRzFAnczaOtyCmHJArXewS/V68Co3WZBZU+f+2MGBHJLzG2pkcnHHsoQMA+Cr8b5AyW8UWbJW4M50hauesj0ToGTbvQWs/O3mcjmnAq0UuUtYdfLBsluJ2Q4HsOcuwod9W2D/hDIDzFVsGe1N8cVdV5bhBy7OfKcEChh+89fs5aonKVpJyrz0i101uXvHecX5SQX6bTEfd3OW2ySw3JfcsFRjU4hOEDc4V322EZSDyllzWik6BwyJFrArEcZe4JEVJeZ5hr5NqLo8Yj9uRwWVMuxqdtzjucdfxw2bsrvtQV91SNGRf97tlPZGdyVviyXvb9LfjNJkAUohPUo4hz3rPki2U+U/mA+MiQ7YmoleFhS4lh8zXBEnstYDZgXUiMkV32ALXbhjRUrp7bDi8VszIKH6oXqTuJW+rW95JMOyOXl7vB6gtDKe/PUVflZdmuHxt7RpRCaLpPRBo1O7rLLu3Sd4w7O1Nxx8/P4hdeNc7GUxq/1zzluv6feYJWftLNGy9HRc9f8BvUJb3KdaNpVxAfUegPBdaN/lbDhQ8bFrNR5h7t4S2pxy1EixyEzBuqvUDnV5T+HomCibdfdFLFsb/d8VfdBf28cFm6d0r0pA80MnnnBc9FEnWwd0Pbqq9GJiLEn4gzQ+gx9REnBZ3CV5odZ7LTp+5V57FA+HgJ5tB9squGIUljHX1A71f2kn+YnOphSRYkrhrasuxfZqFUFcymDuayNXuf0Qq5J4X2adPI09GrOMLqGY5sKgewHI90akjVr7VKHfnRN3timHH9mSAXiRBsi2jMNOu6M33/ISTONQuXa+eKh79OwvPOOnSd6zPdNLWs+qt3bTGFpU+B4HXoHBHLVXASWoT9zJVB+d6c/vGgM1myuEmuM0vzK3S5Q0II7Ip0Grgh2hjidHOgNbTMIuwsY9BEiuv55U2XPmXdhmNhjjzhmbFEQRxrXpJJkgGDmmp3dCxGJAOG+Yx4tkyNPdK+H3S16HSH2ZNjM7q9202HfiJY6M971IhDbMs2CyyLqA1gbyODwmCeLbBiixk1K1cN28TGxOQ+o2A2MCIBD0s9iBmuNls32FkrA5z1RN/IAguwp22Vla1qzGajTPDUurqIt54tSM7noFkgVD3Epeh9Y/2JEseH2cj6uaOY6GyxtDsxlKRKrjugymZoKOjJS2V+X/sJPKx46y0KaHL4bLrl872wjatxuXEb4Eubw3TYeZSS+3tilmH24g7inVOqtEsnwsEQGNqR8NpaoghY1T7ltQv4mZauuLXECVMYeoDl+N4vVoI+KBC9KpLHFjSChQgYA5bQgGDYVz9jZpKrYTCiaCSgsp8plUtcd2twIDXv2EpvdXWh8S3MoaHFx1qenfUUrU8AW3hL+jCGiUgEsninTDweHM9dEUgMzFNPG59aVc7qAu0qKO2nhqxwU6yoJ8A0UxQH3zj3dYareuIuogueILU202FlTNs89fFsP70jKGOeV7AMjezziJgULue8EqnuiENGYv5fJlc5hEhmTqkLw9QvHh63yyK4w6vOgwqc/d5UgRty/kPbHXJLLpqFZb7LsN8t00Gs7w22FAR21Y8uzWdtOpgWNJ4hcH0D0jZ41g6hsuj4+ZdWDU2CW1db8Z/V0aS/45S5GGKCMxzylY8NxrJ99aFzYlFv6ZoLA8LTJYRLyElLzp68Do7Q4sYohY7YhkO7hyMwZhm/lzoge61avtVffRCB9AEXnxgjBAWs1a6y67FDYCbmsSI+B8d1vR+ccFyx9ROawpYT1kuAf0oTRzo2f2H/8g1zknBLz4pmDcJKYDcptuhK98A3IQS7ZOlDXJfoCncwIhUsY0hl3TMMOrhnH6vmIj5u+kuBwLy2YakPvxdnZIgF++mpFJYXazFFt1VIqtJgKJsUFM8aDBKlUFHgmk9uDqC3T5cSLDJizNtDwExnELhwf3BjwVqNZaBbg/VpCCT28Tabmg8abwiBgXyDOJT5eyr682a74Wr8qmG/0DNJFChoYYtKCXHdvNbJ6oiGQo7an8cgfnQLrWZDxTz0HzK6zxFCIBXmqWVy+HpSRmruoi1vO6XPHw9KYNZpdb1kR4f8sk1suv5bBum6x4K1LeLIbrEp9bqR70SK5a5sIYQ0Bua/DbmG6LAOJzieJCS7317bA5/G0kXhfjbq9V/uoXYhqDLEVTgdEp9ZWOaYtEEokt+eKUERLsTs7cVSpSQH67cq8pvHMxG4d/nTMbM89Rslxe+fUcUvku7RtHHkHA8wKoR6l2BlsB8/Hu93Vh3f2fdLaKrIrqAZFgmg4TPRdRdhI1QxEa5JpdH+gUoE5sgs3PWVzbE+UUFJs+KLktKVQpu486l6kiSd1R8x70UTB+LjJKOPJK4eSwJHL3H25w2NyGsLRmirmR1EF/hwmVldHfVYXXjvMDWzW7qXaLi5AcQUJsYZBKVUvVRPjBouz9Y8bOOwqXZswqIQUqjeRdU3pf+frB3gpfwSZ4/Po9saTnhH43DZSh6xxOqypu1nH3WPUrwVgLpJ15ZVQQCE57I2wnNgcthuz4QHaWEKzlHTp7qCjTEPblApZ3m40MwUcuQet5Gqm+omR6H6yuOlFpFTNQG8mOsaNuRIfVLDAEWNa2fZiPf/YrglkUvnATvvDD6k1dX8iil8znqNy1owny26FyDna5BhDK/sx7gphJcldDd+VS/OgoigOnsxggU2wjdo8lc7SLOUv9SeT6vW63lXqUlqBmOJeNu/1OtwldLgvUvWBjW96xpGL3X68F/f8VuRAv7aFgfaHOYdKumAkVxVtrAo/831w2DlsOWQ2UoxkzbKz+/J3Y7zxlRRBanwRjWhaXoBM6yVffVFSGmosfHL0H7XbYD+mPouJzh8dKEkuiJJgkTZlmZfVRsjqW0TVLkqgDXnRjs4MGzG5Cw4z3r+QVM9yKFmbRKhGoJnVEoCPGQxxh0W40QsC+dBXk1HpEJD/AeY2cOTXtqUu4hvoWjPCFhCQZwB1jY3s5LTpNNCXBo44zSJk4JVlfwSba46mjuLvGqZzC2qMbxiHqW67L+dax9DJyiWdvcp9XPCXrz0UQW9NHoLguQEdQTUpPMdfz2AUQxeZFL121QtVnt0NoEV+yEYcTMtrWlEC/xAhVJG2XLssZe9LkZ/izYivLZ+N2Wa3sy1EtiUPWeSQ4O0SMfewOKPYsx3kxeXvPcxr1OXMQ/hKA+aLOsVdiUiK9ZEXklToKfrfQ/lWZXA9W5ufvMc3mRDZ+D1FyIUlfzQLH8VoxhIK3xi/b51xkRw3JPHH/+LruUR9NW0eXzHFZRO5TqLe9vTnb9ejvE85abUOz23sq5+mG+nhEvZTmrOfdjfsxRvvxiiedoBh1sF8EdlzIbbL36N5NfZillg4SqtJcHl35wtO2jaJajwKN/wjYW3jJzu//h9QSwMEFAACAAgA73FITXA/OElKAAAAagAAABsAAAB1bml2ZXJzYWwvdW5pdmVyc2FsLnBuZy54bWyzsa/IzVEoSy0qzszPs1Uy1DNQsrfj5bIpKEoty0wtV6gAihnpGUCAkkIlKrc8M6Ukw1bJ0tAYIZaRmpmeUWKrZGZhChfUBxoJAFBLAQIAABQAAgAIAO9xSE3/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WnBkAAPA+AAAXAAAAAAAAAAAAAAAAAPwXAAB1bml2ZXJzYWwvdW5pdmVyc2FsLnBuZ1BLAQIAABQAAgAIAO9xSE1wPzhJSgAAAGoAAAAbAAAAAAAAAAEAAAAAAM0xAAB1bml2ZXJzYWwvdW5pdmVyc2FsLnBuZy54bWxQSwUGAAAAAAsACwBJAwAAUDIAAAAA"/>
  <p:tag name="ISPRING_ULTRA_SCORM_COURSE_ID" val="29CDFE28-0755-48D7-B396-2DB4679C4ED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RESENTATION_TITLE" val="第1章 认识计算机 教学PPT_薛蒙蒙_0827"/>
  <p:tag name="ISPRING_RESOURCE_PATHS_HASH_PRESENTER" val="54543f71be911bc2df6d9e66c0fea6257629656"/>
</p:tagLst>
</file>

<file path=ppt/tags/tag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1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2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3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4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5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6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7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1.1 计算机分类"/>
</p:tagLst>
</file>

<file path=ppt/tags/tag8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1.6 本章小结"/>
</p:tagLst>
</file>

<file path=ppt/tags/tag9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传智播客.黑马程序员"/>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5153</TotalTime>
  <Words>5012</Words>
  <Application>Microsoft Office PowerPoint</Application>
  <PresentationFormat>宽屏</PresentationFormat>
  <Paragraphs>615</Paragraphs>
  <Slides>90</Slides>
  <Notes>90</Notes>
  <HiddenSlides>7</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90</vt:i4>
      </vt:variant>
    </vt:vector>
  </HeadingPairs>
  <TitlesOfParts>
    <vt:vector size="102" baseType="lpstr">
      <vt:lpstr>等线</vt:lpstr>
      <vt:lpstr>等线 Light</vt:lpstr>
      <vt:lpstr>方正细倩简体</vt:lpstr>
      <vt:lpstr>楷体</vt:lpstr>
      <vt:lpstr>宋体</vt:lpstr>
      <vt:lpstr>微软雅黑</vt:lpstr>
      <vt:lpstr>Arial</vt:lpstr>
      <vt:lpstr>Calibri</vt:lpstr>
      <vt:lpstr>Times New Roman</vt:lpstr>
      <vt:lpstr>Wingdings</vt:lpstr>
      <vt:lpstr>Office 主题​​</vt:lpstr>
      <vt:lpstr>Visio</vt:lpstr>
      <vt:lpstr>第8章 I/O流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认识计算机 教学PPT_薛蒙蒙_0827</dc:title>
  <dc:creator>lucius</dc:creator>
  <cp:lastModifiedBy>薛蒙蒙</cp:lastModifiedBy>
  <cp:revision>690</cp:revision>
  <dcterms:created xsi:type="dcterms:W3CDTF">2016-08-25T05:35:30Z</dcterms:created>
  <dcterms:modified xsi:type="dcterms:W3CDTF">2021-03-29T08:11:52Z</dcterms:modified>
</cp:coreProperties>
</file>