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ppt/tags/tag45.xml" ContentType="application/vnd.openxmlformats-officedocument.presentationml.tags+xml"/>
  <Override PartName="/ppt/notesSlides/notesSlide45.xml" ContentType="application/vnd.openxmlformats-officedocument.presentationml.notesSlide+xml"/>
  <Override PartName="/ppt/tags/tag46.xml" ContentType="application/vnd.openxmlformats-officedocument.presentationml.tags+xml"/>
  <Override PartName="/ppt/notesSlides/notesSlide46.xml" ContentType="application/vnd.openxmlformats-officedocument.presentationml.notesSlide+xml"/>
  <Override PartName="/ppt/tags/tag47.xml" ContentType="application/vnd.openxmlformats-officedocument.presentationml.tags+xml"/>
  <Override PartName="/ppt/notesSlides/notesSlide47.xml" ContentType="application/vnd.openxmlformats-officedocument.presentationml.notesSlide+xml"/>
  <Override PartName="/ppt/tags/tag48.xml" ContentType="application/vnd.openxmlformats-officedocument.presentationml.tags+xml"/>
  <Override PartName="/ppt/notesSlides/notesSlide48.xml" ContentType="application/vnd.openxmlformats-officedocument.presentationml.notesSlide+xml"/>
  <Override PartName="/ppt/tags/tag49.xml" ContentType="application/vnd.openxmlformats-officedocument.presentationml.tags+xml"/>
  <Override PartName="/ppt/notesSlides/notesSlide49.xml" ContentType="application/vnd.openxmlformats-officedocument.presentationml.notesSlide+xml"/>
  <Override PartName="/ppt/tags/tag50.xml" ContentType="application/vnd.openxmlformats-officedocument.presentationml.tags+xml"/>
  <Override PartName="/ppt/notesSlides/notesSlide50.xml" ContentType="application/vnd.openxmlformats-officedocument.presentationml.notesSlide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tags/tag52.xml" ContentType="application/vnd.openxmlformats-officedocument.presentationml.tags+xml"/>
  <Override PartName="/ppt/notesSlides/notesSlide52.xml" ContentType="application/vnd.openxmlformats-officedocument.presentationml.notesSlide+xml"/>
  <Override PartName="/ppt/tags/tag53.xml" ContentType="application/vnd.openxmlformats-officedocument.presentationml.tags+xml"/>
  <Override PartName="/ppt/notesSlides/notesSlide53.xml" ContentType="application/vnd.openxmlformats-officedocument.presentationml.notesSlide+xml"/>
  <Override PartName="/ppt/tags/tag54.xml" ContentType="application/vnd.openxmlformats-officedocument.presentationml.tags+xml"/>
  <Override PartName="/ppt/notesSlides/notesSlide54.xml" ContentType="application/vnd.openxmlformats-officedocument.presentationml.notesSlide+xml"/>
  <Override PartName="/ppt/tags/tag55.xml" ContentType="application/vnd.openxmlformats-officedocument.presentationml.tags+xml"/>
  <Override PartName="/ppt/notesSlides/notesSlide55.xml" ContentType="application/vnd.openxmlformats-officedocument.presentationml.notesSlide+xml"/>
  <Override PartName="/ppt/tags/tag56.xml" ContentType="application/vnd.openxmlformats-officedocument.presentationml.tags+xml"/>
  <Override PartName="/ppt/notesSlides/notesSlide56.xml" ContentType="application/vnd.openxmlformats-officedocument.presentationml.notesSlide+xml"/>
  <Override PartName="/ppt/tags/tag57.xml" ContentType="application/vnd.openxmlformats-officedocument.presentationml.tags+xml"/>
  <Override PartName="/ppt/notesSlides/notesSlide57.xml" ContentType="application/vnd.openxmlformats-officedocument.presentationml.notesSlide+xml"/>
  <Override PartName="/ppt/tags/tag58.xml" ContentType="application/vnd.openxmlformats-officedocument.presentationml.tags+xml"/>
  <Override PartName="/ppt/notesSlides/notesSlide58.xml" ContentType="application/vnd.openxmlformats-officedocument.presentationml.notesSlide+xml"/>
  <Override PartName="/ppt/tags/tag59.xml" ContentType="application/vnd.openxmlformats-officedocument.presentationml.tags+xml"/>
  <Override PartName="/ppt/notesSlides/notesSlide59.xml" ContentType="application/vnd.openxmlformats-officedocument.presentationml.notesSlide+xml"/>
  <Override PartName="/ppt/tags/tag60.xml" ContentType="application/vnd.openxmlformats-officedocument.presentationml.tags+xml"/>
  <Override PartName="/ppt/notesSlides/notesSlide60.xml" ContentType="application/vnd.openxmlformats-officedocument.presentationml.notesSlide+xml"/>
  <Override PartName="/ppt/tags/tag61.xml" ContentType="application/vnd.openxmlformats-officedocument.presentationml.tags+xml"/>
  <Override PartName="/ppt/notesSlides/notesSlide61.xml" ContentType="application/vnd.openxmlformats-officedocument.presentationml.notesSlide+xml"/>
  <Override PartName="/ppt/tags/tag62.xml" ContentType="application/vnd.openxmlformats-officedocument.presentationml.tags+xml"/>
  <Override PartName="/ppt/notesSlides/notesSlide62.xml" ContentType="application/vnd.openxmlformats-officedocument.presentationml.notesSlide+xml"/>
  <Override PartName="/ppt/tags/tag63.xml" ContentType="application/vnd.openxmlformats-officedocument.presentationml.tags+xml"/>
  <Override PartName="/ppt/notesSlides/notesSlide63.xml" ContentType="application/vnd.openxmlformats-officedocument.presentationml.notesSlide+xml"/>
  <Override PartName="/ppt/tags/tag64.xml" ContentType="application/vnd.openxmlformats-officedocument.presentationml.tags+xml"/>
  <Override PartName="/ppt/notesSlides/notesSlide64.xml" ContentType="application/vnd.openxmlformats-officedocument.presentationml.notesSlide+xml"/>
  <Override PartName="/ppt/tags/tag65.xml" ContentType="application/vnd.openxmlformats-officedocument.presentationml.tags+xml"/>
  <Override PartName="/ppt/notesSlides/notesSlide65.xml" ContentType="application/vnd.openxmlformats-officedocument.presentationml.notesSlide+xml"/>
  <Override PartName="/ppt/tags/tag66.xml" ContentType="application/vnd.openxmlformats-officedocument.presentationml.tags+xml"/>
  <Override PartName="/ppt/notesSlides/notesSlide66.xml" ContentType="application/vnd.openxmlformats-officedocument.presentationml.notesSlide+xml"/>
  <Override PartName="/ppt/tags/tag67.xml" ContentType="application/vnd.openxmlformats-officedocument.presentationml.tags+xml"/>
  <Override PartName="/ppt/notesSlides/notesSlide67.xml" ContentType="application/vnd.openxmlformats-officedocument.presentationml.notesSlide+xml"/>
  <Override PartName="/ppt/tags/tag68.xml" ContentType="application/vnd.openxmlformats-officedocument.presentationml.tags+xml"/>
  <Override PartName="/ppt/notesSlides/notesSlide68.xml" ContentType="application/vnd.openxmlformats-officedocument.presentationml.notesSlide+xml"/>
  <Override PartName="/ppt/tags/tag69.xml" ContentType="application/vnd.openxmlformats-officedocument.presentationml.tags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701" r:id="rId3"/>
    <p:sldId id="703" r:id="rId4"/>
    <p:sldId id="704" r:id="rId5"/>
    <p:sldId id="706" r:id="rId6"/>
    <p:sldId id="708" r:id="rId7"/>
    <p:sldId id="709" r:id="rId8"/>
    <p:sldId id="710" r:id="rId9"/>
    <p:sldId id="711" r:id="rId10"/>
    <p:sldId id="712" r:id="rId11"/>
    <p:sldId id="713" r:id="rId12"/>
    <p:sldId id="714" r:id="rId13"/>
    <p:sldId id="715" r:id="rId14"/>
    <p:sldId id="718" r:id="rId15"/>
    <p:sldId id="719" r:id="rId16"/>
    <p:sldId id="720" r:id="rId17"/>
    <p:sldId id="724" r:id="rId18"/>
    <p:sldId id="725" r:id="rId19"/>
    <p:sldId id="726" r:id="rId20"/>
    <p:sldId id="779" r:id="rId21"/>
    <p:sldId id="780" r:id="rId22"/>
    <p:sldId id="781" r:id="rId23"/>
    <p:sldId id="727" r:id="rId24"/>
    <p:sldId id="728" r:id="rId25"/>
    <p:sldId id="729" r:id="rId26"/>
    <p:sldId id="730" r:id="rId27"/>
    <p:sldId id="732" r:id="rId28"/>
    <p:sldId id="734" r:id="rId29"/>
    <p:sldId id="735" r:id="rId30"/>
    <p:sldId id="736" r:id="rId31"/>
    <p:sldId id="737" r:id="rId32"/>
    <p:sldId id="740" r:id="rId33"/>
    <p:sldId id="741" r:id="rId34"/>
    <p:sldId id="742" r:id="rId35"/>
    <p:sldId id="743" r:id="rId36"/>
    <p:sldId id="746" r:id="rId37"/>
    <p:sldId id="747" r:id="rId38"/>
    <p:sldId id="748" r:id="rId39"/>
    <p:sldId id="749" r:id="rId40"/>
    <p:sldId id="750" r:id="rId41"/>
    <p:sldId id="751" r:id="rId42"/>
    <p:sldId id="752" r:id="rId43"/>
    <p:sldId id="782" r:id="rId44"/>
    <p:sldId id="783" r:id="rId45"/>
    <p:sldId id="754" r:id="rId46"/>
    <p:sldId id="755" r:id="rId47"/>
    <p:sldId id="756" r:id="rId48"/>
    <p:sldId id="757" r:id="rId49"/>
    <p:sldId id="758" r:id="rId50"/>
    <p:sldId id="759" r:id="rId51"/>
    <p:sldId id="760" r:id="rId52"/>
    <p:sldId id="761" r:id="rId53"/>
    <p:sldId id="762" r:id="rId54"/>
    <p:sldId id="763" r:id="rId55"/>
    <p:sldId id="764" r:id="rId56"/>
    <p:sldId id="767" r:id="rId57"/>
    <p:sldId id="768" r:id="rId58"/>
    <p:sldId id="769" r:id="rId59"/>
    <p:sldId id="770" r:id="rId60"/>
    <p:sldId id="771" r:id="rId61"/>
    <p:sldId id="772" r:id="rId62"/>
    <p:sldId id="773" r:id="rId63"/>
    <p:sldId id="774" r:id="rId64"/>
    <p:sldId id="775" r:id="rId65"/>
    <p:sldId id="776" r:id="rId66"/>
    <p:sldId id="777" r:id="rId67"/>
    <p:sldId id="778" r:id="rId68"/>
    <p:sldId id="335" r:id="rId69"/>
    <p:sldId id="785" r:id="rId70"/>
  </p:sldIdLst>
  <p:sldSz cx="12192000" cy="6858000"/>
  <p:notesSz cx="6858000" cy="9144000"/>
  <p:custDataLst>
    <p:tags r:id="rId7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9B2"/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3461" autoAdjust="0"/>
  </p:normalViewPr>
  <p:slideViewPr>
    <p:cSldViewPr snapToGrid="0">
      <p:cViewPr varScale="1">
        <p:scale>
          <a:sx n="82" d="100"/>
          <a:sy n="82" d="100"/>
        </p:scale>
        <p:origin x="75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17273" y="-3221"/>
            <a:ext cx="6259483" cy="1600200"/>
            <a:chOff x="3117273" y="-3221"/>
            <a:chExt cx="6259483" cy="1600200"/>
          </a:xfrm>
        </p:grpSpPr>
        <p:sp>
          <p:nvSpPr>
            <p:cNvPr id="11" name="矩形 10"/>
            <p:cNvSpPr/>
            <p:nvPr userDrawn="1"/>
          </p:nvSpPr>
          <p:spPr>
            <a:xfrm>
              <a:off x="3117273" y="-3221"/>
              <a:ext cx="6259483" cy="1600200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3773" y="760266"/>
              <a:ext cx="3590099" cy="560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5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4775" y="1010467"/>
            <a:ext cx="42386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429625" y="247650"/>
            <a:ext cx="3457575" cy="809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09575" y="6496050"/>
            <a:ext cx="1971675" cy="29527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4"/>
          <p:cNvSpPr txBox="1"/>
          <p:nvPr userDrawn="1"/>
        </p:nvSpPr>
        <p:spPr>
          <a:xfrm>
            <a:off x="409575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8433983" y="217166"/>
            <a:ext cx="3457575" cy="809625"/>
            <a:chOff x="8429625" y="247650"/>
            <a:chExt cx="3457575" cy="809625"/>
          </a:xfrm>
        </p:grpSpPr>
        <p:sp>
          <p:nvSpPr>
            <p:cNvPr id="8" name="矩形 7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3" name="矩形 2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4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6.xml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8.xml"/><Relationship Id="rId4" Type="http://schemas.openxmlformats.org/officeDocument/2006/relationships/image" Target="../media/image2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0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8.xml"/><Relationship Id="rId4" Type="http://schemas.openxmlformats.org/officeDocument/2006/relationships/image" Target="../media/image3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1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章 初识</a:t>
            </a:r>
            <a:r>
              <a:rPr lang="en-US" altLang="zh-CN" b="1" dirty="0" smtClean="0">
                <a:latin typeface="方正细倩简体"/>
                <a:ea typeface="方正细倩简体"/>
                <a:cs typeface="方正细倩简体"/>
              </a:rPr>
              <a:t>C++</a:t>
            </a:r>
            <a:endParaRPr lang="zh-CN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6583661" y="5118230"/>
            <a:ext cx="150369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默认参数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函数重载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引用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22525" y="5130756"/>
            <a:ext cx="21681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命名空间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控制台输入输出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类型增强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24221" y="5087750"/>
            <a:ext cx="294641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字符串类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new/delete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强制类型转换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69" y="5203668"/>
            <a:ext cx="1905952" cy="105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.1.1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发展史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438274" y="1446536"/>
            <a:ext cx="5006341" cy="44767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是由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Bjarne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Stroustrup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（比雅尼·斯特劳斯特鲁普）博士在贝尔实验室工作期间发明并实现的。最初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被称为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 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，后来为了体现它是一种带类的面向对象语言，将其改名为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 with class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。直到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1982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年，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Bjarne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Stroustrup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博士将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 with class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命名为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2" name="AutoShape 2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155575" y="-14319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307975" y="-12795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6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460375" y="-11271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8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612775" y="-9747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10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765175" y="-8223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12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917575" y="-6699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14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1069975" y="-5175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16" descr="http://img0.imgtn.bdimg.com/it/u=2677334180,3155856470&amp;fm=26&amp;gp=0.jpg"/>
          <p:cNvSpPr>
            <a:spLocks noChangeAspect="1" noChangeArrowheads="1"/>
          </p:cNvSpPr>
          <p:nvPr/>
        </p:nvSpPr>
        <p:spPr bwMode="auto">
          <a:xfrm>
            <a:off x="1222375" y="-365125"/>
            <a:ext cx="53530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137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90" y="2016125"/>
            <a:ext cx="490637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.1.1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发展史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268602" y="1395736"/>
            <a:ext cx="9968358" cy="38366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的发展大致可以分为三个阶段：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第一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阶段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语言出现到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1995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年，这一阶段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语言基本上是传统类型上的面向对象语言，并且依靠接近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语言的效率，在计算机中占据着相当大的比重。在这期间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Bjarne Stroustrup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博士完成了经典巨著《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The C++ Programming Language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》第一版；诞生了一个传世经典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ARM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；之后模板、异常、命名空间等相继被加入。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.1.1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发展史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268602" y="1720856"/>
            <a:ext cx="9968358" cy="35420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第二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阶段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1995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到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2000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年，这一阶段由于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库和后来的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Boost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库等程序库的出现，泛型编程设计在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中的比重越来越大。同时由于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C#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等语言的出现和硬件的影响，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受到了一定的冲击。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第三阶段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2000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年至今，以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Loki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MPL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等程序库为代表的产生式编程和模板元编程的出现，使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迎来了发展史上的又一个高峰。这些新技术和原有技术的融合，使</a:t>
            </a: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成为当今主流程序设计语言中最复杂的语言。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985016"/>
            <a:ext cx="9968358" cy="31457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保持与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兼容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既保留了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语言的所有优点，又克服了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语言的缺点，其编译系统能检查出更多的语法错误，因此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比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语言更安全。绝大多数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语言程序可以不经修改直接在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环境中运行，用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语言编写的众多库函数可以用于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程序中。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设计成与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兼容，完成了从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的平滑过渡。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985016"/>
            <a:ext cx="9968358" cy="31457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支持面向对象编程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引入了面向对象的概念，使得开发人机交互类型的应用程序更为简单、快捷。通过类的层级关系进行编程，实现功能可扩展和增强的接口。具有诸如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PHP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Python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等面向对象编程语言的特性。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771656"/>
            <a:ext cx="9968358" cy="36131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拥有丰富的库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利用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中的标准模板库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hash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等容器，可以快速编写代码。除此之外，数不胜数的第三方库，如扩充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标准库的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Boost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库、图形库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、图像处理库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OpenCV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、机器学习库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Tensorflow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、线性代数库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Eigen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、游戏库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OpenGL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等，这些优秀的库为企业的项目开发提供了非常大的支持，是必不可少的部分。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771656"/>
            <a:ext cx="9968358" cy="36131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支持嵌入式开发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在嵌入式开发领域有重要的地位，智能设备在生活随处可见，如智能手表、机器人等，这些智能设备的底层驱动和上层应用开发离不开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语言的支持。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标准中增加的新特性，如原子操作、常量表达式、线程同步机制等，能够更加紧密的和硬件结合。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771656"/>
            <a:ext cx="9968358" cy="26784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类型安全增强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语言属于强类型语言，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语言中可以进行强制类型转换，相对自由灵活。在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＋＋中强制类型转换被认为是设计的不合理，为了兼容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语言提供了三种类型转换形式。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1.1.2 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268602" y="1771656"/>
            <a:ext cx="9968358" cy="30441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支持垃圾回收机制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大多数面向对象编程语言具有垃圾回收机制，而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语言不具备垃圾回收机制，意味着申请的内存资源在使用完成后要自己释放还给系统。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标准的新特性智能指针，实现了内存资源的自动管理，使指针更加灵活并避免了内存泄漏。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48791" y="1591945"/>
            <a:ext cx="6078537" cy="4311015"/>
            <a:chOff x="2699703" y="1439545"/>
            <a:chExt cx="6078537" cy="4311015"/>
          </a:xfrm>
        </p:grpSpPr>
        <p:pic>
          <p:nvPicPr>
            <p:cNvPr id="17613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99703" y="1439545"/>
              <a:ext cx="6078537" cy="4311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3138042" y="1629416"/>
              <a:ext cx="5457318" cy="4080504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  #include 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iostream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using namespace std;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{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	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"hello C++" &lt;&lt;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	return 0;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}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>
          <a:xfrm>
            <a:off x="854686" y="1591945"/>
            <a:ext cx="2588312" cy="65430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1-1  hello.cpp</a:t>
            </a:r>
            <a:endParaRPr lang="zh-CN" altLang="zh-CN" sz="2400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505322" y="1670056"/>
            <a:ext cx="5751958" cy="37045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程序文件以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cpp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为扩展名，头文件仍然以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.h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为扩展名。但是，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标准程序库头文件，一般不以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.h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结尾。例如，包含数学函数的头文件时，一般使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#include&lt;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cmath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”，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而不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#include&lt;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math.h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513" y="2017584"/>
            <a:ext cx="2760663" cy="3009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756282" y="1863096"/>
            <a:ext cx="9968358" cy="32880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包含了输入输出头文件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，它是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标准库头文件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行代码：引用标准命名空间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3~7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行代码：定义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行代码：在屏幕上输出“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 C++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行代码：通过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return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68602" y="2066296"/>
            <a:ext cx="6056758" cy="34404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命名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空间是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语言的新特性，它能够解决命名冲突问题。例如，小明定义了一个函数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标准程序库中也存在一个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函数。此时，为了区分调用的是哪个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函数，可以通过命名空间进行标识。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0" y="2242820"/>
            <a:ext cx="3757613" cy="261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99082" y="1720856"/>
            <a:ext cx="9968358" cy="3735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标准命名空间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标准命名空间，由于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标准库几乎都定义在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命名空间中，所以编写的所有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程序都需要引入下列语句</a:t>
            </a:r>
            <a:r>
              <a:rPr lang="zh-CN" altLang="zh-CN" sz="2400" dirty="0"/>
              <a:t>。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要使用标准命名空间的内容必须先声明才能使用，声明方式如下：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 namespace std;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2640202" y="1812296"/>
            <a:ext cx="7408038" cy="3735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自定义命名空间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自定义命名空间使用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namespace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定义，其格式如下：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namespace 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空间名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… //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可以是变量、函数、类、其他命名空间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91920" y="1503680"/>
            <a:ext cx="9794240" cy="3566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命名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空间的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使用有三种方式：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命名空间名加上作用域标识符“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::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”标识要使用的实体。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在引用处指明变量所属的空间，例如，使用标准命名空间的标准输出和换行符，示例代码如下：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std::cout&lt;&lt;"C++"&lt;&lt;std::endl;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91920" y="1503680"/>
            <a:ext cx="9794240" cy="4033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关键字，在要使用空间实体的上面，使用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关键字引入要使用的空间变量。例如，使用标准命名空间的标准输出，示例代码如下：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 std::cout;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cout&lt;&lt;"C++";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这种情况下，只能使用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引入的标识符，例如，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空间里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不能被使用，但可以使用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std::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的形式使用。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命名空间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91920" y="1666240"/>
            <a:ext cx="9794240" cy="3728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关键字直接使用要使用的变量所属的空间，示例代码如下：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using namespace std;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这样引入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空间后，则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中定义的所有实体都可以被使用了。但这种情况下，如果引用多个命名空间往往容易出错。例如，自定义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函数，标准库也有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函数，调用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函数就会出现二义性错误。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54203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多学一招：匿名命名空间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299082" y="1720856"/>
            <a:ext cx="9968358" cy="3735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）匿名命名空间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命名空间还可以定义成匿名的，即创建命名空间时不写名字，由系统自动分配。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namespace</a:t>
            </a:r>
            <a:endParaRPr lang="zh-CN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{</a:t>
            </a:r>
            <a:endParaRPr lang="zh-CN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… //</a:t>
            </a:r>
            <a:r>
              <a:rPr lang="zh-CN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可以是变量、函数、类、其他命名空间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}</a:t>
            </a:r>
            <a:endParaRPr lang="zh-CN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366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内容占位符 2"/>
          <p:cNvSpPr txBox="1">
            <a:spLocks/>
          </p:cNvSpPr>
          <p:nvPr/>
        </p:nvSpPr>
        <p:spPr>
          <a:xfrm>
            <a:off x="1299082" y="1334776"/>
            <a:ext cx="9968358" cy="4954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）匿名命名空间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编译器在编译阶段会为匿名命名空间生成唯一的名字，而且还会为这个匿名的命名空间生成一条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using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指令，且生成的空间名是不可见的。匿名空间在编译后等效于下面的代码：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namespace _UNIQUE_NAME</a:t>
            </a:r>
            <a:endParaRPr lang="zh-CN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{</a:t>
            </a:r>
            <a:endParaRPr lang="zh-CN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… //可以是变量、函数、类、其他命名空间</a:t>
            </a:r>
            <a:endParaRPr lang="zh-CN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}</a:t>
            </a:r>
            <a:endParaRPr lang="zh-CN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using namespace __UNIQUE_NAME_;</a:t>
            </a:r>
            <a:endParaRPr lang="zh-CN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2311398" y="501700"/>
            <a:ext cx="54203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多学一招：匿名命名空间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146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内容占位符 2"/>
          <p:cNvSpPr txBox="1">
            <a:spLocks/>
          </p:cNvSpPr>
          <p:nvPr/>
        </p:nvSpPr>
        <p:spPr>
          <a:xfrm>
            <a:off x="5933440" y="2137416"/>
            <a:ext cx="5252720" cy="29324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匿名空间的作用是限制了命名空间的内容仅能被当前源文件使用，其他源文件是无法访问的，使用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extern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声明访问是无效的。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17" y="1318102"/>
            <a:ext cx="4827284" cy="4751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3667409" y="1853851"/>
            <a:ext cx="1233467" cy="751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注 意</a:t>
            </a:r>
            <a:endParaRPr lang="zh-CN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4203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多学一招：匿名命名空间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37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042160" y="1981200"/>
            <a:ext cx="4287520" cy="294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控制台常用的输入输出是由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对象实现的，他们定义在头文件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iostream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中，其作用类似于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语言中的 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scanf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printf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</a:p>
        </p:txBody>
      </p:sp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74438" y="1511935"/>
            <a:ext cx="3670740" cy="3974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209040" y="1981200"/>
            <a:ext cx="4216400" cy="2976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cin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与运算符“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”结合使用，用于读入用户输入，以空白（包括空格、回车、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TAB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）为分隔符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64848" y="1423353"/>
            <a:ext cx="5746432" cy="4499927"/>
            <a:chOff x="5764848" y="1423353"/>
            <a:chExt cx="5746432" cy="4499927"/>
          </a:xfrm>
        </p:grpSpPr>
        <p:pic>
          <p:nvPicPr>
            <p:cNvPr id="23040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764848" y="1423353"/>
              <a:ext cx="5746432" cy="44999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6024880" y="1493520"/>
              <a:ext cx="5476240" cy="43484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 读入单个变量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 c1,c2;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cin&gt;&gt;c1;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cin&gt;&gt;c2;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 读入多个变量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 s,y;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float f;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cin&gt;&gt;s&gt;&gt;y;  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//一次读入多个相同类型的变量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cin&gt;&gt;s&gt;&gt;f;  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x-none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//一次读入多个不同类型的变量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679440" y="1981200"/>
            <a:ext cx="5476240" cy="2976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2.cout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与运算符“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”结合使用，用于向控制台输出信息，称作标准输出对象或屏幕输出对象，但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也可以重定向输出到磁盘文件。</a:t>
            </a:r>
            <a:endParaRPr lang="en-US" altLang="zh-CN" sz="2400" dirty="0" err="1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314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1489074"/>
            <a:ext cx="2835910" cy="415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31633" y="1701800"/>
            <a:ext cx="4078287" cy="3215640"/>
            <a:chOff x="1458913" y="1376680"/>
            <a:chExt cx="4078287" cy="3215640"/>
          </a:xfrm>
        </p:grpSpPr>
        <p:pic>
          <p:nvPicPr>
            <p:cNvPr id="23245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58913" y="1376680"/>
              <a:ext cx="4078287" cy="3215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1788160" y="1676400"/>
              <a:ext cx="3708400" cy="2641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（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）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输出常量值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cout&lt;&lt;10&lt;&lt;endl;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cout&lt;&lt;'a'&lt;&lt;endl;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cout&lt;&lt;"C++"&lt;&lt;endl;</a:t>
              </a:r>
              <a:endPara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518593" y="1397000"/>
            <a:ext cx="4535487" cy="4719320"/>
            <a:chOff x="6518593" y="1397000"/>
            <a:chExt cx="4535487" cy="471932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18593" y="1397000"/>
              <a:ext cx="4464367" cy="471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6705600" y="1452880"/>
              <a:ext cx="4348480" cy="4541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（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）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输出变量值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//输出单个变量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 a =10;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cout&lt;&lt;a&lt;&lt;endl;  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//输出多个变量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 a = 10;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 *str = "abc";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cout&lt;&lt;a&lt;&lt;","&lt;&lt;str&lt;&lt;endl;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422400" y="1513840"/>
            <a:ext cx="10119360" cy="4378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输出指定格式的数据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输出指定格式的数据时，可以通过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标准库提供的标志位和操作符控制格式，使用这些操作需要包含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iomanip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头文件。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①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输出八进制、十进制、十六进制数据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a =10;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cout&lt;&lt;"oct:"&lt;&lt;oct&lt;&lt;a&lt;&lt;endl;	//以八进制输出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cout&lt;&lt;"dec:"&lt;&lt;dec&lt;&lt;a&lt;&lt;endl;	//以十进制输出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cout&lt;&lt;"hex:"&lt;&lt;hex&lt;&lt;a&lt;&lt;endl;	//以十六进制输出</a:t>
            </a:r>
            <a:endParaRPr lang="en-US" altLang="zh-CN" sz="2000" dirty="0" err="1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控制台输入输出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645920" y="1493520"/>
            <a:ext cx="9834880" cy="4378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②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输出指定精度数据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double f = 3.1415926;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&lt;&lt;"</a:t>
            </a:r>
            <a:r>
              <a:rPr lang="zh-CN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默认输出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:"&lt;&lt;f&lt;&lt;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&lt;&lt;"</a:t>
            </a:r>
            <a:r>
              <a:rPr lang="zh-CN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精度控制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setprecision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(7)&lt;&lt;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setiosflags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::fixed)&lt;&lt;f&lt;&lt;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③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输出指定域宽、对齐、填充方式的数据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setw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(10)&lt;&lt;3.1415&lt;&lt;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setw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(10)&lt;&lt;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setfill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('0')&lt;&lt;3.1415&lt;&lt;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setw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(10)&lt;&lt;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setfill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('0')&lt;&lt;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setiosflags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::left)&lt;&lt;3.1415&lt;&lt;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setw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(10)&lt;&lt;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setfill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('-')&lt;&lt;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setiosflags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ios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::right)&lt;&lt;3.1415&lt;&lt;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类型增强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676400" y="1889760"/>
            <a:ext cx="4632960" cy="3108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修饰的变量是一个常量，与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语言相比，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常量无法通过指针间接修改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114540" y="1843088"/>
            <a:ext cx="3878579" cy="3582352"/>
            <a:chOff x="7145020" y="1975168"/>
            <a:chExt cx="3878579" cy="3582352"/>
          </a:xfrm>
        </p:grpSpPr>
        <p:pic>
          <p:nvPicPr>
            <p:cNvPr id="27136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5020" y="1975168"/>
              <a:ext cx="3878579" cy="3582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7813040" y="2194560"/>
              <a:ext cx="2834640" cy="31597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 = 10;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类型不兼容错误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*p = &amp;a;	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无法修改常量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*p = 20; 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类型增强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605280" y="1889760"/>
            <a:ext cx="421640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逻辑类型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bool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语言中没有逻辑类型，只能用非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表示真，用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来表示假。而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中有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bool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类型，使用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true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关键字表示真，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false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关键字表示假。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6309360" y="2219008"/>
            <a:ext cx="5323840" cy="3054032"/>
            <a:chOff x="7145020" y="2153938"/>
            <a:chExt cx="3887394" cy="3582352"/>
          </a:xfrm>
        </p:grpSpPr>
        <p:pic>
          <p:nvPicPr>
            <p:cNvPr id="27136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5020" y="2153938"/>
              <a:ext cx="3878579" cy="3582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7335520" y="2504424"/>
              <a:ext cx="3696894" cy="287433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类型变量定义</a:t>
              </a:r>
              <a:endPara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 = false;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b = true;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判断两个数的大小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greater(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x, 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y){return x &gt; y;}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类型增强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605280" y="1889760"/>
            <a:ext cx="10027920" cy="1991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枚举类型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enum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语言中枚举类型只能是整数类型，且枚举变量可以用任意整数赋值，使用自由灵活。在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中，枚举变量只能使用枚举出来的元素进行赋值。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2489200" y="3936048"/>
            <a:ext cx="7815597" cy="1702752"/>
            <a:chOff x="7145020" y="2153938"/>
            <a:chExt cx="3878579" cy="3582352"/>
          </a:xfrm>
        </p:grpSpPr>
        <p:pic>
          <p:nvPicPr>
            <p:cNvPr id="27136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5020" y="2153938"/>
              <a:ext cx="3878579" cy="3582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7930478" y="2383489"/>
              <a:ext cx="2567483" cy="301572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enum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 temperature {WARM,COOL,HOT};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enum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 temperature t= WARM;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t=10;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默认参数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84960" y="2082800"/>
            <a:ext cx="4053840" cy="3068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支持默认参数，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即在定义或声明函数时给形参一个初始值，在调用函数时，如果不传递实参就使用默认参数值。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370320" y="1268752"/>
            <a:ext cx="4389120" cy="5066733"/>
            <a:chOff x="6370320" y="1296745"/>
            <a:chExt cx="4389120" cy="5066733"/>
          </a:xfrm>
        </p:grpSpPr>
        <p:pic>
          <p:nvPicPr>
            <p:cNvPr id="27341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70320" y="1337628"/>
              <a:ext cx="4389120" cy="5025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6695440" y="1296745"/>
              <a:ext cx="4064000" cy="499208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1-3  defaultPara.cpp</a:t>
              </a:r>
              <a:endPara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add(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y=1,int z=2) 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x+y+z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add(1);      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add(1,2);    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add(1,2,3); 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默认参数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59840" y="1442720"/>
            <a:ext cx="10312400" cy="467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在使用默认参数时需要注意以下规则：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）默认参数只可在函数声明中出现一次，如果没有函数声明，只有函数定义，才可以在函数定义中设定。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）默认参数赋值的顺序是自右向左，即如果一个参数设定了默认参数，则其右边不能存在未赋值的形参。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）默认参数调用时，遵循参数调用顺序，即有参数传入它会先从左向右依次匹配。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）默认参数值可以是全局变量、全局常量，甚至可以是一个函数。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函数重载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59840" y="2143760"/>
            <a:ext cx="3738880" cy="2377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(overload)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函数就是在同一个作用域内几个函数名字相同但形参列表不同。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313680" y="1250301"/>
            <a:ext cx="6116320" cy="5113176"/>
            <a:chOff x="5313680" y="1258803"/>
            <a:chExt cx="6116320" cy="4969277"/>
          </a:xfrm>
        </p:grpSpPr>
        <p:pic>
          <p:nvPicPr>
            <p:cNvPr id="27443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13680" y="1258803"/>
              <a:ext cx="6116320" cy="49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5577840" y="1330751"/>
              <a:ext cx="5659120" cy="47244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1-4 overloadFunc.cpp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add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x, 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y){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 " &lt;&lt; x + y &lt;&lt; 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add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(float x){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"float: " &lt;&lt; 10 + x &lt;&lt; 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double 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add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(double x, double y){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x + y;}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add(10.2);  		//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一个实型参数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add(1, 3);  		//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两个整型参数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0;}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函数重载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6055360" y="1899920"/>
            <a:ext cx="4968240" cy="280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当重载函数中的形参都是普通形参，定义和调用不会出现问题，当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重载函数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有默认参数值时，需要注意参数传递的问题。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77" y="1338422"/>
            <a:ext cx="4827284" cy="4751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内容占位符 2"/>
          <p:cNvSpPr txBox="1">
            <a:spLocks/>
          </p:cNvSpPr>
          <p:nvPr/>
        </p:nvSpPr>
        <p:spPr>
          <a:xfrm>
            <a:off x="4033169" y="1874171"/>
            <a:ext cx="1233467" cy="751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注 意</a:t>
            </a:r>
            <a:endParaRPr lang="zh-CN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函数重载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351280" y="1513840"/>
            <a:ext cx="9906000" cy="4551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当使用具有默认参数的函数重载形式时，须注意防止调用的二义性，例如，下面的两个函数：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add(int x, int y = 1);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 add(int x);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当调用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add()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函数时，如果只有一个参数就会产生歧义，编译器无法确认调用哪一个函数，这就产生了调用的二义性。在使用时要杜绝一个函数既有默认参数又是重载函数，避免二义性的发生。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856739" y="2448560"/>
            <a:ext cx="5537200" cy="2702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引入的新语言特性，它是某一变量的别名，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引入引用的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目的是简化指针的使用，灵活的使用引用可以使程序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简洁高效。</a:t>
            </a:r>
          </a:p>
        </p:txBody>
      </p:sp>
      <p:pic>
        <p:nvPicPr>
          <p:cNvPr id="27750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87681" y="1541144"/>
            <a:ext cx="3120058" cy="4107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920240" y="1605280"/>
            <a:ext cx="9560560" cy="3810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引用就是给一个变量起一个别名，用“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”标识符来标识，其定义格式如下：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数据类型 &amp; 引用名 = 变量名;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上述格式中，“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”并不是取地址操作符，而是起标识作用，标识所定义的标识符是一个引用。引用声明完成以后，定义的变量会有两个名称，定义多个则有多个名称。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82800" y="1788160"/>
            <a:ext cx="8270240" cy="3647440"/>
            <a:chOff x="1605280" y="1706880"/>
            <a:chExt cx="8270240" cy="3647440"/>
          </a:xfrm>
        </p:grpSpPr>
        <p:pic>
          <p:nvPicPr>
            <p:cNvPr id="27853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05280" y="1706880"/>
              <a:ext cx="8270240" cy="3647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509520" y="1832736"/>
              <a:ext cx="6908800" cy="336710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1-5  reference.cpp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a=10;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&amp;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=a;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变量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的地址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"&lt;&lt;hex&lt;&lt;&amp;a&lt;&lt;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引用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的地址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:"&lt;&lt;hex&lt;&lt;&amp;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引用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的值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:"&lt;&lt;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dec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381760" y="1493520"/>
            <a:ext cx="9743440" cy="4277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在定义引用时需要注意以下方面：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引用在定义时必须初始化，且与变量类型保持一致。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引用在初始化时不能绑定常量值，如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&amp;b = 10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，是错误的。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引用在初始化后，其值就不能再更改，即不能用作其它变量的引用。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不能定义引用的引用，即不能定义引用再次引用一个引用。即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&amp;&amp;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rb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，是错误的用法。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有指针类型、数组类型的引用，而没有引用的指针和引用的数组。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381760" y="1229360"/>
            <a:ext cx="9743440" cy="11855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增加引用类型，主要的应用就是把它作为函数的参数，以扩充函数传递数据的功能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31613" y="2539310"/>
            <a:ext cx="4159251" cy="3786844"/>
            <a:chOff x="778509" y="1388743"/>
            <a:chExt cx="5363211" cy="5178456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78509" y="1388743"/>
              <a:ext cx="5363211" cy="5178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1391919" y="1414599"/>
              <a:ext cx="4375640" cy="477519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1-6  quote.cpp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include 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iostream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using namespace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std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exchange(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x,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y)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temp = x;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x = y;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y = temp;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473190" y="1978025"/>
            <a:ext cx="4448810" cy="4300855"/>
            <a:chOff x="6676390" y="1409064"/>
            <a:chExt cx="4448810" cy="4920615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76390" y="1409064"/>
              <a:ext cx="4448810" cy="49206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7142480" y="1473200"/>
              <a:ext cx="3850640" cy="4744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a, b;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 "please input two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 " &lt;&lt;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&gt;&gt; a &gt;&gt; b;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exchange(a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, b);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 " exchange: " &lt;&lt; a &lt;&lt; " "&lt;&lt; b &lt;&lt;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6268720" y="1625600"/>
            <a:ext cx="4693920" cy="3942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想使用常量值初始化引用，则引用必须用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来修饰，用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修饰的引用称为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引用，也称为常引用。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 &amp;a = 10;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 b = 10;		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 &amp;rb = b</a:t>
            </a: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640" y="2114980"/>
            <a:ext cx="3551235" cy="307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676400" y="1595120"/>
            <a:ext cx="9763760" cy="3789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变量的引用必须是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引用，但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引用不是必须使用常量或常变量进行初始化，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引用可以使用普通变量进行初始化，使用普通变量初始化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引用，只是不允许通过该引用修改变量的值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a = 10;			</a:t>
            </a: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</a:t>
            </a: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 &amp;b = a;		//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初始化</a:t>
            </a: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</a:t>
            </a: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b=20;				</a:t>
            </a: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错误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5163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676400" y="1595120"/>
            <a:ext cx="9763760" cy="3789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作函数参数时，也可以使用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修饰，表示不能在函数内部修改参数的值。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bool isLonger(const string &amp;s1, const string &amp;s2)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return s1.size() &gt; s2.size();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236764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168400" y="1463040"/>
            <a:ext cx="6360160" cy="456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语言没有字符串这一数据类型，都是用字符数组处理字符串，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支持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风格的字符串，还提供了一种自定义数据类型—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，用于表示字符串，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是定义在头文件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中的类，使用前需要包含头文件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类型定义字符串，不必担心字符串长度、内存不足等情况，而且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类重载的运算符和成员函数足以完成字符串的处理操作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816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2110" y="1596073"/>
            <a:ext cx="354330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418081" y="1818640"/>
            <a:ext cx="7061200" cy="3616960"/>
            <a:chOff x="2418081" y="1818640"/>
            <a:chExt cx="7061200" cy="3616960"/>
          </a:xfrm>
        </p:grpSpPr>
        <p:pic>
          <p:nvPicPr>
            <p:cNvPr id="2826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18081" y="2445068"/>
              <a:ext cx="7061200" cy="2919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内容占位符 2"/>
            <p:cNvSpPr txBox="1">
              <a:spLocks/>
            </p:cNvSpPr>
            <p:nvPr/>
          </p:nvSpPr>
          <p:spPr>
            <a:xfrm>
              <a:off x="3271520" y="1818640"/>
              <a:ext cx="5963920" cy="36169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定义字符串方式：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 s1;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s1="hello C++";		//第一种方式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 s2="hello C++";	//第二种方式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 s3("hello C++");	//第三种方式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 s4(6,'a');		//第四种方式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615440" y="1503680"/>
            <a:ext cx="4236720" cy="4236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访问字符串中的字符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类重载了“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”操作符，可以用索引访问和操作字符串中指定位置的字符。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s="hello,C++";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s[7]='P';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s[8]='P';</a:t>
            </a:r>
            <a:endParaRPr lang="en-US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6319520" y="1554480"/>
            <a:ext cx="4947920" cy="3891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字符串连接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重载了“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”运算符，可以使用“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”运算符连接两个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类型的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string s1,s2;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s1="我在学习";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s2="C++";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&lt;&lt;s1+s2&lt;&lt;</a:t>
            </a: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615440" y="1402080"/>
            <a:ext cx="9428480" cy="484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字符串比较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中，可以直接调用重载后的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!=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等运算符比较两个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s1,s2;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cin&gt;&gt;s1&gt;&gt;s2;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if(s1&gt;s2)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cout&lt;&lt;"字符串s1大于s2"&lt;&lt;endl;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else if (s1&lt;s2)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cout&lt;&lt;"字符串s2大于s1"&lt;&lt;endl;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else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&lt;&lt;"</a:t>
            </a:r>
            <a:r>
              <a:rPr lang="zh-CN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s1</a:t>
            </a:r>
            <a:r>
              <a:rPr lang="zh-CN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于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s2</a:t>
            </a:r>
            <a:r>
              <a:rPr lang="zh-CN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相等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"&lt;&lt;</a:t>
            </a:r>
            <a:r>
              <a:rPr lang="en-US" altLang="zh-CN" sz="20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615440" y="1503680"/>
            <a:ext cx="9428480" cy="3637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字符串长度计算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类也提供了一些获取字符串长度的函数，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length()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函数函数，用于获取字符串长度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s = "hello C++";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&lt;&lt;"length():"&lt;&lt;</a:t>
            </a: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s.length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()&lt;&lt;</a:t>
            </a: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</a:p>
        </p:txBody>
      </p:sp>
      <p:pic>
        <p:nvPicPr>
          <p:cNvPr id="2836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7200" y="2795270"/>
            <a:ext cx="2632710" cy="3574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1.3.7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字符串类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615440" y="1635760"/>
            <a:ext cx="9428480" cy="4185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字符串交换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类提供了成员函数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，用于交换两个字符串的值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s1="hello C++";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s2="I Love China!";</a:t>
            </a:r>
            <a:endParaRPr lang="zh-CN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s1.swap(s2);	</a:t>
            </a:r>
            <a:endParaRPr lang="en-US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的成员函数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swap()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只能交换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，不能交换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语言风格的字符串。</a:t>
            </a:r>
            <a:r>
              <a:rPr lang="x-none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7200" y="2795270"/>
            <a:ext cx="2632710" cy="3574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1.3.8 new/delete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188720" y="1463040"/>
            <a:ext cx="10617200" cy="4145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1.new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运算符用来申请一块连续的内存，其格式如下：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 数据类型(初始化列表);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在分配存储空间时指定了类型信息，并能根据初始化列表中给出的值进行初始化，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分配的内存空间直接可以使用，这个过程，称为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一个对象。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创建动态对象时不必为对象命名，直接指定数据类型即可。如果申请内存成功，返回一个类型指针；如果内存申请失败，则返回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NULL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1.3.8 new/delete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869440" y="2103120"/>
            <a:ext cx="8930640" cy="2936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）创建基本数据类型对象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创建数据对象可以有不同的初始化方式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char* pc = new char;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//申请空间存储char类型数据，内存中没有初始值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int* pi = new int(10);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//申请空间存储int类型数据，初始值为10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float* pd = new float();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//申请空间存储float类型的数据，默认初始值为0</a:t>
            </a:r>
            <a:endParaRPr lang="en-US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1.3.8 new/delete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54480" y="1808480"/>
            <a:ext cx="10088880" cy="375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）创建数组类型对象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 数据类型[数组长度];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数组时，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后面可以加小括号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，括号中不可以指定任何初始值，由编译器提供默认初始值，不加小括号时不提供初始值。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*pi = new int[10]();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 *pc = new char[10];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1.3.8 new/delete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54480" y="1452880"/>
            <a:ext cx="10088880" cy="4480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运算符分配内存，使用后要及时释放以免造成内存泄露，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运算符释放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出来的内存空间，其格式如下：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 指针名;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运算符直接作用于指针就可以删除由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创建的对象，释放指针所指向的内存空间。但在释放数组对象时要在指针名前加上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，其格式如下：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 []指针名;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如果漏掉了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，编译器在编译时无法发现错误，导致内存泄露。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1.3.8 new/delete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43398" y="1270000"/>
            <a:ext cx="8055292" cy="5080000"/>
            <a:chOff x="2125028" y="1270000"/>
            <a:chExt cx="8055292" cy="5080000"/>
          </a:xfrm>
        </p:grpSpPr>
        <p:pic>
          <p:nvPicPr>
            <p:cNvPr id="28467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25028" y="1270000"/>
              <a:ext cx="8034972" cy="508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570480" y="1310640"/>
              <a:ext cx="7609840" cy="50393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*pi = new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(10); 		//new 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一个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对象，初始值为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&lt;&lt;"*pi="&lt;&lt;*pi&lt;&lt;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*pi = 20;    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通过指针改变变量的值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&lt;&lt;"*pi = "&lt;&lt;*pi&lt;&lt;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 *pc = new char[10];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for 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0;i &lt; 10;i++)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pc[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] =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+ 65;    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向数组中存入元素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for 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0;i &lt; 10;i++)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&lt;&lt;pc[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]&lt;&lt;" ";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delete pi;      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释放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delete []pc;    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释放数组对象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0" name="内容占位符 2"/>
          <p:cNvSpPr txBox="1">
            <a:spLocks/>
          </p:cNvSpPr>
          <p:nvPr/>
        </p:nvSpPr>
        <p:spPr>
          <a:xfrm>
            <a:off x="575110" y="1270000"/>
            <a:ext cx="2841275" cy="11093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1-7  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allocMeorry.cpp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1.3.9 extern “C”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2133600" y="1442720"/>
            <a:ext cx="4897120" cy="449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程序中，可以使用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extern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”标注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语言代码，编译器会将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extern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”标注的代码以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语言的方式编译。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extern "C"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// C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语言代码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432" y="1757680"/>
            <a:ext cx="3482975" cy="360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1.3.9 extern “C”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58240" y="1971040"/>
            <a:ext cx="3728720" cy="3037840"/>
            <a:chOff x="1158240" y="1971040"/>
            <a:chExt cx="3728720" cy="3037840"/>
          </a:xfrm>
        </p:grpSpPr>
        <p:pic>
          <p:nvPicPr>
            <p:cNvPr id="28569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158240" y="2522855"/>
              <a:ext cx="3606800" cy="19475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452880" y="1971040"/>
              <a:ext cx="3434080" cy="3037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1-8 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mallocStr.h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#include 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stdio.h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#include &lt;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stdlib.h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char*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int,char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*);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262880" y="1595120"/>
            <a:ext cx="6228080" cy="4535092"/>
            <a:chOff x="5262880" y="1595120"/>
            <a:chExt cx="6228080" cy="4409439"/>
          </a:xfrm>
        </p:grpSpPr>
        <p:pic>
          <p:nvPicPr>
            <p:cNvPr id="28569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62880" y="2157094"/>
              <a:ext cx="6096000" cy="3847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5476240" y="1595120"/>
              <a:ext cx="6014720" cy="43484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1-9  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mallocStr.c</a:t>
              </a: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#define _CRT_SECURE_NO_WARNINGS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include"mallocStr.h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char*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size,char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*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char *p =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malloc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(size);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24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p,str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p;</a:t>
              </a:r>
              <a:endPara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1.3.9 extern “C”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10"/>
          <p:cNvGrpSpPr/>
          <p:nvPr/>
        </p:nvGrpSpPr>
        <p:grpSpPr>
          <a:xfrm>
            <a:off x="3413760" y="1047309"/>
            <a:ext cx="5090160" cy="5343332"/>
            <a:chOff x="5156960" y="1587465"/>
            <a:chExt cx="6096000" cy="4383754"/>
          </a:xfrm>
        </p:grpSpPr>
        <p:pic>
          <p:nvPicPr>
            <p:cNvPr id="28569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156960" y="1945208"/>
              <a:ext cx="6096000" cy="4026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5777511" y="1587465"/>
              <a:ext cx="5098251" cy="43484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1-10  main.cpp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ifdef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__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cplusplus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extern "C"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endif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include"mallocStr.h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ifdef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__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cplusplus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#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endif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char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[]="C++";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char *p=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sizeof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)+1,str);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&lt;&lt;p&lt;&lt;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free (p);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0; 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503680" y="1452880"/>
            <a:ext cx="10149840" cy="4480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static_cast&lt;type&gt;(expression)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static_cast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类型转换运算符可以实现下列转换：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基本数据类型之间的转换。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将任何类型转换为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把空指针转换成目标类型的指针。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用于类层次结构中基类和派生类之间指针或引用的转换。向上转换（派生类转换为基类）是安全的，向下转换（基类转为派生类）没有动态类型检查，是不安全的。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10640" y="1595120"/>
            <a:ext cx="9662160" cy="4003040"/>
            <a:chOff x="1310640" y="1544320"/>
            <a:chExt cx="9662160" cy="400304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640" y="1615440"/>
              <a:ext cx="9499600" cy="3931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564640" y="1544320"/>
              <a:ext cx="9408160" cy="4003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a=1;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float b=3.14;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a=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static_cast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&gt;(b); 	 	// 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将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float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类型转为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b=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static_cast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&lt;float&gt;(a); 	// 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将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*p=NULL; 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*q=NULL;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q=p; 				// 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空指针转为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类型，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语言允许，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C++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不允许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p=q;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q=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static_cast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*&gt;(p);  	// </a:t>
              </a:r>
              <a:r>
                <a:rPr lang="zh-CN" altLang="zh-CN" sz="20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空指针转为</a:t>
              </a:r>
              <a:r>
                <a:rPr lang="en-US" altLang="zh-CN" sz="20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endParaRPr lang="zh-CN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03680" y="1960880"/>
            <a:ext cx="10149840" cy="3108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reinterpret_cast&lt;type&gt;(expression)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reinterpret_cast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通常为操作数的位模式提供较底层的重新解释，重新解释指的是将二进制数据重新解释，在向上转换或者向下转换不可以进行隐式转换时，则需要重新解释类型转换，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reinterpret_cast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要转换的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type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类型必须是指针类型、引用或算术类型。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214880" y="1493520"/>
            <a:ext cx="7975600" cy="4328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 c = 'a';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d = reinterpret_cast&lt;int&amp;&gt;(c);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*p=NULL; 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float *q=NULL;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 = q;                            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//C语言允许，C++语言不允许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 = p;                            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//C语言允许，C++语言不允许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 = static_cast&lt;int*&gt;(q);     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//static_cast无法转换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 = static_cast&lt;int*&gt;(p);     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//static_cast无法转换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 = reinterpret_cast&lt;int*&gt;(q);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 = reinterpret_cast&lt;float*&gt;(p);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03680" y="1534160"/>
            <a:ext cx="10149840" cy="4185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const_cast&lt;type&gt;(expression)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const_cast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用于移除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对象的引用或指针具有的常量性质，可以去除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对引用和指针的限定，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const_cast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只能用于转换指针或引用。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修饰的变量只能被读取而无法被修改，而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语言中能通过指针方式修改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修饰的变量。为了兼容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语言，具有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语言的功能而比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语言更完善，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语言提出了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转换方式，能够修改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修饰的变量。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311398" y="1452880"/>
            <a:ext cx="688848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num = 100;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int* p1 = &amp;num;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//将常量指针转换为普通类型指针,去除const属性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int* p2 = const_cast&lt;int*&gt;(p1);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*p2 = 200;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 a=100;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int &amp; ra=a;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//将常量引用转化为普通类型引用，去除const属性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0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const_cast&lt;int&amp;&gt;(ra)=200;</a:t>
            </a:r>
            <a:endParaRPr lang="zh-CN" altLang="zh-CN" sz="20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1.3.10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41120" y="1290320"/>
            <a:ext cx="10434320" cy="5059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dynamic_cast&lt;type&gt;(expression)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dynamic_cast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用于运行时检查类型转换是否安全，可以在运行期间确定类型，如类的指针、类的引用和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void*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dynamic_cast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&lt;&gt;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主要应用于类层次间的向上转换和向下转换，以及类之间的交叉转换。在类层次间进行上行转换时，它和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作用一致，与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相比，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dynamic_cast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能够在运行时检查类型转换是否安全。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当向下转换时，基类指针或引用指向派生类对象时，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dynamic_cast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运算符会返回转换后类型的指针，这样的转换是安全的。如果基类指针或引用没有指向派生类对象则转换是不安全的，并返回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NULL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97383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多学一招：</a:t>
            </a:r>
            <a:r>
              <a:rPr lang="en-US" altLang="zh-CN" sz="3200" b="1" dirty="0" err="1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Bjarne</a:t>
            </a:r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3200" b="1" dirty="0" err="1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Stroustrup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对编写</a:t>
            </a:r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C++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的建议 </a:t>
            </a:r>
            <a:endParaRPr lang="zh-CN" altLang="en-US" sz="3200" b="1" dirty="0">
              <a:solidFill>
                <a:srgbClr val="1353A2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44320" y="1747520"/>
            <a:ext cx="9448800" cy="3677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中几乎不需要用宏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2.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const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或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enum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定义显式的常量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3.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inline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避免函数调用的额外开销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4.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用模板去定义函数或类型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5.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namespace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去避免命名冲突。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6.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确保声明的变量初始化，而不要在需要使用之前去声明。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1"/>
          <p:cNvSpPr txBox="1"/>
          <p:nvPr/>
        </p:nvSpPr>
        <p:spPr>
          <a:xfrm>
            <a:off x="2311398" y="501700"/>
            <a:ext cx="97383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多学一招：</a:t>
            </a:r>
            <a:r>
              <a:rPr lang="en-US" altLang="zh-CN" sz="3200" b="1" dirty="0" err="1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Bjarne</a:t>
            </a:r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3200" b="1" dirty="0" err="1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Stroustrup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对编写</a:t>
            </a:r>
            <a:r>
              <a:rPr lang="en-US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C++</a:t>
            </a:r>
            <a:r>
              <a:rPr lang="zh-CN" altLang="zh-CN" sz="3200" b="1" dirty="0" smtClean="0">
                <a:solidFill>
                  <a:srgbClr val="1353A2"/>
                </a:solidFill>
                <a:latin typeface="楷体" pitchFamily="49" charset="-122"/>
                <a:ea typeface="楷体" pitchFamily="49" charset="-122"/>
              </a:rPr>
              <a:t>的建议 </a:t>
            </a:r>
            <a:endParaRPr lang="zh-CN" altLang="en-US" sz="3200" b="1" dirty="0">
              <a:solidFill>
                <a:srgbClr val="1353A2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59280" y="1899920"/>
            <a:ext cx="9408160" cy="3515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7.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new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delete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会比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malloc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free()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函数更好，对于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realloc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函数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,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可以用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vector()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代替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8.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避免使用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void*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、指针算术、联合和强制转换。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9.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尽量少用数组和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C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风格的字符串，标准库中的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string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vector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可以简化程序。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10.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试着将程序考虑为一组由类和对象表示的相互作用的概念。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579534" y="1882281"/>
            <a:ext cx="5616786" cy="342123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本章首先讲解了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语言的发展历史、特点，然后带领大家编写了第一个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程序，最后讲解了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语言相对于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语言在基础语法上的扩充，如命名空间、类型增强、默认参数、引用等新知识点。通过本章的学习，大家会对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语言有基础的认识，在编写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语言程序中使用这些特性，为后续学习新的内容奠定基础。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  <p:transition spd="slow" advClick="0">
    <p:split orient="vert" dir="in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23925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a29042ce8bba213fb58a33ecbf8087f55ee08a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软件生命周期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7 本章小结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5434</TotalTime>
  <Words>4490</Words>
  <Application>Microsoft Office PowerPoint</Application>
  <PresentationFormat>宽屏</PresentationFormat>
  <Paragraphs>512</Paragraphs>
  <Slides>69</Slides>
  <Notes>69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0" baseType="lpstr">
      <vt:lpstr>等线</vt:lpstr>
      <vt:lpstr>等线 Light</vt:lpstr>
      <vt:lpstr>方正细倩简体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第1章 初识C++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薛蒙蒙</cp:lastModifiedBy>
  <cp:revision>700</cp:revision>
  <dcterms:created xsi:type="dcterms:W3CDTF">2016-08-25T05:35:30Z</dcterms:created>
  <dcterms:modified xsi:type="dcterms:W3CDTF">2021-03-29T05:38:10Z</dcterms:modified>
</cp:coreProperties>
</file>