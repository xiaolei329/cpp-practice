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tags/tag45.xml" ContentType="application/vnd.openxmlformats-officedocument.presentationml.tags+xml"/>
  <Override PartName="/ppt/notesSlides/notesSlide45.xml" ContentType="application/vnd.openxmlformats-officedocument.presentationml.notesSlide+xml"/>
  <Override PartName="/ppt/tags/tag46.xml" ContentType="application/vnd.openxmlformats-officedocument.presentationml.tags+xml"/>
  <Override PartName="/ppt/notesSlides/notesSlide46.xml" ContentType="application/vnd.openxmlformats-officedocument.presentationml.notesSlide+xml"/>
  <Override PartName="/ppt/tags/tag47.xml" ContentType="application/vnd.openxmlformats-officedocument.presentationml.tags+xml"/>
  <Override PartName="/ppt/notesSlides/notesSlide47.xml" ContentType="application/vnd.openxmlformats-officedocument.presentationml.notesSlide+xml"/>
  <Override PartName="/ppt/tags/tag48.xml" ContentType="application/vnd.openxmlformats-officedocument.presentationml.tags+xml"/>
  <Override PartName="/ppt/notesSlides/notesSlide48.xml" ContentType="application/vnd.openxmlformats-officedocument.presentationml.notesSlide+xml"/>
  <Override PartName="/ppt/tags/tag49.xml" ContentType="application/vnd.openxmlformats-officedocument.presentationml.tags+xml"/>
  <Override PartName="/ppt/notesSlides/notesSlide49.xml" ContentType="application/vnd.openxmlformats-officedocument.presentationml.notesSlide+xml"/>
  <Override PartName="/ppt/tags/tag50.xml" ContentType="application/vnd.openxmlformats-officedocument.presentationml.tags+xml"/>
  <Override PartName="/ppt/notesSlides/notesSlide50.xml" ContentType="application/vnd.openxmlformats-officedocument.presentationml.notesSlide+xml"/>
  <Override PartName="/ppt/tags/tag51.xml" ContentType="application/vnd.openxmlformats-officedocument.presentationml.tags+xml"/>
  <Override PartName="/ppt/notesSlides/notesSlide51.xml" ContentType="application/vnd.openxmlformats-officedocument.presentationml.notesSlide+xml"/>
  <Override PartName="/ppt/tags/tag52.xml" ContentType="application/vnd.openxmlformats-officedocument.presentationml.tags+xml"/>
  <Override PartName="/ppt/notesSlides/notesSlide52.xml" ContentType="application/vnd.openxmlformats-officedocument.presentationml.notesSlide+xml"/>
  <Override PartName="/ppt/tags/tag53.xml" ContentType="application/vnd.openxmlformats-officedocument.presentationml.tags+xml"/>
  <Override PartName="/ppt/notesSlides/notesSlide53.xml" ContentType="application/vnd.openxmlformats-officedocument.presentationml.notesSlide+xml"/>
  <Override PartName="/ppt/tags/tag54.xml" ContentType="application/vnd.openxmlformats-officedocument.presentationml.tags+xml"/>
  <Override PartName="/ppt/notesSlides/notesSlide54.xml" ContentType="application/vnd.openxmlformats-officedocument.presentationml.notesSlide+xml"/>
  <Override PartName="/ppt/tags/tag55.xml" ContentType="application/vnd.openxmlformats-officedocument.presentationml.tags+xml"/>
  <Override PartName="/ppt/notesSlides/notesSlide55.xml" ContentType="application/vnd.openxmlformats-officedocument.presentationml.notesSlide+xml"/>
  <Override PartName="/ppt/tags/tag56.xml" ContentType="application/vnd.openxmlformats-officedocument.presentationml.tags+xml"/>
  <Override PartName="/ppt/notesSlides/notesSlide56.xml" ContentType="application/vnd.openxmlformats-officedocument.presentationml.notesSlide+xml"/>
  <Override PartName="/ppt/tags/tag57.xml" ContentType="application/vnd.openxmlformats-officedocument.presentationml.tags+xml"/>
  <Override PartName="/ppt/notesSlides/notesSlide57.xml" ContentType="application/vnd.openxmlformats-officedocument.presentationml.notesSlide+xml"/>
  <Override PartName="/ppt/tags/tag58.xml" ContentType="application/vnd.openxmlformats-officedocument.presentationml.tags+xml"/>
  <Override PartName="/ppt/notesSlides/notesSlide58.xml" ContentType="application/vnd.openxmlformats-officedocument.presentationml.notesSlide+xml"/>
  <Override PartName="/ppt/tags/tag59.xml" ContentType="application/vnd.openxmlformats-officedocument.presentationml.tags+xml"/>
  <Override PartName="/ppt/notesSlides/notesSlide59.xml" ContentType="application/vnd.openxmlformats-officedocument.presentationml.notesSlide+xml"/>
  <Override PartName="/ppt/tags/tag60.xml" ContentType="application/vnd.openxmlformats-officedocument.presentationml.tags+xml"/>
  <Override PartName="/ppt/notesSlides/notesSlide60.xml" ContentType="application/vnd.openxmlformats-officedocument.presentationml.notesSlide+xml"/>
  <Override PartName="/ppt/tags/tag61.xml" ContentType="application/vnd.openxmlformats-officedocument.presentationml.tags+xml"/>
  <Override PartName="/ppt/notesSlides/notesSlide61.xml" ContentType="application/vnd.openxmlformats-officedocument.presentationml.notesSlide+xml"/>
  <Override PartName="/ppt/tags/tag62.xml" ContentType="application/vnd.openxmlformats-officedocument.presentationml.tags+xml"/>
  <Override PartName="/ppt/notesSlides/notesSlide62.xml" ContentType="application/vnd.openxmlformats-officedocument.presentationml.notesSlide+xml"/>
  <Override PartName="/ppt/tags/tag63.xml" ContentType="application/vnd.openxmlformats-officedocument.presentationml.tags+xml"/>
  <Override PartName="/ppt/notesSlides/notesSlide63.xml" ContentType="application/vnd.openxmlformats-officedocument.presentationml.notesSlide+xml"/>
  <Override PartName="/ppt/tags/tag64.xml" ContentType="application/vnd.openxmlformats-officedocument.presentationml.tags+xml"/>
  <Override PartName="/ppt/notesSlides/notesSlide64.xml" ContentType="application/vnd.openxmlformats-officedocument.presentationml.notesSlide+xml"/>
  <Override PartName="/ppt/tags/tag65.xml" ContentType="application/vnd.openxmlformats-officedocument.presentationml.tags+xml"/>
  <Override PartName="/ppt/notesSlides/notesSlide65.xml" ContentType="application/vnd.openxmlformats-officedocument.presentationml.notesSlide+xml"/>
  <Override PartName="/ppt/tags/tag66.xml" ContentType="application/vnd.openxmlformats-officedocument.presentationml.tags+xml"/>
  <Override PartName="/ppt/notesSlides/notesSlide66.xml" ContentType="application/vnd.openxmlformats-officedocument.presentationml.notesSlide+xml"/>
  <Override PartName="/ppt/tags/tag67.xml" ContentType="application/vnd.openxmlformats-officedocument.presentationml.tags+xml"/>
  <Override PartName="/ppt/notesSlides/notesSlide67.xml" ContentType="application/vnd.openxmlformats-officedocument.presentationml.notesSlide+xml"/>
  <Override PartName="/ppt/tags/tag68.xml" ContentType="application/vnd.openxmlformats-officedocument.presentationml.tags+xml"/>
  <Override PartName="/ppt/notesSlides/notesSlide68.xml" ContentType="application/vnd.openxmlformats-officedocument.presentationml.notesSlide+xml"/>
  <Override PartName="/ppt/tags/tag69.xml" ContentType="application/vnd.openxmlformats-officedocument.presentationml.tags+xml"/>
  <Override PartName="/ppt/notesSlides/notesSlide69.xml" ContentType="application/vnd.openxmlformats-officedocument.presentationml.notesSlide+xml"/>
  <Override PartName="/ppt/tags/tag70.xml" ContentType="application/vnd.openxmlformats-officedocument.presentationml.tags+xml"/>
  <Override PartName="/ppt/notesSlides/notesSlide70.xml" ContentType="application/vnd.openxmlformats-officedocument.presentationml.notesSlide+xml"/>
  <Override PartName="/ppt/tags/tag71.xml" ContentType="application/vnd.openxmlformats-officedocument.presentationml.tags+xml"/>
  <Override PartName="/ppt/notesSlides/notesSlide71.xml" ContentType="application/vnd.openxmlformats-officedocument.presentationml.notesSlide+xml"/>
  <Override PartName="/ppt/tags/tag72.xml" ContentType="application/vnd.openxmlformats-officedocument.presentationml.tags+xml"/>
  <Override PartName="/ppt/notesSlides/notesSlide72.xml" ContentType="application/vnd.openxmlformats-officedocument.presentationml.notesSlide+xml"/>
  <Override PartName="/ppt/tags/tag73.xml" ContentType="application/vnd.openxmlformats-officedocument.presentationml.tags+xml"/>
  <Override PartName="/ppt/notesSlides/notesSlide73.xml" ContentType="application/vnd.openxmlformats-officedocument.presentationml.notesSlide+xml"/>
  <Override PartName="/ppt/tags/tag74.xml" ContentType="application/vnd.openxmlformats-officedocument.presentationml.tags+xml"/>
  <Override PartName="/ppt/notesSlides/notesSlide74.xml" ContentType="application/vnd.openxmlformats-officedocument.presentationml.notesSlide+xml"/>
  <Override PartName="/ppt/tags/tag75.xml" ContentType="application/vnd.openxmlformats-officedocument.presentationml.tags+xml"/>
  <Override PartName="/ppt/notesSlides/notesSlide75.xml" ContentType="application/vnd.openxmlformats-officedocument.presentationml.notesSlide+xml"/>
  <Override PartName="/ppt/tags/tag76.xml" ContentType="application/vnd.openxmlformats-officedocument.presentationml.tags+xml"/>
  <Override PartName="/ppt/notesSlides/notesSlide76.xml" ContentType="application/vnd.openxmlformats-officedocument.presentationml.notesSlide+xml"/>
  <Override PartName="/ppt/tags/tag77.xml" ContentType="application/vnd.openxmlformats-officedocument.presentationml.tags+xml"/>
  <Override PartName="/ppt/notesSlides/notesSlide77.xml" ContentType="application/vnd.openxmlformats-officedocument.presentationml.notesSlide+xml"/>
  <Override PartName="/ppt/tags/tag78.xml" ContentType="application/vnd.openxmlformats-officedocument.presentationml.tags+xml"/>
  <Override PartName="/ppt/notesSlides/notesSlide78.xml" ContentType="application/vnd.openxmlformats-officedocument.presentationml.notesSlide+xml"/>
  <Override PartName="/ppt/tags/tag79.xml" ContentType="application/vnd.openxmlformats-officedocument.presentationml.tags+xml"/>
  <Override PartName="/ppt/notesSlides/notesSlide79.xml" ContentType="application/vnd.openxmlformats-officedocument.presentationml.notesSlide+xml"/>
  <Override PartName="/ppt/tags/tag80.xml" ContentType="application/vnd.openxmlformats-officedocument.presentationml.tags+xml"/>
  <Override PartName="/ppt/notesSlides/notesSlide80.xml" ContentType="application/vnd.openxmlformats-officedocument.presentationml.notesSlide+xml"/>
  <Override PartName="/ppt/tags/tag81.xml" ContentType="application/vnd.openxmlformats-officedocument.presentationml.tags+xml"/>
  <Override PartName="/ppt/notesSlides/notesSlide81.xml" ContentType="application/vnd.openxmlformats-officedocument.presentationml.notesSlide+xml"/>
  <Override PartName="/ppt/tags/tag82.xml" ContentType="application/vnd.openxmlformats-officedocument.presentationml.tags+xml"/>
  <Override PartName="/ppt/notesSlides/notesSlide82.xml" ContentType="application/vnd.openxmlformats-officedocument.presentationml.notesSlide+xml"/>
  <Override PartName="/ppt/tags/tag83.xml" ContentType="application/vnd.openxmlformats-officedocument.presentationml.tags+xml"/>
  <Override PartName="/ppt/notesSlides/notesSlide83.xml" ContentType="application/vnd.openxmlformats-officedocument.presentationml.notesSlide+xml"/>
  <Override PartName="/ppt/tags/tag84.xml" ContentType="application/vnd.openxmlformats-officedocument.presentationml.tags+xml"/>
  <Override PartName="/ppt/notesSlides/notesSlide84.xml" ContentType="application/vnd.openxmlformats-officedocument.presentationml.notesSlide+xml"/>
  <Override PartName="/ppt/tags/tag85.xml" ContentType="application/vnd.openxmlformats-officedocument.presentationml.tags+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256" r:id="rId2"/>
    <p:sldId id="522" r:id="rId3"/>
    <p:sldId id="1132" r:id="rId4"/>
    <p:sldId id="1133" r:id="rId5"/>
    <p:sldId id="1134" r:id="rId6"/>
    <p:sldId id="1135" r:id="rId7"/>
    <p:sldId id="1136" r:id="rId8"/>
    <p:sldId id="1137" r:id="rId9"/>
    <p:sldId id="1138" r:id="rId10"/>
    <p:sldId id="1139" r:id="rId11"/>
    <p:sldId id="1140" r:id="rId12"/>
    <p:sldId id="1141" r:id="rId13"/>
    <p:sldId id="1142" r:id="rId14"/>
    <p:sldId id="1143" r:id="rId15"/>
    <p:sldId id="1144" r:id="rId16"/>
    <p:sldId id="1145" r:id="rId17"/>
    <p:sldId id="1146" r:id="rId18"/>
    <p:sldId id="1147" r:id="rId19"/>
    <p:sldId id="1148" r:id="rId20"/>
    <p:sldId id="1149" r:id="rId21"/>
    <p:sldId id="1150" r:id="rId22"/>
    <p:sldId id="1151" r:id="rId23"/>
    <p:sldId id="1152" r:id="rId24"/>
    <p:sldId id="1153" r:id="rId25"/>
    <p:sldId id="1154" r:id="rId26"/>
    <p:sldId id="1155" r:id="rId27"/>
    <p:sldId id="1156" r:id="rId28"/>
    <p:sldId id="1157" r:id="rId29"/>
    <p:sldId id="1158" r:id="rId30"/>
    <p:sldId id="1159" r:id="rId31"/>
    <p:sldId id="1160" r:id="rId32"/>
    <p:sldId id="1161" r:id="rId33"/>
    <p:sldId id="1162" r:id="rId34"/>
    <p:sldId id="1163" r:id="rId35"/>
    <p:sldId id="1164" r:id="rId36"/>
    <p:sldId id="1165" r:id="rId37"/>
    <p:sldId id="1166" r:id="rId38"/>
    <p:sldId id="1167" r:id="rId39"/>
    <p:sldId id="1168" r:id="rId40"/>
    <p:sldId id="1169" r:id="rId41"/>
    <p:sldId id="1170" r:id="rId42"/>
    <p:sldId id="1172" r:id="rId43"/>
    <p:sldId id="1173" r:id="rId44"/>
    <p:sldId id="1174" r:id="rId45"/>
    <p:sldId id="1175" r:id="rId46"/>
    <p:sldId id="1176" r:id="rId47"/>
    <p:sldId id="1177" r:id="rId48"/>
    <p:sldId id="1178" r:id="rId49"/>
    <p:sldId id="1179" r:id="rId50"/>
    <p:sldId id="1180" r:id="rId51"/>
    <p:sldId id="1181" r:id="rId52"/>
    <p:sldId id="1182" r:id="rId53"/>
    <p:sldId id="1183" r:id="rId54"/>
    <p:sldId id="1184" r:id="rId55"/>
    <p:sldId id="1185" r:id="rId56"/>
    <p:sldId id="1186" r:id="rId57"/>
    <p:sldId id="1187" r:id="rId58"/>
    <p:sldId id="1188" r:id="rId59"/>
    <p:sldId id="1189" r:id="rId60"/>
    <p:sldId id="1190" r:id="rId61"/>
    <p:sldId id="1191" r:id="rId62"/>
    <p:sldId id="1192" r:id="rId63"/>
    <p:sldId id="1193" r:id="rId64"/>
    <p:sldId id="1194" r:id="rId65"/>
    <p:sldId id="1195" r:id="rId66"/>
    <p:sldId id="1196" r:id="rId67"/>
    <p:sldId id="1197" r:id="rId68"/>
    <p:sldId id="1198" r:id="rId69"/>
    <p:sldId id="1199" r:id="rId70"/>
    <p:sldId id="1200" r:id="rId71"/>
    <p:sldId id="1201" r:id="rId72"/>
    <p:sldId id="1202" r:id="rId73"/>
    <p:sldId id="1203" r:id="rId74"/>
    <p:sldId id="1204" r:id="rId75"/>
    <p:sldId id="1205" r:id="rId76"/>
    <p:sldId id="1206" r:id="rId77"/>
    <p:sldId id="1207" r:id="rId78"/>
    <p:sldId id="1208" r:id="rId79"/>
    <p:sldId id="1209" r:id="rId80"/>
    <p:sldId id="1210" r:id="rId81"/>
    <p:sldId id="1211" r:id="rId82"/>
    <p:sldId id="1212" r:id="rId83"/>
    <p:sldId id="1213" r:id="rId84"/>
    <p:sldId id="335" r:id="rId85"/>
    <p:sldId id="283" r:id="rId86"/>
  </p:sldIdLst>
  <p:sldSz cx="12192000" cy="6858000"/>
  <p:notesSz cx="6858000" cy="9144000"/>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53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56" autoAdjust="0"/>
    <p:restoredTop sz="93461" autoAdjust="0"/>
  </p:normalViewPr>
  <p:slideViewPr>
    <p:cSldViewPr snapToGrid="0">
      <p:cViewPr varScale="1">
        <p:scale>
          <a:sx n="82" d="100"/>
          <a:sy n="82" d="100"/>
        </p:scale>
        <p:origin x="758"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gs" Target="tags/tag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B00CE-9247-49D0-8AE5-6DFFAEFF8CEF}" type="datetimeFigureOut">
              <a:rPr lang="zh-CN" altLang="en-US" smtClean="0"/>
              <a:t>2021-3-29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7D86BB-FDB9-4079-8E00-8F1F7A4AA6F0}" type="slidenum">
              <a:rPr lang="zh-CN" altLang="en-US" smtClean="0"/>
              <a:t>‹#›</a:t>
            </a:fld>
            <a:endParaRPr lang="zh-CN" altLang="en-US"/>
          </a:p>
        </p:txBody>
      </p:sp>
    </p:spTree>
    <p:extLst>
      <p:ext uri="{BB962C8B-B14F-4D97-AF65-F5344CB8AC3E}">
        <p14:creationId xmlns:p14="http://schemas.microsoft.com/office/powerpoint/2010/main" val="249607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a:t>
            </a:fld>
            <a:endParaRPr lang="zh-CN" altLang="en-US"/>
          </a:p>
        </p:txBody>
      </p:sp>
    </p:spTree>
    <p:extLst>
      <p:ext uri="{BB962C8B-B14F-4D97-AF65-F5344CB8AC3E}">
        <p14:creationId xmlns:p14="http://schemas.microsoft.com/office/powerpoint/2010/main" val="3650534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19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29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39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49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59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69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74</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75</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76</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77</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78</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79</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80</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81</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82</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83</a:t>
            </a:fld>
            <a:endParaRPr lang="zh-CN" altLang="en-US"/>
          </a:p>
        </p:txBody>
      </p:sp>
    </p:spTree>
    <p:extLst>
      <p:ext uri="{BB962C8B-B14F-4D97-AF65-F5344CB8AC3E}">
        <p14:creationId xmlns:p14="http://schemas.microsoft.com/office/powerpoint/2010/main" val="45875587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84</a:t>
            </a:fld>
            <a:endParaRPr lang="zh-CN" altLang="en-US"/>
          </a:p>
        </p:txBody>
      </p:sp>
    </p:spTree>
    <p:extLst>
      <p:ext uri="{BB962C8B-B14F-4D97-AF65-F5344CB8AC3E}">
        <p14:creationId xmlns:p14="http://schemas.microsoft.com/office/powerpoint/2010/main" val="226653278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57D86BB-FDB9-4079-8E00-8F1F7A4AA6F0}" type="slidenum">
              <a:rPr lang="zh-CN" altLang="en-US" smtClean="0"/>
              <a:t>85</a:t>
            </a:fld>
            <a:endParaRPr lang="zh-CN" altLang="en-US"/>
          </a:p>
        </p:txBody>
      </p:sp>
    </p:spTree>
    <p:extLst>
      <p:ext uri="{BB962C8B-B14F-4D97-AF65-F5344CB8AC3E}">
        <p14:creationId xmlns:p14="http://schemas.microsoft.com/office/powerpoint/2010/main" val="22504425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
            <a:ext cx="12192000" cy="6858001"/>
          </a:xfrm>
          <a:prstGeom prst="rect">
            <a:avLst/>
          </a:prstGeom>
        </p:spPr>
      </p:pic>
      <p:sp>
        <p:nvSpPr>
          <p:cNvPr id="2" name="标题 1"/>
          <p:cNvSpPr>
            <a:spLocks noGrp="1"/>
          </p:cNvSpPr>
          <p:nvPr>
            <p:ph type="ctrTitle"/>
          </p:nvPr>
        </p:nvSpPr>
        <p:spPr>
          <a:xfrm>
            <a:off x="1524000" y="1596979"/>
            <a:ext cx="9144000" cy="1912983"/>
          </a:xfrm>
        </p:spPr>
        <p:txBody>
          <a:bodyPr anchor="b">
            <a:normAutofit/>
          </a:bodyPr>
          <a:lstStyle>
            <a:lvl1pPr algn="ctr">
              <a:defRPr sz="480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solidFill>
                  <a:schemeClr val="bg1"/>
                </a:solidFill>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t>‹#›</a:t>
            </a:fld>
            <a:endParaRPr lang="zh-CN" altLang="en-US"/>
          </a:p>
        </p:txBody>
      </p:sp>
      <p:grpSp>
        <p:nvGrpSpPr>
          <p:cNvPr id="10" name="组合 9"/>
          <p:cNvGrpSpPr/>
          <p:nvPr userDrawn="1"/>
        </p:nvGrpSpPr>
        <p:grpSpPr>
          <a:xfrm>
            <a:off x="3117273" y="-3221"/>
            <a:ext cx="6259483" cy="1600200"/>
            <a:chOff x="3117273" y="-3221"/>
            <a:chExt cx="6259483" cy="1600200"/>
          </a:xfrm>
        </p:grpSpPr>
        <p:sp>
          <p:nvSpPr>
            <p:cNvPr id="11" name="矩形 10"/>
            <p:cNvSpPr/>
            <p:nvPr userDrawn="1"/>
          </p:nvSpPr>
          <p:spPr>
            <a:xfrm>
              <a:off x="3117273" y="-3221"/>
              <a:ext cx="6259483" cy="1600200"/>
            </a:xfrm>
            <a:prstGeom prst="rect">
              <a:avLst/>
            </a:prstGeom>
            <a:solidFill>
              <a:srgbClr val="1369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93773" y="760266"/>
              <a:ext cx="3590099" cy="560369"/>
            </a:xfrm>
            <a:prstGeom prst="rect">
              <a:avLst/>
            </a:prstGeom>
          </p:spPr>
        </p:pic>
      </p:grpSp>
    </p:spTree>
    <p:extLst>
      <p:ext uri="{BB962C8B-B14F-4D97-AF65-F5344CB8AC3E}">
        <p14:creationId xmlns:p14="http://schemas.microsoft.com/office/powerpoint/2010/main" val="1440539395"/>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00329" y="313611"/>
            <a:ext cx="6510271" cy="652306"/>
          </a:xfrm>
        </p:spPr>
        <p:txBody>
          <a:bodyPr>
            <a:normAutofit/>
          </a:bodyPr>
          <a:lstStyle>
            <a:lvl1pPr>
              <a:defRPr sz="3200">
                <a:solidFill>
                  <a:srgbClr val="1353A2"/>
                </a:solidFill>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t>‹#›</a:t>
            </a:fld>
            <a:endParaRPr lang="zh-CN" altLang="en-US"/>
          </a:p>
        </p:txBody>
      </p:sp>
    </p:spTree>
    <p:extLst>
      <p:ext uri="{BB962C8B-B14F-4D97-AF65-F5344CB8AC3E}">
        <p14:creationId xmlns:p14="http://schemas.microsoft.com/office/powerpoint/2010/main" val="2691881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11893D6-510C-4F6F-9867-0DA6859ED432}" type="slidenum">
              <a:rPr lang="zh-CN" altLang="en-US" smtClean="0"/>
              <a:t>‹#›</a:t>
            </a:fld>
            <a:endParaRPr lang="zh-CN" altLang="en-US"/>
          </a:p>
        </p:txBody>
      </p:sp>
    </p:spTree>
    <p:extLst>
      <p:ext uri="{BB962C8B-B14F-4D97-AF65-F5344CB8AC3E}">
        <p14:creationId xmlns:p14="http://schemas.microsoft.com/office/powerpoint/2010/main" val="558823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8"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83773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10"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665202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11893D6-510C-4F6F-9867-0DA6859ED432}" type="slidenum">
              <a:rPr lang="zh-CN" altLang="en-US" smtClean="0"/>
              <a:t>‹#›</a:t>
            </a:fld>
            <a:endParaRPr lang="zh-CN" altLang="en-US"/>
          </a:p>
        </p:txBody>
      </p:sp>
      <p:sp>
        <p:nvSpPr>
          <p:cNvPr id="6" name="标题 1"/>
          <p:cNvSpPr>
            <a:spLocks noGrp="1"/>
          </p:cNvSpPr>
          <p:nvPr>
            <p:ph type="title"/>
          </p:nvPr>
        </p:nvSpPr>
        <p:spPr>
          <a:xfrm>
            <a:off x="2100329" y="313611"/>
            <a:ext cx="6510271" cy="652306"/>
          </a:xfrm>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Tree>
    <p:extLst>
      <p:ext uri="{BB962C8B-B14F-4D97-AF65-F5344CB8AC3E}">
        <p14:creationId xmlns:p14="http://schemas.microsoft.com/office/powerpoint/2010/main" val="3772689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CEA79B1-94F2-44A5-8271-BE7A17D6686D}" type="datetimeFigureOut">
              <a:rPr lang="zh-CN" altLang="en-US" smtClean="0"/>
              <a:t>2021-3-29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11893D6-510C-4F6F-9867-0DA6859ED432}" type="slidenum">
              <a:rPr lang="zh-CN" altLang="en-US" smtClean="0"/>
              <a:t>‹#›</a:t>
            </a:fld>
            <a:endParaRPr lang="zh-CN" altLang="en-US"/>
          </a:p>
        </p:txBody>
      </p:sp>
      <p:pic>
        <p:nvPicPr>
          <p:cNvPr id="6" name="Picture 3"/>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图片 4"/>
          <p:cNvPicPr>
            <a:picLocks noChangeAspect="1"/>
          </p:cNvPicPr>
          <p:nvPr userDrawn="1"/>
        </p:nvPicPr>
        <p:blipFill>
          <a:blip r:embed="rId3"/>
          <a:stretch>
            <a:fillRect/>
          </a:stretch>
        </p:blipFill>
        <p:spPr>
          <a:xfrm>
            <a:off x="3976687" y="1081621"/>
            <a:ext cx="4238625" cy="1228725"/>
          </a:xfrm>
          <a:prstGeom prst="rect">
            <a:avLst/>
          </a:prstGeom>
        </p:spPr>
      </p:pic>
    </p:spTree>
    <p:extLst>
      <p:ext uri="{BB962C8B-B14F-4D97-AF65-F5344CB8AC3E}">
        <p14:creationId xmlns:p14="http://schemas.microsoft.com/office/powerpoint/2010/main" val="225923876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2" name="Picture 2" descr="C:\Users\admin\AppData\Local\Temp\企业微信截图_16122565271795.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01015" y="6494779"/>
            <a:ext cx="1733550" cy="342901"/>
          </a:xfrm>
          <a:prstGeom prst="rect">
            <a:avLst/>
          </a:prstGeom>
          <a:noFill/>
          <a:extLst>
            <a:ext uri="{909E8E84-426E-40DD-AFC4-6F175D3DCCD1}">
              <a14:hiddenFill xmlns:a14="http://schemas.microsoft.com/office/drawing/2010/main">
                <a:solidFill>
                  <a:srgbClr val="FFFFFF"/>
                </a:solidFill>
              </a14:hiddenFill>
            </a:ext>
          </a:extLst>
        </p:spPr>
      </p:pic>
      <p:grpSp>
        <p:nvGrpSpPr>
          <p:cNvPr id="4" name="组合 3"/>
          <p:cNvGrpSpPr/>
          <p:nvPr userDrawn="1"/>
        </p:nvGrpSpPr>
        <p:grpSpPr>
          <a:xfrm>
            <a:off x="8429625" y="247650"/>
            <a:ext cx="3457575" cy="809625"/>
            <a:chOff x="8429625" y="247650"/>
            <a:chExt cx="3457575" cy="809625"/>
          </a:xfrm>
        </p:grpSpPr>
        <p:sp>
          <p:nvSpPr>
            <p:cNvPr id="5" name="矩形 4"/>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2_两栏内容">
    <p:spTree>
      <p:nvGrpSpPr>
        <p:cNvPr id="1" name=""/>
        <p:cNvGrpSpPr/>
        <p:nvPr/>
      </p:nvGrpSpPr>
      <p:grpSpPr>
        <a:xfrm>
          <a:off x="0" y="0"/>
          <a:ext cx="0" cy="0"/>
          <a:chOff x="0" y="0"/>
          <a:chExt cx="0" cy="0"/>
        </a:xfrm>
      </p:grpSpPr>
      <p:grpSp>
        <p:nvGrpSpPr>
          <p:cNvPr id="2" name="组合 1"/>
          <p:cNvGrpSpPr/>
          <p:nvPr userDrawn="1"/>
        </p:nvGrpSpPr>
        <p:grpSpPr>
          <a:xfrm>
            <a:off x="8429625" y="247650"/>
            <a:ext cx="3457575" cy="809625"/>
            <a:chOff x="8429625" y="247650"/>
            <a:chExt cx="3457575" cy="809625"/>
          </a:xfrm>
        </p:grpSpPr>
        <p:sp>
          <p:nvSpPr>
            <p:cNvPr id="3" name="矩形 2"/>
            <p:cNvSpPr/>
            <p:nvPr userDrawn="1"/>
          </p:nvSpPr>
          <p:spPr>
            <a:xfrm>
              <a:off x="8429625" y="247650"/>
              <a:ext cx="3457575" cy="809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48674" y="477694"/>
              <a:ext cx="3091500" cy="482544"/>
            </a:xfrm>
            <a:prstGeom prst="rect">
              <a:avLst/>
            </a:prstGeom>
          </p:spPr>
        </p:pic>
      </p:grpSp>
    </p:spTree>
    <p:extLst>
      <p:ext uri="{BB962C8B-B14F-4D97-AF65-F5344CB8AC3E}">
        <p14:creationId xmlns:p14="http://schemas.microsoft.com/office/powerpoint/2010/main" val="2261441160"/>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A79B1-94F2-44A5-8271-BE7A17D6686D}" type="datetimeFigureOut">
              <a:rPr lang="zh-CN" altLang="en-US" smtClean="0"/>
              <a:t>2021-3-29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1893D6-510C-4F6F-9867-0DA6859ED432}" type="slidenum">
              <a:rPr lang="zh-CN" altLang="en-US" smtClean="0"/>
              <a:t>‹#›</a:t>
            </a:fld>
            <a:endParaRPr lang="zh-CN" altLang="en-US"/>
          </a:p>
        </p:txBody>
      </p:sp>
      <p:pic>
        <p:nvPicPr>
          <p:cNvPr id="7" name="图片 6"/>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851904"/>
          </a:xfrm>
          <a:prstGeom prst="rect">
            <a:avLst/>
          </a:prstGeom>
        </p:spPr>
      </p:pic>
      <p:sp>
        <p:nvSpPr>
          <p:cNvPr id="8" name="矩形 1"/>
          <p:cNvSpPr>
            <a:spLocks noChangeArrowheads="1"/>
          </p:cNvSpPr>
          <p:nvPr userDrawn="1"/>
        </p:nvSpPr>
        <p:spPr bwMode="auto">
          <a:xfrm>
            <a:off x="871382" y="363024"/>
            <a:ext cx="8930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b="1" dirty="0">
                <a:solidFill>
                  <a:schemeClr val="bg1"/>
                </a:solidFill>
                <a:latin typeface="微软雅黑" panose="020B0503020204020204" pitchFamily="34" charset="-122"/>
                <a:ea typeface="微软雅黑" panose="020B0503020204020204" pitchFamily="34" charset="-122"/>
                <a:sym typeface="宋体" panose="02010600030101010101" pitchFamily="2" charset="-122"/>
              </a:rPr>
              <a:t>✎ </a:t>
            </a:r>
            <a:endParaRPr lang="zh-CN" altLang="en-US" sz="3600" dirty="0"/>
          </a:p>
        </p:txBody>
      </p:sp>
    </p:spTree>
    <p:extLst>
      <p:ext uri="{BB962C8B-B14F-4D97-AF65-F5344CB8AC3E}">
        <p14:creationId xmlns:p14="http://schemas.microsoft.com/office/powerpoint/2010/main" val="6349627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61"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xml"/><Relationship Id="rId1" Type="http://schemas.openxmlformats.org/officeDocument/2006/relationships/tags" Target="../tags/tag2.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4.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5.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xml"/><Relationship Id="rId1" Type="http://schemas.openxmlformats.org/officeDocument/2006/relationships/tags" Target="../tags/tag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xml"/><Relationship Id="rId1" Type="http://schemas.openxmlformats.org/officeDocument/2006/relationships/tags" Target="../tags/tag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8.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1.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12.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13.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8.xml"/><Relationship Id="rId1" Type="http://schemas.openxmlformats.org/officeDocument/2006/relationships/tags" Target="../tags/tag14.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tags" Target="../tags/tag15.xml"/><Relationship Id="rId4" Type="http://schemas.openxmlformats.org/officeDocument/2006/relationships/image" Target="../media/image19.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8.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8.xml"/><Relationship Id="rId1" Type="http://schemas.openxmlformats.org/officeDocument/2006/relationships/tags" Target="../tags/tag19.xm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8.xml"/><Relationship Id="rId1" Type="http://schemas.openxmlformats.org/officeDocument/2006/relationships/tags" Target="../tags/tag20.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21.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2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23.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2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26.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27.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28.xml"/><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8.xml"/><Relationship Id="rId1" Type="http://schemas.openxmlformats.org/officeDocument/2006/relationships/tags" Target="../tags/tag2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3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8.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8.xml"/><Relationship Id="rId1" Type="http://schemas.openxmlformats.org/officeDocument/2006/relationships/tags" Target="../tags/tag3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8.xml"/><Relationship Id="rId1" Type="http://schemas.openxmlformats.org/officeDocument/2006/relationships/tags" Target="../tags/tag33.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8.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8.xml"/><Relationship Id="rId1" Type="http://schemas.openxmlformats.org/officeDocument/2006/relationships/tags" Target="../tags/tag36.xm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8.xml"/><Relationship Id="rId1" Type="http://schemas.openxmlformats.org/officeDocument/2006/relationships/tags" Target="../tags/tag37.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8.xml"/><Relationship Id="rId1" Type="http://schemas.openxmlformats.org/officeDocument/2006/relationships/tags" Target="../tags/tag38.xml"/><Relationship Id="rId4" Type="http://schemas.openxmlformats.org/officeDocument/2006/relationships/image" Target="../media/image2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8.xml"/><Relationship Id="rId1" Type="http://schemas.openxmlformats.org/officeDocument/2006/relationships/tags" Target="../tags/tag39.xml"/><Relationship Id="rId4" Type="http://schemas.openxmlformats.org/officeDocument/2006/relationships/image" Target="../media/image1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8.xml"/><Relationship Id="rId1" Type="http://schemas.openxmlformats.org/officeDocument/2006/relationships/tags" Target="../tags/tag40.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8.xml"/><Relationship Id="rId1" Type="http://schemas.openxmlformats.org/officeDocument/2006/relationships/tags" Target="../tags/tag41.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8.xml"/><Relationship Id="rId1" Type="http://schemas.openxmlformats.org/officeDocument/2006/relationships/tags" Target="../tags/tag42.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8.xml"/><Relationship Id="rId1" Type="http://schemas.openxmlformats.org/officeDocument/2006/relationships/tags" Target="../tags/tag43.xml"/><Relationship Id="rId4" Type="http://schemas.openxmlformats.org/officeDocument/2006/relationships/image" Target="../media/image1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44.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8.xml"/><Relationship Id="rId1" Type="http://schemas.openxmlformats.org/officeDocument/2006/relationships/tags" Target="../tags/tag45.xml"/><Relationship Id="rId4" Type="http://schemas.openxmlformats.org/officeDocument/2006/relationships/image" Target="../media/image31.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8.xml"/><Relationship Id="rId1" Type="http://schemas.openxmlformats.org/officeDocument/2006/relationships/tags" Target="../tags/tag46.xml"/><Relationship Id="rId4" Type="http://schemas.openxmlformats.org/officeDocument/2006/relationships/image" Target="../media/image32.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8.xml"/><Relationship Id="rId1" Type="http://schemas.openxmlformats.org/officeDocument/2006/relationships/tags" Target="../tags/tag47.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8.xml"/><Relationship Id="rId1" Type="http://schemas.openxmlformats.org/officeDocument/2006/relationships/tags" Target="../tags/tag48.xml"/><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8.xml"/><Relationship Id="rId1" Type="http://schemas.openxmlformats.org/officeDocument/2006/relationships/tags" Target="../tags/tag49.xml"/><Relationship Id="rId4" Type="http://schemas.openxmlformats.org/officeDocument/2006/relationships/image" Target="../media/image3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3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8.xml"/><Relationship Id="rId1" Type="http://schemas.openxmlformats.org/officeDocument/2006/relationships/tags" Target="../tags/tag51.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8.xml"/><Relationship Id="rId1" Type="http://schemas.openxmlformats.org/officeDocument/2006/relationships/tags" Target="../tags/tag52.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8.xml"/><Relationship Id="rId1" Type="http://schemas.openxmlformats.org/officeDocument/2006/relationships/tags" Target="../tags/tag53.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8.xml"/><Relationship Id="rId1" Type="http://schemas.openxmlformats.org/officeDocument/2006/relationships/tags" Target="../tags/tag54.xml"/><Relationship Id="rId4" Type="http://schemas.openxmlformats.org/officeDocument/2006/relationships/image" Target="../media/image39.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8.xml"/><Relationship Id="rId1" Type="http://schemas.openxmlformats.org/officeDocument/2006/relationships/tags" Target="../tags/tag55.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8.xml"/><Relationship Id="rId1" Type="http://schemas.openxmlformats.org/officeDocument/2006/relationships/tags" Target="../tags/tag56.xml"/><Relationship Id="rId4" Type="http://schemas.openxmlformats.org/officeDocument/2006/relationships/image" Target="../media/image40.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8.xml"/><Relationship Id="rId1" Type="http://schemas.openxmlformats.org/officeDocument/2006/relationships/tags" Target="../tags/tag57.xml"/><Relationship Id="rId4" Type="http://schemas.openxmlformats.org/officeDocument/2006/relationships/image" Target="../media/image40.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8.xml"/><Relationship Id="rId1" Type="http://schemas.openxmlformats.org/officeDocument/2006/relationships/tags" Target="../tags/tag58.xml"/><Relationship Id="rId4" Type="http://schemas.openxmlformats.org/officeDocument/2006/relationships/image" Target="../media/image40.pn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8.xml"/><Relationship Id="rId1" Type="http://schemas.openxmlformats.org/officeDocument/2006/relationships/tags" Target="../tags/tag59.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8.xml"/><Relationship Id="rId1" Type="http://schemas.openxmlformats.org/officeDocument/2006/relationships/tags" Target="../tags/tag60.xml"/><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8.xml"/><Relationship Id="rId1" Type="http://schemas.openxmlformats.org/officeDocument/2006/relationships/tags" Target="../tags/tag61.xml"/><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8.xml"/><Relationship Id="rId1" Type="http://schemas.openxmlformats.org/officeDocument/2006/relationships/tags" Target="../tags/tag62.xml"/><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8.xml"/><Relationship Id="rId1" Type="http://schemas.openxmlformats.org/officeDocument/2006/relationships/tags" Target="../tags/tag63.xml"/><Relationship Id="rId4" Type="http://schemas.openxmlformats.org/officeDocument/2006/relationships/image" Target="../media/image42.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8.xml"/><Relationship Id="rId1" Type="http://schemas.openxmlformats.org/officeDocument/2006/relationships/tags" Target="../tags/tag64.xml"/><Relationship Id="rId4" Type="http://schemas.openxmlformats.org/officeDocument/2006/relationships/image" Target="../media/image4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8.xml"/><Relationship Id="rId1" Type="http://schemas.openxmlformats.org/officeDocument/2006/relationships/tags" Target="../tags/tag65.xml"/><Relationship Id="rId4" Type="http://schemas.openxmlformats.org/officeDocument/2006/relationships/image" Target="../media/image4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8.xml"/><Relationship Id="rId1" Type="http://schemas.openxmlformats.org/officeDocument/2006/relationships/tags" Target="../tags/tag66.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8.xml"/><Relationship Id="rId1" Type="http://schemas.openxmlformats.org/officeDocument/2006/relationships/tags" Target="../tags/tag67.xml"/><Relationship Id="rId4" Type="http://schemas.openxmlformats.org/officeDocument/2006/relationships/image" Target="../media/image4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8.xml"/><Relationship Id="rId1" Type="http://schemas.openxmlformats.org/officeDocument/2006/relationships/tags" Target="../tags/tag68.xml"/><Relationship Id="rId4" Type="http://schemas.openxmlformats.org/officeDocument/2006/relationships/image" Target="../media/image45.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8.xml"/><Relationship Id="rId1" Type="http://schemas.openxmlformats.org/officeDocument/2006/relationships/tags" Target="../tags/tag69.xml"/><Relationship Id="rId4" Type="http://schemas.openxmlformats.org/officeDocument/2006/relationships/image" Target="../media/image4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8.xml"/><Relationship Id="rId1" Type="http://schemas.openxmlformats.org/officeDocument/2006/relationships/tags" Target="../tags/tag70.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8.xml"/><Relationship Id="rId1" Type="http://schemas.openxmlformats.org/officeDocument/2006/relationships/tags" Target="../tags/tag7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8.xml"/><Relationship Id="rId1" Type="http://schemas.openxmlformats.org/officeDocument/2006/relationships/tags" Target="../tags/tag72.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8.xml"/><Relationship Id="rId1" Type="http://schemas.openxmlformats.org/officeDocument/2006/relationships/tags" Target="../tags/tag73.xml"/><Relationship Id="rId4" Type="http://schemas.openxmlformats.org/officeDocument/2006/relationships/image" Target="../media/image46.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8.xml"/><Relationship Id="rId1" Type="http://schemas.openxmlformats.org/officeDocument/2006/relationships/tags" Target="../tags/tag74.xml"/><Relationship Id="rId4" Type="http://schemas.openxmlformats.org/officeDocument/2006/relationships/image" Target="../media/image46.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8.xml"/><Relationship Id="rId1" Type="http://schemas.openxmlformats.org/officeDocument/2006/relationships/tags" Target="../tags/tag75.xml"/><Relationship Id="rId4" Type="http://schemas.openxmlformats.org/officeDocument/2006/relationships/image" Target="../media/image47.png"/></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8.xml"/><Relationship Id="rId1" Type="http://schemas.openxmlformats.org/officeDocument/2006/relationships/tags" Target="../tags/tag76.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8.xml"/><Relationship Id="rId1" Type="http://schemas.openxmlformats.org/officeDocument/2006/relationships/tags" Target="../tags/tag77.xml"/></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8.xml"/><Relationship Id="rId1" Type="http://schemas.openxmlformats.org/officeDocument/2006/relationships/tags" Target="../tags/tag78.xml"/></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8.xml"/><Relationship Id="rId1" Type="http://schemas.openxmlformats.org/officeDocument/2006/relationships/tags" Target="../tags/tag79.xml"/><Relationship Id="rId4" Type="http://schemas.openxmlformats.org/officeDocument/2006/relationships/image" Target="../media/image48.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8.xml"/><Relationship Id="rId1" Type="http://schemas.openxmlformats.org/officeDocument/2006/relationships/tags" Target="../tags/tag80.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8.xml"/><Relationship Id="rId1" Type="http://schemas.openxmlformats.org/officeDocument/2006/relationships/tags" Target="../tags/tag81.xml"/><Relationship Id="rId4" Type="http://schemas.openxmlformats.org/officeDocument/2006/relationships/image" Target="../media/image49.png"/></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8.xml"/><Relationship Id="rId1" Type="http://schemas.openxmlformats.org/officeDocument/2006/relationships/tags" Target="../tags/tag82.xml"/><Relationship Id="rId4" Type="http://schemas.openxmlformats.org/officeDocument/2006/relationships/image" Target="../media/image49.png"/></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8.xml"/><Relationship Id="rId1" Type="http://schemas.openxmlformats.org/officeDocument/2006/relationships/tags" Target="../tags/tag83.xml"/><Relationship Id="rId4" Type="http://schemas.openxmlformats.org/officeDocument/2006/relationships/image" Target="../media/image50.png"/></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9.xml"/><Relationship Id="rId1" Type="http://schemas.openxmlformats.org/officeDocument/2006/relationships/tags" Target="../tags/tag84.xml"/><Relationship Id="rId4" Type="http://schemas.openxmlformats.org/officeDocument/2006/relationships/image" Target="../media/image51.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7.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1"/>
          <p:cNvSpPr>
            <a:spLocks noGrp="1"/>
          </p:cNvSpPr>
          <p:nvPr>
            <p:ph type="ctrTitle"/>
          </p:nvPr>
        </p:nvSpPr>
        <p:spPr>
          <a:xfrm>
            <a:off x="1524000" y="1596979"/>
            <a:ext cx="9473852" cy="1912983"/>
          </a:xfrm>
        </p:spPr>
        <p:txBody>
          <a:bodyPr/>
          <a:lstStyle/>
          <a:p>
            <a:r>
              <a:rPr lang="zh-CN" altLang="en-US" b="1" dirty="0" smtClean="0">
                <a:latin typeface="方正细倩简体"/>
                <a:ea typeface="方正细倩简体"/>
                <a:cs typeface="方正细倩简体"/>
              </a:rPr>
              <a:t>第</a:t>
            </a:r>
            <a:r>
              <a:rPr lang="en-US" altLang="zh-CN" b="1" dirty="0">
                <a:latin typeface="方正细倩简体"/>
                <a:ea typeface="方正细倩简体"/>
                <a:cs typeface="方正细倩简体"/>
              </a:rPr>
              <a:t>6</a:t>
            </a:r>
            <a:r>
              <a:rPr lang="zh-CN" altLang="en-US" b="1" dirty="0" smtClean="0">
                <a:latin typeface="方正细倩简体"/>
                <a:ea typeface="方正细倩简体"/>
                <a:cs typeface="方正细倩简体"/>
              </a:rPr>
              <a:t>章 </a:t>
            </a:r>
            <a:r>
              <a:rPr lang="zh-CN" altLang="en-US" b="1" dirty="0">
                <a:latin typeface="方正细倩简体"/>
                <a:ea typeface="方正细倩简体"/>
                <a:cs typeface="方正细倩简体"/>
              </a:rPr>
              <a:t>模板</a:t>
            </a:r>
            <a:endParaRPr lang="zh-CN" altLang="zh-CN" b="1" dirty="0"/>
          </a:p>
        </p:txBody>
      </p:sp>
      <p:sp>
        <p:nvSpPr>
          <p:cNvPr id="5" name="矩形 4"/>
          <p:cNvSpPr/>
          <p:nvPr/>
        </p:nvSpPr>
        <p:spPr>
          <a:xfrm>
            <a:off x="4242845" y="5061593"/>
            <a:ext cx="1721075" cy="1338828"/>
          </a:xfrm>
          <a:prstGeom prst="rect">
            <a:avLst/>
          </a:prstGeom>
        </p:spPr>
        <p:txBody>
          <a:bodyPr wrap="square">
            <a:spAutoFit/>
          </a:bodyPr>
          <a:lstStyle/>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模板的概念</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函数模板</a:t>
            </a:r>
            <a:endParaRPr lang="en-US" altLang="zh-CN" b="1" dirty="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类模板</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p:txBody>
      </p:sp>
      <p:sp>
        <p:nvSpPr>
          <p:cNvPr id="6" name="矩形 5"/>
          <p:cNvSpPr/>
          <p:nvPr/>
        </p:nvSpPr>
        <p:spPr>
          <a:xfrm>
            <a:off x="6733572" y="5061593"/>
            <a:ext cx="1855454" cy="923330"/>
          </a:xfrm>
          <a:prstGeom prst="rect">
            <a:avLst/>
          </a:prstGeom>
        </p:spPr>
        <p:txBody>
          <a:bodyPr wrap="square">
            <a:spAutoFit/>
          </a:bodyPr>
          <a:lstStyle/>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模板的参数</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a:p>
            <a:pPr>
              <a:lnSpc>
                <a:spcPct val="150000"/>
              </a:lnSpc>
              <a:buFont typeface="Arial" pitchFamily="34" charset="0"/>
              <a:buNone/>
              <a:defRPr/>
            </a:pPr>
            <a:r>
              <a:rPr lang="en-US" altLang="zh-CN" b="1" dirty="0" smtClean="0">
                <a:solidFill>
                  <a:schemeClr val="accent1">
                    <a:lumMod val="75000"/>
                  </a:schemeClr>
                </a:solidFill>
                <a:latin typeface="微软雅黑" pitchFamily="34" charset="-122"/>
                <a:ea typeface="微软雅黑" pitchFamily="34" charset="-122"/>
                <a:sym typeface="微软雅黑" pitchFamily="34" charset="-122"/>
              </a:rPr>
              <a:t>· </a:t>
            </a:r>
            <a:r>
              <a:rPr lang="zh-CN" altLang="en-US" b="1" dirty="0" smtClean="0">
                <a:solidFill>
                  <a:schemeClr val="accent1">
                    <a:lumMod val="75000"/>
                  </a:schemeClr>
                </a:solidFill>
                <a:latin typeface="微软雅黑" pitchFamily="34" charset="-122"/>
                <a:ea typeface="微软雅黑" pitchFamily="34" charset="-122"/>
                <a:sym typeface="微软雅黑" pitchFamily="34" charset="-122"/>
              </a:rPr>
              <a:t>模板特化</a:t>
            </a:r>
            <a:endParaRPr lang="en-US" altLang="zh-CN" b="1" dirty="0" smtClean="0">
              <a:solidFill>
                <a:schemeClr val="accent1">
                  <a:lumMod val="75000"/>
                </a:schemeClr>
              </a:solidFill>
              <a:latin typeface="微软雅黑" pitchFamily="34" charset="-122"/>
              <a:ea typeface="微软雅黑" pitchFamily="34" charset="-122"/>
              <a:sym typeface="微软雅黑" pitchFamily="34" charset="-122"/>
            </a:endParaRP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90784" y="5203668"/>
            <a:ext cx="1905952" cy="1054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4945558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5516881" y="1494164"/>
            <a:ext cx="5638800" cy="432751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a:solidFill>
                  <a:schemeClr val="bg1">
                    <a:lumMod val="50000"/>
                  </a:schemeClr>
                </a:solidFill>
                <a:latin typeface="微软雅黑" pitchFamily="34" charset="-122"/>
                <a:ea typeface="微软雅黑" pitchFamily="34" charset="-122"/>
                <a:cs typeface="Times New Roman" pitchFamily="18" charset="0"/>
              </a:rPr>
              <a:t>程序中，声明变量、函数、对象等实体时，需要指定数据类型，让编译器在程序运行之前进行类型检查并分配内存，以提高程序运行的安全性和效率。但是这种强类型的编程方式往往会导致程序设计者为逻辑结构相同而具体数据类型不同的对象编写模式一致的代码</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356" y="1514772"/>
            <a:ext cx="3669903" cy="416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78031394"/>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5547359" y="1656724"/>
            <a:ext cx="5519419" cy="378903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例如</a:t>
            </a:r>
            <a:r>
              <a:rPr lang="zh-CN" altLang="zh-CN" sz="2400" dirty="0">
                <a:solidFill>
                  <a:schemeClr val="bg1">
                    <a:lumMod val="50000"/>
                  </a:schemeClr>
                </a:solidFill>
                <a:latin typeface="微软雅黑" pitchFamily="34" charset="-122"/>
                <a:ea typeface="微软雅黑" pitchFamily="34" charset="-122"/>
                <a:cs typeface="Times New Roman" pitchFamily="18" charset="0"/>
              </a:rPr>
              <a:t>，定义一个求和函数</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函数可以计算两个</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类型数据的和，但是对于</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类型的数据就无能为力了，此时，程序设计者还需要定义一个函数计算两个</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类型的数据之和。这样不利于程序的扩充和维护。</a:t>
            </a:r>
          </a:p>
        </p:txBody>
      </p:sp>
      <p:pic>
        <p:nvPicPr>
          <p:cNvPr id="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356" y="1514772"/>
            <a:ext cx="3669903" cy="41646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40120192"/>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1564640" y="1686560"/>
            <a:ext cx="6004559" cy="3708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为此</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a:solidFill>
                  <a:schemeClr val="bg1">
                    <a:lumMod val="50000"/>
                  </a:schemeClr>
                </a:solidFill>
                <a:latin typeface="微软雅黑" pitchFamily="34" charset="-122"/>
                <a:ea typeface="微软雅黑" pitchFamily="34" charset="-122"/>
                <a:cs typeface="Times New Roman" pitchFamily="18" charset="0"/>
              </a:rPr>
              <a:t>标准提供了</a:t>
            </a:r>
            <a:r>
              <a:rPr lang="zh-CN" altLang="zh-CN" sz="2400" dirty="0">
                <a:solidFill>
                  <a:srgbClr val="FF0000"/>
                </a:solidFill>
                <a:latin typeface="微软雅黑" pitchFamily="34" charset="-122"/>
                <a:ea typeface="微软雅黑" pitchFamily="34" charset="-122"/>
                <a:cs typeface="Times New Roman" pitchFamily="18" charset="0"/>
              </a:rPr>
              <a:t>模板机制，用于定义数据类型不同但逻辑结构相同的数据对象的通用行为。</a:t>
            </a:r>
            <a:r>
              <a:rPr lang="zh-CN" altLang="zh-CN" sz="2400" dirty="0">
                <a:solidFill>
                  <a:schemeClr val="bg1">
                    <a:lumMod val="50000"/>
                  </a:schemeClr>
                </a:solidFill>
                <a:latin typeface="微软雅黑" pitchFamily="34" charset="-122"/>
                <a:ea typeface="微软雅黑" pitchFamily="34" charset="-122"/>
                <a:cs typeface="Times New Roman" pitchFamily="18" charset="0"/>
              </a:rPr>
              <a:t>在模板对象中，运算对象的类型不是实际的数据类型，而是一种参数化的类型。带参数类型的函数称为</a:t>
            </a:r>
            <a:r>
              <a:rPr lang="zh-CN" altLang="zh-CN" sz="2400" dirty="0">
                <a:solidFill>
                  <a:srgbClr val="FF0000"/>
                </a:solidFill>
                <a:latin typeface="微软雅黑" pitchFamily="34" charset="-122"/>
                <a:ea typeface="微软雅黑" pitchFamily="34" charset="-122"/>
                <a:cs typeface="Times New Roman" pitchFamily="18" charset="0"/>
              </a:rPr>
              <a:t>函数模板</a:t>
            </a:r>
            <a:r>
              <a:rPr lang="zh-CN" altLang="zh-CN" sz="2400" dirty="0">
                <a:solidFill>
                  <a:schemeClr val="bg1">
                    <a:lumMod val="50000"/>
                  </a:schemeClr>
                </a:solidFill>
                <a:latin typeface="微软雅黑" pitchFamily="34" charset="-122"/>
                <a:ea typeface="微软雅黑" pitchFamily="34" charset="-122"/>
                <a:cs typeface="Times New Roman" pitchFamily="18" charset="0"/>
              </a:rPr>
              <a:t>，带参数类型的类称为</a:t>
            </a:r>
            <a:r>
              <a:rPr lang="zh-CN" altLang="zh-CN" sz="2400" dirty="0">
                <a:solidFill>
                  <a:srgbClr val="FF0000"/>
                </a:solidFill>
                <a:latin typeface="微软雅黑" pitchFamily="34" charset="-122"/>
                <a:ea typeface="微软雅黑" pitchFamily="34" charset="-122"/>
                <a:cs typeface="Times New Roman" pitchFamily="18" charset="0"/>
              </a:rPr>
              <a:t>类模板</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p>
        </p:txBody>
      </p:sp>
      <p:pic>
        <p:nvPicPr>
          <p:cNvPr id="2529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3040" y="1464083"/>
            <a:ext cx="3268663" cy="4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2345211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252931"/>
                                        </p:tgtEl>
                                        <p:attrNameLst>
                                          <p:attrName>style.visibility</p:attrName>
                                        </p:attrNameLst>
                                      </p:cBhvr>
                                      <p:to>
                                        <p:strVal val="visible"/>
                                      </p:to>
                                    </p:set>
                                    <p:animEffect transition="in" filter="fade">
                                      <p:cBhvr>
                                        <p:cTn id="10" dur="1000"/>
                                        <p:tgtEl>
                                          <p:spTgt spid="252931"/>
                                        </p:tgtEl>
                                      </p:cBhvr>
                                    </p:animEffect>
                                    <p:anim calcmode="lin" valueType="num">
                                      <p:cBhvr>
                                        <p:cTn id="11" dur="1000" fill="hold"/>
                                        <p:tgtEl>
                                          <p:spTgt spid="252931"/>
                                        </p:tgtEl>
                                        <p:attrNameLst>
                                          <p:attrName>ppt_x</p:attrName>
                                        </p:attrNameLst>
                                      </p:cBhvr>
                                      <p:tavLst>
                                        <p:tav tm="0">
                                          <p:val>
                                            <p:strVal val="#ppt_x"/>
                                          </p:val>
                                        </p:tav>
                                        <p:tav tm="100000">
                                          <p:val>
                                            <p:strVal val="#ppt_x"/>
                                          </p:val>
                                        </p:tav>
                                      </p:tavLst>
                                    </p:anim>
                                    <p:anim calcmode="lin" valueType="num">
                                      <p:cBhvr>
                                        <p:cTn id="12" dur="1000" fill="hold"/>
                                        <p:tgtEl>
                                          <p:spTgt spid="2529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2042160" y="1686560"/>
            <a:ext cx="5374640" cy="4013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例如</a:t>
            </a:r>
            <a:r>
              <a:rPr lang="zh-CN" altLang="zh-CN" sz="2400" dirty="0">
                <a:solidFill>
                  <a:schemeClr val="bg1">
                    <a:lumMod val="50000"/>
                  </a:schemeClr>
                </a:solidFill>
                <a:latin typeface="微软雅黑" pitchFamily="34" charset="-122"/>
                <a:ea typeface="微软雅黑" pitchFamily="34" charset="-122"/>
                <a:cs typeface="Times New Roman" pitchFamily="18" charset="0"/>
              </a:rPr>
              <a:t>，定义函数</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，计算两个数之和，可以将类型参数化，如</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add(T,T)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，其中，</a:t>
            </a:r>
            <a:r>
              <a:rPr lang="en-US" altLang="zh-CN" sz="2400" dirty="0">
                <a:solidFill>
                  <a:schemeClr val="bg1">
                    <a:lumMod val="50000"/>
                  </a:schemeClr>
                </a:solidFill>
                <a:latin typeface="微软雅黑" pitchFamily="34" charset="-122"/>
                <a:ea typeface="微软雅黑" pitchFamily="34" charset="-122"/>
                <a:cs typeface="Times New Roman" pitchFamily="18" charset="0"/>
              </a:rPr>
              <a:t>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就是参数化的类型，在调用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函数时，可以传入任意类型的数据。这样程序设计者就可以专注于逻辑代码的编写，而不用关心实际具体的数据类型</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3040" y="1464083"/>
            <a:ext cx="3268663" cy="4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38558272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6299200" y="2032000"/>
            <a:ext cx="5374640" cy="3251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模板</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就像生产模具，例如，中秋生产月饼，生产月饼的模具就是模板，在做模具时，只关心做出什么样式的月饼，而不用关心具体的原料是什么（如面粉、糯米粉、玉米粉等）。</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5396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99590" y="1932940"/>
            <a:ext cx="3961025" cy="308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065551930"/>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53960"/>
                                        </p:tgtEl>
                                        <p:attrNameLst>
                                          <p:attrName>style.visibility</p:attrName>
                                        </p:attrNameLst>
                                      </p:cBhvr>
                                      <p:to>
                                        <p:strVal val="visible"/>
                                      </p:to>
                                    </p:set>
                                    <p:animEffect transition="in" filter="randombar(horizontal)">
                                      <p:cBhvr>
                                        <p:cTn id="11" dur="500"/>
                                        <p:tgtEl>
                                          <p:spTgt spid="2539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6.1 </a:t>
            </a:r>
            <a:r>
              <a:rPr lang="zh-CN" altLang="en-US" sz="3200" b="1" dirty="0" smtClean="0">
                <a:solidFill>
                  <a:srgbClr val="1353A2"/>
                </a:solidFill>
                <a:latin typeface="微软雅黑" pitchFamily="34" charset="-122"/>
                <a:ea typeface="微软雅黑" pitchFamily="34" charset="-122"/>
              </a:rPr>
              <a:t>模板的概念</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1948179" y="1635760"/>
            <a:ext cx="5295901" cy="3525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程序运行时，模板的参数由实际参数的数据类型决定，编译器会根据实际参数的数据类型生成相应的一段可运行代码，这个过程称为模板实例化。函数模板生成的实例称为</a:t>
            </a:r>
            <a:r>
              <a:rPr lang="zh-CN" altLang="zh-CN" sz="2400" dirty="0">
                <a:solidFill>
                  <a:srgbClr val="FF0000"/>
                </a:solidFill>
                <a:latin typeface="微软雅黑" pitchFamily="34" charset="-122"/>
                <a:ea typeface="微软雅黑" pitchFamily="34" charset="-122"/>
                <a:cs typeface="Times New Roman" pitchFamily="18" charset="0"/>
              </a:rPr>
              <a:t>模板函数</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，类模板的生成的实例称为</a:t>
            </a:r>
            <a:r>
              <a:rPr lang="zh-CN" altLang="zh-CN" sz="2400" dirty="0">
                <a:solidFill>
                  <a:srgbClr val="FF0000"/>
                </a:solidFill>
                <a:latin typeface="微软雅黑" pitchFamily="34" charset="-122"/>
                <a:ea typeface="微软雅黑" pitchFamily="34" charset="-122"/>
                <a:cs typeface="Times New Roman" pitchFamily="18" charset="0"/>
              </a:rPr>
              <a:t>模板类</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560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9742" y="1635760"/>
            <a:ext cx="3674707" cy="3525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8685171"/>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256002"/>
                                        </p:tgtEl>
                                        <p:attrNameLst>
                                          <p:attrName>style.visibility</p:attrName>
                                        </p:attrNameLst>
                                      </p:cBhvr>
                                      <p:to>
                                        <p:strVal val="visible"/>
                                      </p:to>
                                    </p:set>
                                    <p:animEffect transition="in" filter="fade">
                                      <p:cBhvr>
                                        <p:cTn id="10" dur="1000"/>
                                        <p:tgtEl>
                                          <p:spTgt spid="256002"/>
                                        </p:tgtEl>
                                      </p:cBhvr>
                                    </p:animEffect>
                                    <p:anim calcmode="lin" valueType="num">
                                      <p:cBhvr>
                                        <p:cTn id="11" dur="1000" fill="hold"/>
                                        <p:tgtEl>
                                          <p:spTgt spid="256002"/>
                                        </p:tgtEl>
                                        <p:attrNameLst>
                                          <p:attrName>ppt_x</p:attrName>
                                        </p:attrNameLst>
                                      </p:cBhvr>
                                      <p:tavLst>
                                        <p:tav tm="0">
                                          <p:val>
                                            <p:strVal val="#ppt_x"/>
                                          </p:val>
                                        </p:tav>
                                        <p:tav tm="100000">
                                          <p:val>
                                            <p:strVal val="#ppt_x"/>
                                          </p:val>
                                        </p:tav>
                                      </p:tavLst>
                                    </p:anim>
                                    <p:anim calcmode="lin" valueType="num">
                                      <p:cBhvr>
                                        <p:cTn id="12" dur="1000" fill="hold"/>
                                        <p:tgtEl>
                                          <p:spTgt spid="2560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6.2.1 </a:t>
            </a:r>
            <a:r>
              <a:rPr lang="zh-CN" altLang="en-US" sz="3200" b="1" dirty="0" smtClean="0">
                <a:solidFill>
                  <a:srgbClr val="1353A2"/>
                </a:solidFill>
                <a:latin typeface="微软雅黑" pitchFamily="34" charset="-122"/>
                <a:ea typeface="微软雅黑" pitchFamily="34" charset="-122"/>
              </a:rPr>
              <a:t>函数模板的定义</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5930899" y="1798320"/>
            <a:ext cx="5092701" cy="3423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定义</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函数模板的语法格式如下所示：</a:t>
            </a: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template&lt;class 类型占位符&gt; </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返回值类型 函数名(参数列表)</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	//函数体;</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57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5798" y="2062480"/>
            <a:ext cx="3399792" cy="3254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64017241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42" presetClass="entr" presetSubtype="0" fill="hold" nodeType="withEffect">
                                  <p:stCondLst>
                                    <p:cond delay="0"/>
                                  </p:stCondLst>
                                  <p:childTnLst>
                                    <p:set>
                                      <p:cBhvr>
                                        <p:cTn id="9" dur="1" fill="hold">
                                          <p:stCondLst>
                                            <p:cond delay="0"/>
                                          </p:stCondLst>
                                        </p:cTn>
                                        <p:tgtEl>
                                          <p:spTgt spid="257026"/>
                                        </p:tgtEl>
                                        <p:attrNameLst>
                                          <p:attrName>style.visibility</p:attrName>
                                        </p:attrNameLst>
                                      </p:cBhvr>
                                      <p:to>
                                        <p:strVal val="visible"/>
                                      </p:to>
                                    </p:set>
                                    <p:animEffect transition="in" filter="fade">
                                      <p:cBhvr>
                                        <p:cTn id="10" dur="1000"/>
                                        <p:tgtEl>
                                          <p:spTgt spid="257026"/>
                                        </p:tgtEl>
                                      </p:cBhvr>
                                    </p:animEffect>
                                    <p:anim calcmode="lin" valueType="num">
                                      <p:cBhvr>
                                        <p:cTn id="11" dur="1000" fill="hold"/>
                                        <p:tgtEl>
                                          <p:spTgt spid="257026"/>
                                        </p:tgtEl>
                                        <p:attrNameLst>
                                          <p:attrName>ppt_x</p:attrName>
                                        </p:attrNameLst>
                                      </p:cBhvr>
                                      <p:tavLst>
                                        <p:tav tm="0">
                                          <p:val>
                                            <p:strVal val="#ppt_x"/>
                                          </p:val>
                                        </p:tav>
                                        <p:tav tm="100000">
                                          <p:val>
                                            <p:strVal val="#ppt_x"/>
                                          </p:val>
                                        </p:tav>
                                      </p:tavLst>
                                    </p:anim>
                                    <p:anim calcmode="lin" valueType="num">
                                      <p:cBhvr>
                                        <p:cTn id="12" dur="1000" fill="hold"/>
                                        <p:tgtEl>
                                          <p:spTgt spid="257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6.2.1 </a:t>
            </a:r>
            <a:r>
              <a:rPr lang="zh-CN" altLang="en-US" sz="3200" b="1" dirty="0" smtClean="0">
                <a:solidFill>
                  <a:srgbClr val="1353A2"/>
                </a:solidFill>
                <a:latin typeface="微软雅黑" pitchFamily="34" charset="-122"/>
                <a:ea typeface="微软雅黑" pitchFamily="34" charset="-122"/>
              </a:rPr>
              <a:t>函数模板的定义</a:t>
            </a:r>
            <a:endParaRPr lang="zh-CN" altLang="en-US" sz="3200" b="1" kern="1200" dirty="0">
              <a:solidFill>
                <a:srgbClr val="1353A2"/>
              </a:solidFill>
              <a:latin typeface="微软雅黑" pitchFamily="34" charset="-122"/>
              <a:ea typeface="微软雅黑" pitchFamily="34" charset="-122"/>
            </a:endParaRPr>
          </a:p>
        </p:txBody>
      </p:sp>
      <p:sp>
        <p:nvSpPr>
          <p:cNvPr id="7" name="内容占位符 2"/>
          <p:cNvSpPr txBox="1">
            <a:spLocks/>
          </p:cNvSpPr>
          <p:nvPr/>
        </p:nvSpPr>
        <p:spPr>
          <a:xfrm>
            <a:off x="1666241" y="1554480"/>
            <a:ext cx="9255759" cy="3972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上述</a:t>
            </a:r>
            <a:r>
              <a:rPr lang="zh-CN" altLang="zh-CN" sz="2400" dirty="0">
                <a:solidFill>
                  <a:schemeClr val="bg1">
                    <a:lumMod val="50000"/>
                  </a:schemeClr>
                </a:solidFill>
                <a:latin typeface="微软雅黑" pitchFamily="34" charset="-122"/>
                <a:ea typeface="微软雅黑" pitchFamily="34" charset="-122"/>
                <a:cs typeface="Times New Roman" pitchFamily="18" charset="0"/>
              </a:rPr>
              <a:t>语法格式中，</a:t>
            </a:r>
            <a:r>
              <a:rPr lang="en-US" altLang="zh-CN" sz="2400" dirty="0">
                <a:solidFill>
                  <a:srgbClr val="FF0000"/>
                </a:solidFill>
                <a:latin typeface="微软雅黑" pitchFamily="34" charset="-122"/>
                <a:ea typeface="微软雅黑" pitchFamily="34" charset="-122"/>
                <a:cs typeface="Times New Roman" pitchFamily="18" charset="0"/>
              </a:rPr>
              <a:t>template</a:t>
            </a:r>
            <a:r>
              <a:rPr lang="zh-CN" altLang="zh-CN" sz="2400" dirty="0">
                <a:solidFill>
                  <a:schemeClr val="bg1">
                    <a:lumMod val="50000"/>
                  </a:schemeClr>
                </a:solidFill>
                <a:latin typeface="微软雅黑" pitchFamily="34" charset="-122"/>
                <a:ea typeface="微软雅黑" pitchFamily="34" charset="-122"/>
                <a:cs typeface="Times New Roman" pitchFamily="18" charset="0"/>
              </a:rPr>
              <a:t>是声明模板的关键字，</a:t>
            </a:r>
            <a:r>
              <a:rPr lang="en-US" altLang="zh-CN" sz="2400" dirty="0">
                <a:solidFill>
                  <a:srgbClr val="FF0000"/>
                </a:solidFill>
                <a:latin typeface="微软雅黑" pitchFamily="34" charset="-122"/>
                <a:ea typeface="微软雅黑" pitchFamily="34" charset="-122"/>
                <a:cs typeface="Times New Roman" pitchFamily="18" charset="0"/>
              </a:rPr>
              <a:t>&lt; &gt;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中的参数称为模板形参，</a:t>
            </a:r>
            <a:r>
              <a:rPr lang="en-US" altLang="zh-CN" sz="2400" dirty="0">
                <a:solidFill>
                  <a:srgbClr val="FF0000"/>
                </a:solidFill>
                <a:latin typeface="微软雅黑" pitchFamily="34" charset="-122"/>
                <a:ea typeface="微软雅黑" pitchFamily="34" charset="-122"/>
                <a:cs typeface="Times New Roman" pitchFamily="18" charset="0"/>
              </a:rPr>
              <a:t>class</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关键字用于标识模板形参，可以用</a:t>
            </a:r>
            <a:r>
              <a:rPr lang="en-US" altLang="zh-CN" sz="2400" dirty="0" err="1">
                <a:solidFill>
                  <a:srgbClr val="FF0000"/>
                </a:solidFill>
                <a:latin typeface="微软雅黑" pitchFamily="34" charset="-122"/>
                <a:ea typeface="微软雅黑" pitchFamily="34" charset="-122"/>
                <a:cs typeface="Times New Roman" pitchFamily="18" charset="0"/>
              </a:rPr>
              <a:t>typename</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关键字代替</a:t>
            </a:r>
            <a:r>
              <a:rPr lang="en-US" altLang="zh-CN" sz="2400" dirty="0">
                <a:solidFill>
                  <a:schemeClr val="bg1">
                    <a:lumMod val="50000"/>
                  </a:schemeClr>
                </a:solidFill>
                <a:latin typeface="微软雅黑" pitchFamily="34" charset="-122"/>
                <a:ea typeface="微软雅黑" pitchFamily="34" charset="-122"/>
                <a:cs typeface="Times New Roman" pitchFamily="18" charset="0"/>
              </a:rPr>
              <a:t>class</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关键字， </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typename</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class</a:t>
            </a:r>
            <a:r>
              <a:rPr lang="zh-CN" altLang="zh-CN" sz="2400" dirty="0">
                <a:solidFill>
                  <a:schemeClr val="bg1">
                    <a:lumMod val="50000"/>
                  </a:schemeClr>
                </a:solidFill>
                <a:latin typeface="微软雅黑" pitchFamily="34" charset="-122"/>
                <a:ea typeface="微软雅黑" pitchFamily="34" charset="-122"/>
                <a:cs typeface="Times New Roman" pitchFamily="18" charset="0"/>
              </a:rPr>
              <a:t>并没有区别。模板形参不能为空，但是一个函数模板中可以有多个模板形参，模板形参和函数形参相似。</a:t>
            </a:r>
            <a:r>
              <a:rPr lang="en-US" altLang="zh-CN" sz="2400" dirty="0">
                <a:solidFill>
                  <a:schemeClr val="bg1">
                    <a:lumMod val="50000"/>
                  </a:schemeClr>
                </a:solidFill>
                <a:latin typeface="微软雅黑" pitchFamily="34" charset="-122"/>
                <a:ea typeface="微软雅黑" pitchFamily="34" charset="-122"/>
                <a:cs typeface="Times New Roman" pitchFamily="18" charset="0"/>
              </a:rPr>
              <a:t>template</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下面就是定义的一个函数模板，函数模板与普通的函数定义方式相同，只是参数列表中的数据类型要使用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&lt; &gt;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中的形参名表示。</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ustDataLst>
      <p:tags r:id="rId1"/>
    </p:custDataLst>
    <p:extLst>
      <p:ext uri="{BB962C8B-B14F-4D97-AF65-F5344CB8AC3E}">
        <p14:creationId xmlns:p14="http://schemas.microsoft.com/office/powerpoint/2010/main" val="153355840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6.2.1 </a:t>
            </a:r>
            <a:r>
              <a:rPr lang="zh-CN" altLang="en-US" sz="3200" b="1" dirty="0" smtClean="0">
                <a:solidFill>
                  <a:srgbClr val="1353A2"/>
                </a:solidFill>
                <a:latin typeface="微软雅黑" pitchFamily="34" charset="-122"/>
                <a:ea typeface="微软雅黑" pitchFamily="34" charset="-122"/>
              </a:rPr>
              <a:t>函数模板的定义</a:t>
            </a:r>
            <a:endParaRPr lang="zh-CN" altLang="en-US" sz="3200" b="1" kern="1200" dirty="0">
              <a:solidFill>
                <a:srgbClr val="1353A2"/>
              </a:solidFill>
              <a:latin typeface="微软雅黑" pitchFamily="34" charset="-122"/>
              <a:ea typeface="微软雅黑" pitchFamily="34" charset="-122"/>
            </a:endParaRPr>
          </a:p>
        </p:txBody>
      </p:sp>
      <p:grpSp>
        <p:nvGrpSpPr>
          <p:cNvPr id="5" name="组合 4"/>
          <p:cNvGrpSpPr/>
          <p:nvPr/>
        </p:nvGrpSpPr>
        <p:grpSpPr>
          <a:xfrm>
            <a:off x="2194560" y="1442720"/>
            <a:ext cx="8209279" cy="4650170"/>
            <a:chOff x="2194560" y="1442720"/>
            <a:chExt cx="8209279" cy="4650170"/>
          </a:xfrm>
        </p:grpSpPr>
        <p:pic>
          <p:nvPicPr>
            <p:cNvPr id="258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4560" y="1442720"/>
              <a:ext cx="8209279" cy="4650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a:spLocks/>
            </p:cNvSpPr>
            <p:nvPr/>
          </p:nvSpPr>
          <p:spPr>
            <a:xfrm>
              <a:off x="2865121" y="1453500"/>
              <a:ext cx="7325359" cy="4246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1800" dirty="0" smtClean="0">
                  <a:solidFill>
                    <a:schemeClr val="bg1">
                      <a:lumMod val="50000"/>
                    </a:schemeClr>
                  </a:solidFill>
                  <a:latin typeface="微软雅黑" pitchFamily="34" charset="-122"/>
                  <a:ea typeface="微软雅黑" pitchFamily="34" charset="-122"/>
                  <a:cs typeface="Times New Roman" pitchFamily="18" charset="0"/>
                </a:rPr>
                <a:t>例</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6-1  templateFunc.cpp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&lt;class 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 add(T t1,T 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t1+t2;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&lt;&lt;add(1,2)&lt;&lt;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传入</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类型参数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&lt;&lt;add(1.2,3.4)&lt;&lt;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传入</a:t>
              </a:r>
              <a:r>
                <a:rPr lang="en-US" altLang="zh-CN" sz="18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类型参数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custDataLst>
      <p:tags r:id="rId1"/>
    </p:custDataLst>
    <p:extLst>
      <p:ext uri="{BB962C8B-B14F-4D97-AF65-F5344CB8AC3E}">
        <p14:creationId xmlns:p14="http://schemas.microsoft.com/office/powerpoint/2010/main" val="236323547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6.2.1 </a:t>
            </a:r>
            <a:r>
              <a:rPr lang="zh-CN" altLang="en-US" sz="3200" b="1" dirty="0" smtClean="0">
                <a:solidFill>
                  <a:srgbClr val="1353A2"/>
                </a:solidFill>
                <a:latin typeface="微软雅黑" pitchFamily="34" charset="-122"/>
                <a:ea typeface="微软雅黑" pitchFamily="34" charset="-122"/>
              </a:rPr>
              <a:t>函数模板的定义</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5902961" y="1666240"/>
            <a:ext cx="4429759" cy="3637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定义</a:t>
            </a:r>
            <a:r>
              <a:rPr lang="zh-CN" altLang="zh-CN" sz="2400" dirty="0">
                <a:solidFill>
                  <a:schemeClr val="bg1">
                    <a:lumMod val="50000"/>
                  </a:schemeClr>
                </a:solidFill>
                <a:latin typeface="微软雅黑" pitchFamily="34" charset="-122"/>
                <a:ea typeface="微软雅黑" pitchFamily="34" charset="-122"/>
                <a:cs typeface="Times New Roman" pitchFamily="18" charset="0"/>
              </a:rPr>
              <a:t>了函数模板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，用于实现两个数据相加</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main()</a:t>
            </a:r>
            <a:r>
              <a:rPr lang="zh-CN" altLang="en-US" sz="2400" dirty="0">
                <a:solidFill>
                  <a:schemeClr val="bg1">
                    <a:lumMod val="50000"/>
                  </a:schemeClr>
                </a:solidFill>
                <a:latin typeface="微软雅黑" pitchFamily="34" charset="-122"/>
                <a:ea typeface="微软雅黑" pitchFamily="34" charset="-122"/>
                <a:cs typeface="Times New Roman" pitchFamily="18" charset="0"/>
              </a:rPr>
              <a:t>函数中</a:t>
            </a:r>
            <a:r>
              <a:rPr lang="zh-CN" altLang="zh-CN" sz="2400" dirty="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函数，分别传入两个</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类型数据和两个</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类型数据</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结果都能调用成功。</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p:txBody>
      </p:sp>
      <p:pic>
        <p:nvPicPr>
          <p:cNvPr id="259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3154" y="1544320"/>
            <a:ext cx="3357245" cy="3933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0729587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42" presetClass="entr" presetSubtype="0" fill="hold" nodeType="withEffect">
                                  <p:stCondLst>
                                    <p:cond delay="0"/>
                                  </p:stCondLst>
                                  <p:childTnLst>
                                    <p:set>
                                      <p:cBhvr>
                                        <p:cTn id="9" dur="1" fill="hold">
                                          <p:stCondLst>
                                            <p:cond delay="0"/>
                                          </p:stCondLst>
                                        </p:cTn>
                                        <p:tgtEl>
                                          <p:spTgt spid="259074"/>
                                        </p:tgtEl>
                                        <p:attrNameLst>
                                          <p:attrName>style.visibility</p:attrName>
                                        </p:attrNameLst>
                                      </p:cBhvr>
                                      <p:to>
                                        <p:strVal val="visible"/>
                                      </p:to>
                                    </p:set>
                                    <p:animEffect transition="in" filter="fade">
                                      <p:cBhvr>
                                        <p:cTn id="10" dur="1000"/>
                                        <p:tgtEl>
                                          <p:spTgt spid="259074"/>
                                        </p:tgtEl>
                                      </p:cBhvr>
                                    </p:animEffect>
                                    <p:anim calcmode="lin" valueType="num">
                                      <p:cBhvr>
                                        <p:cTn id="11" dur="1000" fill="hold"/>
                                        <p:tgtEl>
                                          <p:spTgt spid="259074"/>
                                        </p:tgtEl>
                                        <p:attrNameLst>
                                          <p:attrName>ppt_x</p:attrName>
                                        </p:attrNameLst>
                                      </p:cBhvr>
                                      <p:tavLst>
                                        <p:tav tm="0">
                                          <p:val>
                                            <p:strVal val="#ppt_x"/>
                                          </p:val>
                                        </p:tav>
                                        <p:tav tm="100000">
                                          <p:val>
                                            <p:strVal val="#ppt_x"/>
                                          </p:val>
                                        </p:tav>
                                      </p:tavLst>
                                    </p:anim>
                                    <p:anim calcmode="lin" valueType="num">
                                      <p:cBhvr>
                                        <p:cTn id="12" dur="1000" fill="hold"/>
                                        <p:tgtEl>
                                          <p:spTgt spid="259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6.2.1 </a:t>
            </a:r>
            <a:r>
              <a:rPr lang="zh-CN" altLang="en-US" sz="3200" b="1" dirty="0" smtClean="0">
                <a:solidFill>
                  <a:srgbClr val="1353A2"/>
                </a:solidFill>
                <a:latin typeface="微软雅黑" pitchFamily="34" charset="-122"/>
                <a:ea typeface="微软雅黑" pitchFamily="34" charset="-122"/>
              </a:rPr>
              <a:t>函数模板的定义</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5252720" y="1411587"/>
            <a:ext cx="5770880" cy="4531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不能</a:t>
            </a:r>
            <a:r>
              <a:rPr lang="zh-CN" altLang="zh-CN" sz="2400" dirty="0">
                <a:solidFill>
                  <a:schemeClr val="bg1">
                    <a:lumMod val="50000"/>
                  </a:schemeClr>
                </a:solidFill>
                <a:latin typeface="微软雅黑" pitchFamily="34" charset="-122"/>
                <a:ea typeface="微软雅黑" pitchFamily="34" charset="-122"/>
                <a:cs typeface="Times New Roman" pitchFamily="18" charset="0"/>
              </a:rPr>
              <a:t>在函数调用的参数中指定模板形参的类型，对函数模板的调用应使用实参推演，即只能进行</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add(2,3)</a:t>
            </a:r>
            <a:r>
              <a:rPr lang="zh-CN" altLang="zh-CN" sz="2400" dirty="0">
                <a:solidFill>
                  <a:schemeClr val="bg1">
                    <a:lumMod val="50000"/>
                  </a:schemeClr>
                </a:solidFill>
                <a:latin typeface="微软雅黑" pitchFamily="34" charset="-122"/>
                <a:ea typeface="微软雅黑" pitchFamily="34" charset="-122"/>
                <a:cs typeface="Times New Roman" pitchFamily="18" charset="0"/>
              </a:rPr>
              <a:t>这样的调用，或者定义整型变量</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 a=2</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b=3</a:t>
            </a:r>
            <a:r>
              <a:rPr lang="zh-CN" altLang="zh-CN" sz="2400" dirty="0">
                <a:solidFill>
                  <a:schemeClr val="bg1">
                    <a:lumMod val="50000"/>
                  </a:schemeClr>
                </a:solidFill>
                <a:latin typeface="微软雅黑" pitchFamily="34" charset="-122"/>
                <a:ea typeface="微软雅黑" pitchFamily="34" charset="-122"/>
                <a:cs typeface="Times New Roman" pitchFamily="18" charset="0"/>
              </a:rPr>
              <a:t>，再将</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变量作为参数，进行</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这样的调用，编译器会根据传入的实际参数推演出</a:t>
            </a:r>
            <a:r>
              <a:rPr lang="en-US" altLang="zh-CN" sz="2400" dirty="0">
                <a:solidFill>
                  <a:schemeClr val="bg1">
                    <a:lumMod val="50000"/>
                  </a:schemeClr>
                </a:solidFill>
                <a:latin typeface="微软雅黑" pitchFamily="34" charset="-122"/>
                <a:ea typeface="微软雅黑" pitchFamily="34" charset="-122"/>
                <a:cs typeface="Times New Roman" pitchFamily="18" charset="0"/>
              </a:rPr>
              <a:t>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的类型，而不能使用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这样的调用，直接将类型传入。</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grpSp>
        <p:nvGrpSpPr>
          <p:cNvPr id="8" name="组合 7"/>
          <p:cNvGrpSpPr/>
          <p:nvPr/>
        </p:nvGrpSpPr>
        <p:grpSpPr>
          <a:xfrm>
            <a:off x="1790699" y="1737302"/>
            <a:ext cx="2834640" cy="3676730"/>
            <a:chOff x="2311398" y="1676344"/>
            <a:chExt cx="2834640" cy="3676730"/>
          </a:xfrm>
        </p:grpSpPr>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890572908"/>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889760" y="1685907"/>
            <a:ext cx="5080000" cy="350585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模板不会减少可执行程序的大小，因为编译器会根据调用时的参数类型进行相应的实例化。所谓</a:t>
            </a:r>
            <a:r>
              <a:rPr lang="zh-CN" altLang="zh-CN" sz="2400" dirty="0">
                <a:solidFill>
                  <a:srgbClr val="FF0000"/>
                </a:solidFill>
                <a:latin typeface="微软雅黑" pitchFamily="34" charset="-122"/>
                <a:ea typeface="微软雅黑" pitchFamily="34" charset="-122"/>
                <a:cs typeface="Times New Roman" pitchFamily="18" charset="0"/>
              </a:rPr>
              <a:t>实例化</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，就是用类型参数替换模板中的模板参数，生成具体类型的函数。实例化可分为隐式实例化与显式</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实例化</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60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31408" y="1685907"/>
            <a:ext cx="3065521" cy="3800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17441640"/>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60098"/>
                                        </p:tgtEl>
                                        <p:attrNameLst>
                                          <p:attrName>style.visibility</p:attrName>
                                        </p:attrNameLst>
                                      </p:cBhvr>
                                      <p:to>
                                        <p:strVal val="visible"/>
                                      </p:to>
                                    </p:set>
                                    <p:animEffect transition="in" filter="wipe(up)">
                                      <p:cBhvr>
                                        <p:cTn id="7" dur="500"/>
                                        <p:tgtEl>
                                          <p:spTgt spid="26009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up)">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635760" y="1300480"/>
            <a:ext cx="9987280" cy="4429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隐</a:t>
            </a:r>
            <a:r>
              <a:rPr lang="zh-CN" altLang="zh-CN" sz="2400" dirty="0">
                <a:solidFill>
                  <a:srgbClr val="FF0000"/>
                </a:solidFill>
                <a:latin typeface="微软雅黑" pitchFamily="34" charset="-122"/>
                <a:ea typeface="微软雅黑" pitchFamily="34" charset="-122"/>
                <a:cs typeface="Times New Roman" pitchFamily="18" charset="0"/>
              </a:rPr>
              <a:t>式实例化</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隐式实例化是根据函数调用时传入的参数的数据类型确定模板形参</a:t>
            </a:r>
            <a:r>
              <a:rPr lang="en-US" altLang="zh-CN" sz="2400" dirty="0">
                <a:solidFill>
                  <a:schemeClr val="bg1">
                    <a:lumMod val="50000"/>
                  </a:schemeClr>
                </a:solidFill>
                <a:latin typeface="微软雅黑" pitchFamily="34" charset="-122"/>
                <a:ea typeface="微软雅黑" pitchFamily="34" charset="-122"/>
                <a:cs typeface="Times New Roman" pitchFamily="18" charset="0"/>
              </a:rPr>
              <a:t>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的类型，模板形参的类型是隐式确定</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的</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例如，对于下面的函数模板：</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rgbClr val="00B0F0"/>
                </a:solidFill>
                <a:latin typeface="微软雅黑" pitchFamily="34" charset="-122"/>
                <a:ea typeface="微软雅黑" pitchFamily="34" charset="-122"/>
                <a:cs typeface="Times New Roman" pitchFamily="18" charset="0"/>
              </a:rPr>
              <a:t>template &lt;class T&gt;  </a:t>
            </a:r>
            <a:r>
              <a:rPr lang="en-US" altLang="zh-CN" sz="1800" dirty="0" smtClean="0">
                <a:solidFill>
                  <a:srgbClr val="00B0F0"/>
                </a:solidFill>
                <a:latin typeface="微软雅黑" pitchFamily="34" charset="-122"/>
                <a:ea typeface="微软雅黑" pitchFamily="34" charset="-122"/>
                <a:cs typeface="Times New Roman" pitchFamily="18" charset="0"/>
              </a:rPr>
              <a:t>	//</a:t>
            </a:r>
            <a:r>
              <a:rPr lang="zh-CN" altLang="zh-CN" sz="1800" dirty="0">
                <a:solidFill>
                  <a:srgbClr val="00B0F0"/>
                </a:solidFill>
                <a:latin typeface="微软雅黑" pitchFamily="34" charset="-122"/>
                <a:ea typeface="微软雅黑" pitchFamily="34" charset="-122"/>
                <a:cs typeface="Times New Roman" pitchFamily="18" charset="0"/>
              </a:rPr>
              <a:t>定义函数模板</a:t>
            </a:r>
          </a:p>
          <a:p>
            <a:pPr marL="0" lvl="0" indent="0" eaLnBrk="1" hangingPunct="1">
              <a:lnSpc>
                <a:spcPct val="150000"/>
              </a:lnSpc>
              <a:spcBef>
                <a:spcPct val="0"/>
              </a:spcBef>
              <a:buNone/>
              <a:defRPr/>
            </a:pPr>
            <a:r>
              <a:rPr lang="en-US" altLang="zh-CN" sz="1800" dirty="0">
                <a:solidFill>
                  <a:srgbClr val="00B0F0"/>
                </a:solidFill>
                <a:latin typeface="微软雅黑" pitchFamily="34" charset="-122"/>
                <a:ea typeface="微软雅黑" pitchFamily="34" charset="-122"/>
                <a:cs typeface="Times New Roman" pitchFamily="18" charset="0"/>
              </a:rPr>
              <a:t>T add(T t1,T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rgbClr val="00B0F0"/>
                </a:solidFill>
                <a:latin typeface="微软雅黑" pitchFamily="34" charset="-122"/>
                <a:ea typeface="微软雅黑" pitchFamily="34" charset="-122"/>
                <a:cs typeface="Times New Roman" pitchFamily="18" charset="0"/>
              </a:rPr>
              <a:t>	return </a:t>
            </a:r>
            <a:r>
              <a:rPr lang="en-US" altLang="zh-CN" sz="1800" dirty="0">
                <a:solidFill>
                  <a:srgbClr val="00B0F0"/>
                </a:solidFill>
                <a:latin typeface="微软雅黑" pitchFamily="34" charset="-122"/>
                <a:ea typeface="微软雅黑" pitchFamily="34" charset="-122"/>
                <a:cs typeface="Times New Roman" pitchFamily="18" charset="0"/>
              </a:rPr>
              <a:t>t1+t2;</a:t>
            </a:r>
            <a:endParaRPr lang="zh-CN" altLang="zh-CN" sz="1800" dirty="0">
              <a:solidFill>
                <a:srgbClr val="00B0F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p:txBody>
      </p:sp>
      <p:pic>
        <p:nvPicPr>
          <p:cNvPr id="261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99680" y="2606673"/>
            <a:ext cx="2844483" cy="37185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68676294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261122"/>
                                        </p:tgtEl>
                                        <p:attrNameLst>
                                          <p:attrName>style.visibility</p:attrName>
                                        </p:attrNameLst>
                                      </p:cBhvr>
                                      <p:to>
                                        <p:strVal val="visible"/>
                                      </p:to>
                                    </p:set>
                                    <p:animEffect transition="in" filter="randombar(horizontal)">
                                      <p:cBhvr>
                                        <p:cTn id="11" dur="500"/>
                                        <p:tgtEl>
                                          <p:spTgt spid="261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2230118" y="1422400"/>
            <a:ext cx="5303520" cy="4429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第一次</a:t>
            </a:r>
            <a:r>
              <a:rPr lang="zh-CN" altLang="zh-CN" sz="2400" dirty="0">
                <a:solidFill>
                  <a:schemeClr val="bg1">
                    <a:lumMod val="50000"/>
                  </a:schemeClr>
                </a:solidFill>
                <a:latin typeface="微软雅黑" pitchFamily="34" charset="-122"/>
                <a:ea typeface="微软雅黑" pitchFamily="34" charset="-122"/>
                <a:cs typeface="Times New Roman" pitchFamily="18" charset="0"/>
              </a:rPr>
              <a:t>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函数模板时，传入的是</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类型数据</a:t>
            </a:r>
            <a:r>
              <a:rPr lang="en-US" altLang="zh-CN" sz="2400" dirty="0">
                <a:solidFill>
                  <a:schemeClr val="bg1">
                    <a:lumMod val="50000"/>
                  </a:schemeClr>
                </a:solidFill>
                <a:latin typeface="微软雅黑" pitchFamily="34" charset="-122"/>
                <a:ea typeface="微软雅黑" pitchFamily="34" charset="-122"/>
                <a:cs typeface="Times New Roman" pitchFamily="18" charset="0"/>
              </a:rPr>
              <a:t>1</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2</a:t>
            </a:r>
            <a:r>
              <a:rPr lang="zh-CN" altLang="zh-CN" sz="2400" dirty="0">
                <a:solidFill>
                  <a:schemeClr val="bg1">
                    <a:lumMod val="50000"/>
                  </a:schemeClr>
                </a:solidFill>
                <a:latin typeface="微软雅黑" pitchFamily="34" charset="-122"/>
                <a:ea typeface="微软雅黑" pitchFamily="34" charset="-122"/>
                <a:cs typeface="Times New Roman" pitchFamily="18" charset="0"/>
              </a:rPr>
              <a:t>，此时编译器根据传入的实参推演出模板形参类型是</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，就会根据函数模板实例化出一个</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类型的函数，如下所示：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int add(int t1,int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return t1 +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p:txBody>
      </p:sp>
      <p:pic>
        <p:nvPicPr>
          <p:cNvPr id="262146" name="Picture 2" descr="https://ss1.bdstatic.com/70cFuXSh_Q1YnxGkpoWK1HF6hhy/it/u=3768553292,564318391&amp;fm=26&amp;gp=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2351" y="1422400"/>
            <a:ext cx="3108966" cy="443960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822333169"/>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42" presetClass="entr" presetSubtype="0" fill="hold" nodeType="withEffect">
                                  <p:stCondLst>
                                    <p:cond delay="0"/>
                                  </p:stCondLst>
                                  <p:childTnLst>
                                    <p:set>
                                      <p:cBhvr>
                                        <p:cTn id="9" dur="1" fill="hold">
                                          <p:stCondLst>
                                            <p:cond delay="0"/>
                                          </p:stCondLst>
                                        </p:cTn>
                                        <p:tgtEl>
                                          <p:spTgt spid="262146"/>
                                        </p:tgtEl>
                                        <p:attrNameLst>
                                          <p:attrName>style.visibility</p:attrName>
                                        </p:attrNameLst>
                                      </p:cBhvr>
                                      <p:to>
                                        <p:strVal val="visible"/>
                                      </p:to>
                                    </p:set>
                                    <p:animEffect transition="in" filter="fade">
                                      <p:cBhvr>
                                        <p:cTn id="10" dur="1000"/>
                                        <p:tgtEl>
                                          <p:spTgt spid="262146"/>
                                        </p:tgtEl>
                                      </p:cBhvr>
                                    </p:animEffect>
                                    <p:anim calcmode="lin" valueType="num">
                                      <p:cBhvr>
                                        <p:cTn id="11" dur="1000" fill="hold"/>
                                        <p:tgtEl>
                                          <p:spTgt spid="262146"/>
                                        </p:tgtEl>
                                        <p:attrNameLst>
                                          <p:attrName>ppt_x</p:attrName>
                                        </p:attrNameLst>
                                      </p:cBhvr>
                                      <p:tavLst>
                                        <p:tav tm="0">
                                          <p:val>
                                            <p:strVal val="#ppt_x"/>
                                          </p:val>
                                        </p:tav>
                                        <p:tav tm="100000">
                                          <p:val>
                                            <p:strVal val="#ppt_x"/>
                                          </p:val>
                                        </p:tav>
                                      </p:tavLst>
                                    </p:anim>
                                    <p:anim calcmode="lin" valueType="num">
                                      <p:cBhvr>
                                        <p:cTn id="12" dur="1000" fill="hold"/>
                                        <p:tgtEl>
                                          <p:spTgt spid="262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879600" y="1524000"/>
            <a:ext cx="9235440" cy="4043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编译器</a:t>
            </a:r>
            <a:r>
              <a:rPr lang="zh-CN" altLang="zh-CN" sz="2400" dirty="0">
                <a:solidFill>
                  <a:schemeClr val="bg1">
                    <a:lumMod val="50000"/>
                  </a:schemeClr>
                </a:solidFill>
                <a:latin typeface="微软雅黑" pitchFamily="34" charset="-122"/>
                <a:ea typeface="微软雅黑" pitchFamily="34" charset="-122"/>
                <a:cs typeface="Times New Roman" pitchFamily="18" charset="0"/>
              </a:rPr>
              <a:t>生成具体类型函数的这一过程就称为实例化，生成的函数称为模板函数。生成</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类型的函数后，再将实参</a:t>
            </a:r>
            <a:r>
              <a:rPr lang="en-US" altLang="zh-CN" sz="2400" dirty="0">
                <a:solidFill>
                  <a:schemeClr val="bg1">
                    <a:lumMod val="50000"/>
                  </a:schemeClr>
                </a:solidFill>
                <a:latin typeface="微软雅黑" pitchFamily="34" charset="-122"/>
                <a:ea typeface="微软雅黑" pitchFamily="34" charset="-122"/>
                <a:cs typeface="Times New Roman" pitchFamily="18" charset="0"/>
              </a:rPr>
              <a:t>1</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2</a:t>
            </a:r>
            <a:r>
              <a:rPr lang="zh-CN" altLang="zh-CN" sz="2400" dirty="0">
                <a:solidFill>
                  <a:schemeClr val="bg1">
                    <a:lumMod val="50000"/>
                  </a:schemeClr>
                </a:solidFill>
                <a:latin typeface="微软雅黑" pitchFamily="34" charset="-122"/>
                <a:ea typeface="微软雅黑" pitchFamily="34" charset="-122"/>
                <a:cs typeface="Times New Roman" pitchFamily="18" charset="0"/>
              </a:rPr>
              <a:t>传入进行运算</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同理，当传入</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类型的数据时，编译器先将模板实例化为如下形式的函数：</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double add(double t1,double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return t1 +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203330650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920240" y="1524000"/>
            <a:ext cx="9235440" cy="3738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显</a:t>
            </a:r>
            <a:r>
              <a:rPr lang="zh-CN" altLang="zh-CN" sz="2400" dirty="0">
                <a:solidFill>
                  <a:srgbClr val="FF0000"/>
                </a:solidFill>
                <a:latin typeface="微软雅黑" pitchFamily="34" charset="-122"/>
                <a:ea typeface="微软雅黑" pitchFamily="34" charset="-122"/>
                <a:cs typeface="Times New Roman" pitchFamily="18" charset="0"/>
              </a:rPr>
              <a:t>式实例化</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隐式实例化不能为同一个模板形参指定两种不同的类型，如</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add(1,1.2)</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，函数形参类型不一致，编译器便会报错。这就需要显式实例化解决类型不一致的问题。显式实例化需要指定函数模板中的数据类型，其语法格式如下所示：</a:t>
            </a: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template 函数返回值类型 函数名&lt;实例化的类型&gt;(参数列表</a:t>
            </a:r>
            <a:r>
              <a:rPr lang="x-none" altLang="zh-CN" sz="2400" dirty="0" smtClean="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1664524775"/>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940560" y="1747520"/>
            <a:ext cx="9235440" cy="3271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声明</a:t>
            </a:r>
            <a:r>
              <a:rPr lang="zh-CN" altLang="zh-CN" sz="2400" dirty="0">
                <a:solidFill>
                  <a:schemeClr val="bg1">
                    <a:lumMod val="50000"/>
                  </a:schemeClr>
                </a:solidFill>
                <a:latin typeface="微软雅黑" pitchFamily="34" charset="-122"/>
                <a:ea typeface="微软雅黑" pitchFamily="34" charset="-122"/>
                <a:cs typeface="Times New Roman" pitchFamily="18" charset="0"/>
              </a:rPr>
              <a:t>语句要以分号结束，</a:t>
            </a:r>
            <a:r>
              <a:rPr lang="en-US" altLang="zh-CN" sz="2400" dirty="0">
                <a:solidFill>
                  <a:schemeClr val="bg1">
                    <a:lumMod val="50000"/>
                  </a:schemeClr>
                </a:solidFill>
                <a:latin typeface="微软雅黑" pitchFamily="34" charset="-122"/>
                <a:ea typeface="微软雅黑" pitchFamily="34" charset="-122"/>
                <a:cs typeface="Times New Roman" pitchFamily="18" charset="0"/>
              </a:rPr>
              <a:t>&lt; &gt;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中是显式实例的数据类型，即要实例化出一个什么类型的函数，例如，显示实例化为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类型，则在调用时，不是</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类型的数据会转换为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类型进行</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计算</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2400" dirty="0">
                <a:solidFill>
                  <a:schemeClr val="bg1">
                    <a:lumMod val="50000"/>
                  </a:schemeClr>
                </a:solidFill>
                <a:latin typeface="微软雅黑" pitchFamily="34" charset="-122"/>
                <a:ea typeface="微软雅黑" pitchFamily="34" charset="-122"/>
                <a:cs typeface="Times New Roman" pitchFamily="18" charset="0"/>
              </a:rPr>
              <a:t>add()</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函数模板显式实例化为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类型，代码如下所示：</a:t>
            </a: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template int add&lt;int&gt;(int t1, int t2);</a:t>
            </a:r>
            <a:endParaRPr lang="zh-CN" altLang="zh-CN" sz="2400" dirty="0">
              <a:solidFill>
                <a:srgbClr val="00B0F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155664936"/>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514598" y="1442720"/>
            <a:ext cx="8112762" cy="4602479"/>
            <a:chOff x="2179318" y="1432560"/>
            <a:chExt cx="8112762" cy="4602479"/>
          </a:xfrm>
        </p:grpSpPr>
        <p:pic>
          <p:nvPicPr>
            <p:cNvPr id="265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9318" y="1432560"/>
              <a:ext cx="8112762" cy="4602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834640" y="1438156"/>
              <a:ext cx="7152640" cy="4104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6-2  explicit.cpp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 add(T t1,T t2</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t1+t2;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add&lt;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t1,int t2);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显式实例化为</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a:t>
              </a:r>
            </a:p>
            <a:p>
              <a:pPr marL="0" lvl="0" indent="0" eaLnBrk="1" hangingPunct="1">
                <a:lnSpc>
                  <a:spcPct val="150000"/>
                </a:lnSpc>
                <a:spcBef>
                  <a:spcPct val="0"/>
                </a:spcBef>
                <a:buNone/>
                <a:defRPr/>
              </a:pP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&lt;&lt;add&lt;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&gt;(10,'B')&lt;&lt;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函数模板调用</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&lt;&lt;add(1.2,3.4)&lt;&lt;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062824632"/>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5577840" y="1747520"/>
            <a:ext cx="5557520" cy="3556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上述代码</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显</a:t>
            </a:r>
            <a:r>
              <a:rPr lang="zh-CN" altLang="zh-CN" sz="2400" dirty="0">
                <a:solidFill>
                  <a:schemeClr val="bg1">
                    <a:lumMod val="50000"/>
                  </a:schemeClr>
                </a:solidFill>
                <a:latin typeface="微软雅黑" pitchFamily="34" charset="-122"/>
                <a:ea typeface="微软雅黑" pitchFamily="34" charset="-122"/>
                <a:cs typeface="Times New Roman" pitchFamily="18" charset="0"/>
              </a:rPr>
              <a:t>式</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声明</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了</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add</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函数模板，指定模板形参类型为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。在调用</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类型模板函数时，传入了一个字符‘</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’，则编译器会将字符类型的‘</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’转换为对应</a:t>
            </a:r>
            <a:r>
              <a:rPr lang="en-US" altLang="zh-CN" sz="2400" dirty="0">
                <a:solidFill>
                  <a:schemeClr val="bg1">
                    <a:lumMod val="50000"/>
                  </a:schemeClr>
                </a:solidFill>
                <a:latin typeface="微软雅黑" pitchFamily="34" charset="-122"/>
                <a:ea typeface="微软雅黑" pitchFamily="34" charset="-122"/>
                <a:cs typeface="Times New Roman" pitchFamily="18" charset="0"/>
              </a:rPr>
              <a:t>ASCII</a:t>
            </a:r>
            <a:r>
              <a:rPr lang="zh-CN" altLang="zh-CN" sz="2400" dirty="0">
                <a:solidFill>
                  <a:schemeClr val="bg1">
                    <a:lumMod val="50000"/>
                  </a:schemeClr>
                </a:solidFill>
                <a:latin typeface="微软雅黑" pitchFamily="34" charset="-122"/>
                <a:ea typeface="微软雅黑" pitchFamily="34" charset="-122"/>
                <a:cs typeface="Times New Roman" pitchFamily="18" charset="0"/>
              </a:rPr>
              <a:t>码值，然后再与</a:t>
            </a:r>
            <a:r>
              <a:rPr lang="en-US" altLang="zh-CN" sz="2400" dirty="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a:solidFill>
                  <a:schemeClr val="bg1">
                    <a:lumMod val="50000"/>
                  </a:schemeClr>
                </a:solidFill>
                <a:latin typeface="微软雅黑" pitchFamily="34" charset="-122"/>
                <a:ea typeface="微软雅黑" pitchFamily="34" charset="-122"/>
                <a:cs typeface="Times New Roman" pitchFamily="18" charset="0"/>
              </a:rPr>
              <a:t>相加得出结果。实际上就是一个隐式的数据类型转换。</a:t>
            </a:r>
          </a:p>
        </p:txBody>
      </p:sp>
      <p:pic>
        <p:nvPicPr>
          <p:cNvPr id="266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9121" y="1414304"/>
            <a:ext cx="3466148" cy="4473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50850338"/>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42" presetClass="entr" presetSubtype="0" fill="hold" nodeType="withEffect">
                                  <p:stCondLst>
                                    <p:cond delay="0"/>
                                  </p:stCondLst>
                                  <p:childTnLst>
                                    <p:set>
                                      <p:cBhvr>
                                        <p:cTn id="9" dur="1" fill="hold">
                                          <p:stCondLst>
                                            <p:cond delay="0"/>
                                          </p:stCondLst>
                                        </p:cTn>
                                        <p:tgtEl>
                                          <p:spTgt spid="266242"/>
                                        </p:tgtEl>
                                        <p:attrNameLst>
                                          <p:attrName>style.visibility</p:attrName>
                                        </p:attrNameLst>
                                      </p:cBhvr>
                                      <p:to>
                                        <p:strVal val="visible"/>
                                      </p:to>
                                    </p:set>
                                    <p:animEffect transition="in" filter="fade">
                                      <p:cBhvr>
                                        <p:cTn id="10" dur="1000"/>
                                        <p:tgtEl>
                                          <p:spTgt spid="266242"/>
                                        </p:tgtEl>
                                      </p:cBhvr>
                                    </p:animEffect>
                                    <p:anim calcmode="lin" valueType="num">
                                      <p:cBhvr>
                                        <p:cTn id="11" dur="1000" fill="hold"/>
                                        <p:tgtEl>
                                          <p:spTgt spid="266242"/>
                                        </p:tgtEl>
                                        <p:attrNameLst>
                                          <p:attrName>ppt_x</p:attrName>
                                        </p:attrNameLst>
                                      </p:cBhvr>
                                      <p:tavLst>
                                        <p:tav tm="0">
                                          <p:val>
                                            <p:strVal val="#ppt_x"/>
                                          </p:val>
                                        </p:tav>
                                        <p:tav tm="100000">
                                          <p:val>
                                            <p:strVal val="#ppt_x"/>
                                          </p:val>
                                        </p:tav>
                                      </p:tavLst>
                                    </p:anim>
                                    <p:anim calcmode="lin" valueType="num">
                                      <p:cBhvr>
                                        <p:cTn id="12" dur="1000" fill="hold"/>
                                        <p:tgtEl>
                                          <p:spTgt spid="2662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6.2.2 </a:t>
            </a:r>
            <a:r>
              <a:rPr lang="zh-CN" altLang="en-US" sz="3200" b="1" dirty="0" smtClean="0">
                <a:solidFill>
                  <a:srgbClr val="1353A2"/>
                </a:solidFill>
                <a:latin typeface="微软雅黑" pitchFamily="34" charset="-122"/>
                <a:ea typeface="微软雅黑" pitchFamily="34" charset="-122"/>
              </a:rPr>
              <a:t>函数模板实例化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587499" y="1503680"/>
            <a:ext cx="6136640" cy="4155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给定</a:t>
            </a:r>
            <a:r>
              <a:rPr lang="zh-CN" altLang="zh-CN" sz="2400" dirty="0">
                <a:solidFill>
                  <a:schemeClr val="bg1">
                    <a:lumMod val="50000"/>
                  </a:schemeClr>
                </a:solidFill>
                <a:latin typeface="微软雅黑" pitchFamily="34" charset="-122"/>
                <a:ea typeface="微软雅黑" pitchFamily="34" charset="-122"/>
                <a:cs typeface="Times New Roman" pitchFamily="18" charset="0"/>
              </a:rPr>
              <a:t>的函数模板，显式实例化声明在一个文件中只能出现一次，并且在这个文件中必须给出函数模板的定义。由于</a:t>
            </a:r>
            <a:r>
              <a:rPr lang="en-US" altLang="zh-CN" sz="2400" dirty="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a:solidFill>
                  <a:schemeClr val="bg1">
                    <a:lumMod val="50000"/>
                  </a:schemeClr>
                </a:solidFill>
                <a:latin typeface="微软雅黑" pitchFamily="34" charset="-122"/>
                <a:ea typeface="微软雅黑" pitchFamily="34" charset="-122"/>
                <a:cs typeface="Times New Roman" pitchFamily="18" charset="0"/>
              </a:rPr>
              <a:t>编译器不断的完善，模板实例化的显式声明可以省略，在调用时用</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&lt;&gt;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显式指定要实例化的类型即可，如例</a:t>
            </a:r>
            <a:r>
              <a:rPr lang="en-US" altLang="zh-CN" sz="2400" dirty="0">
                <a:solidFill>
                  <a:schemeClr val="bg1">
                    <a:lumMod val="50000"/>
                  </a:schemeClr>
                </a:solidFill>
                <a:latin typeface="微软雅黑" pitchFamily="34" charset="-122"/>
                <a:ea typeface="微软雅黑" pitchFamily="34" charset="-122"/>
                <a:cs typeface="Times New Roman" pitchFamily="18" charset="0"/>
              </a:rPr>
              <a:t>6-2</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add(1.2,3.4)</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函数调用如果改为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add&lt;</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&gt;(1.2,3.4)</a:t>
            </a:r>
            <a:r>
              <a:rPr lang="zh-CN" altLang="zh-CN" sz="2400" dirty="0">
                <a:solidFill>
                  <a:schemeClr val="bg1">
                    <a:lumMod val="50000"/>
                  </a:schemeClr>
                </a:solidFill>
                <a:latin typeface="微软雅黑" pitchFamily="34" charset="-122"/>
                <a:ea typeface="微软雅黑" pitchFamily="34" charset="-122"/>
                <a:cs typeface="Times New Roman" pitchFamily="18" charset="0"/>
              </a:rPr>
              <a:t>调用，则会得出结果</a:t>
            </a:r>
            <a:r>
              <a:rPr lang="en-US" altLang="zh-CN" sz="2400" dirty="0">
                <a:solidFill>
                  <a:schemeClr val="bg1">
                    <a:lumMod val="50000"/>
                  </a:schemeClr>
                </a:solidFill>
                <a:latin typeface="微软雅黑" pitchFamily="34" charset="-122"/>
                <a:ea typeface="微软雅黑" pitchFamily="34" charset="-122"/>
                <a:cs typeface="Times New Roman" pitchFamily="18" charset="0"/>
              </a:rPr>
              <a:t>4</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p>
        </p:txBody>
      </p:sp>
      <p:pic>
        <p:nvPicPr>
          <p:cNvPr id="267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2771" y="1634331"/>
            <a:ext cx="3652328" cy="3894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8760355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67266"/>
                                        </p:tgtEl>
                                        <p:attrNameLst>
                                          <p:attrName>style.visibility</p:attrName>
                                        </p:attrNameLst>
                                      </p:cBhvr>
                                      <p:to>
                                        <p:strVal val="visible"/>
                                      </p:to>
                                    </p:set>
                                    <p:animEffect transition="in" filter="fade">
                                      <p:cBhvr>
                                        <p:cTn id="7" dur="1000"/>
                                        <p:tgtEl>
                                          <p:spTgt spid="267266"/>
                                        </p:tgtEl>
                                      </p:cBhvr>
                                    </p:animEffect>
                                    <p:anim calcmode="lin" valueType="num">
                                      <p:cBhvr>
                                        <p:cTn id="8" dur="1000" fill="hold"/>
                                        <p:tgtEl>
                                          <p:spTgt spid="267266"/>
                                        </p:tgtEl>
                                        <p:attrNameLst>
                                          <p:attrName>ppt_x</p:attrName>
                                        </p:attrNameLst>
                                      </p:cBhvr>
                                      <p:tavLst>
                                        <p:tav tm="0">
                                          <p:val>
                                            <p:strVal val="#ppt_x"/>
                                          </p:val>
                                        </p:tav>
                                        <p:tav tm="100000">
                                          <p:val>
                                            <p:strVal val="#ppt_x"/>
                                          </p:val>
                                        </p:tav>
                                      </p:tavLst>
                                    </p:anim>
                                    <p:anim calcmode="lin" valueType="num">
                                      <p:cBhvr>
                                        <p:cTn id="9" dur="1000" fill="hold"/>
                                        <p:tgtEl>
                                          <p:spTgt spid="26726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0850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anose="02010609060101010101" pitchFamily="49" charset="-122"/>
                <a:ea typeface="楷体" panose="02010609060101010101" pitchFamily="49" charset="-122"/>
                <a:sym typeface="Wingdings"/>
              </a:rPr>
              <a:t></a:t>
            </a:r>
            <a:r>
              <a:rPr lang="zh-CN" altLang="zh-CN" sz="3200" b="1" dirty="0">
                <a:solidFill>
                  <a:srgbClr val="1353A2"/>
                </a:solidFill>
                <a:latin typeface="楷体" panose="02010609060101010101" pitchFamily="49" charset="-122"/>
                <a:ea typeface="楷体" panose="02010609060101010101" pitchFamily="49" charset="-122"/>
              </a:rPr>
              <a:t>多学一招：显式具体化</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584960" y="1452880"/>
            <a:ext cx="9784081" cy="457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模板的显式具体化实现了不同于模板函数定义的实现，其具体格式如下所示：</a:t>
            </a: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template</a:t>
            </a:r>
            <a:r>
              <a:rPr lang="x-none" altLang="zh-CN" sz="2400" dirty="0" smtClean="0">
                <a:solidFill>
                  <a:srgbClr val="FF0000"/>
                </a:solidFill>
                <a:latin typeface="微软雅黑" pitchFamily="34" charset="-122"/>
                <a:ea typeface="微软雅黑" pitchFamily="34" charset="-122"/>
                <a:cs typeface="Times New Roman" pitchFamily="18" charset="0"/>
              </a:rPr>
              <a:t>&lt;&gt; </a:t>
            </a:r>
            <a:r>
              <a:rPr lang="x-none" altLang="zh-CN" sz="2400" dirty="0">
                <a:solidFill>
                  <a:srgbClr val="FF0000"/>
                </a:solidFill>
                <a:latin typeface="微软雅黑" pitchFamily="34" charset="-122"/>
                <a:ea typeface="微软雅黑" pitchFamily="34" charset="-122"/>
                <a:cs typeface="Times New Roman" pitchFamily="18" charset="0"/>
              </a:rPr>
              <a:t>函数返回值类型 函数名&lt;实例化类型&gt;(参数列表)</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	//函数体重新定义</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smtClean="0">
                <a:solidFill>
                  <a:srgbClr val="FF0000"/>
                </a:solidFill>
                <a:latin typeface="微软雅黑" pitchFamily="34" charset="-122"/>
                <a:ea typeface="微软雅黑" pitchFamily="34" charset="-122"/>
                <a:cs typeface="Times New Roman" pitchFamily="18" charset="0"/>
              </a:rPr>
              <a:t>}</a:t>
            </a:r>
            <a:endParaRPr lang="en-US" altLang="zh-CN" sz="2400" dirty="0" smtClean="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显式实例化只需要显式声明模板参数的类型而不需要重新定义函数模板的实现，而显式具体化需要重新定义函数模板的</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实现</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335458634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0850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anose="02010609060101010101" pitchFamily="49" charset="-122"/>
                <a:ea typeface="楷体" panose="02010609060101010101" pitchFamily="49" charset="-122"/>
                <a:sym typeface="Wingdings"/>
              </a:rPr>
              <a:t></a:t>
            </a:r>
            <a:r>
              <a:rPr lang="zh-CN" altLang="zh-CN" sz="3200" b="1" dirty="0">
                <a:solidFill>
                  <a:srgbClr val="1353A2"/>
                </a:solidFill>
                <a:latin typeface="楷体" panose="02010609060101010101" pitchFamily="49" charset="-122"/>
                <a:ea typeface="楷体" panose="02010609060101010101" pitchFamily="49" charset="-122"/>
              </a:rPr>
              <a:t>多学一招：显式具体化</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6" name="组合 5"/>
          <p:cNvGrpSpPr/>
          <p:nvPr/>
        </p:nvGrpSpPr>
        <p:grpSpPr>
          <a:xfrm>
            <a:off x="2164081" y="1696720"/>
            <a:ext cx="3992880" cy="3708400"/>
            <a:chOff x="2052321" y="1676400"/>
            <a:chExt cx="3992880" cy="3708400"/>
          </a:xfrm>
        </p:grpSpPr>
        <p:pic>
          <p:nvPicPr>
            <p:cNvPr id="268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321" y="1676400"/>
              <a:ext cx="3992880" cy="370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664460" y="1828800"/>
              <a:ext cx="3175000" cy="3241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1800" dirty="0" smtClean="0">
                  <a:solidFill>
                    <a:schemeClr val="bg1">
                      <a:lumMod val="50000"/>
                    </a:schemeClr>
                  </a:solidFill>
                  <a:latin typeface="微软雅黑" pitchFamily="34" charset="-122"/>
                  <a:ea typeface="微软雅黑" pitchFamily="34" charset="-122"/>
                  <a:cs typeface="Times New Roman" pitchFamily="18" charset="0"/>
                </a:rPr>
                <a:t>函数模板</a:t>
              </a:r>
              <a:endParaRPr lang="en-US"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void swap(T&amp; t1,T&amp; 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temp = t1;</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t1 = 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t2 = temp;</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grpSp>
        <p:nvGrpSpPr>
          <p:cNvPr id="8" name="组合 7"/>
          <p:cNvGrpSpPr/>
          <p:nvPr/>
        </p:nvGrpSpPr>
        <p:grpSpPr>
          <a:xfrm>
            <a:off x="6725921" y="1696720"/>
            <a:ext cx="3931920" cy="3627120"/>
            <a:chOff x="6873875" y="1676400"/>
            <a:chExt cx="3418205" cy="3627120"/>
          </a:xfrm>
        </p:grpSpPr>
        <p:pic>
          <p:nvPicPr>
            <p:cNvPr id="26829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3875" y="1676400"/>
              <a:ext cx="3418205" cy="3627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a:spLocks/>
            </p:cNvSpPr>
            <p:nvPr/>
          </p:nvSpPr>
          <p:spPr>
            <a:xfrm>
              <a:off x="7300912" y="1881694"/>
              <a:ext cx="2690859" cy="3056066"/>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1800" dirty="0" smtClean="0">
                  <a:solidFill>
                    <a:schemeClr val="bg1">
                      <a:lumMod val="50000"/>
                    </a:schemeClr>
                  </a:solidFill>
                  <a:latin typeface="微软雅黑" pitchFamily="34" charset="-122"/>
                  <a:ea typeface="微软雅黑" pitchFamily="34" charset="-122"/>
                  <a:cs typeface="Times New Roman" pitchFamily="18" charset="0"/>
                </a:rPr>
                <a:t>学生结构体</a:t>
              </a:r>
              <a:endParaRPr lang="en-US"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struct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Student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int id;</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char name[40];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float score;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58184407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0850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anose="02010609060101010101" pitchFamily="49" charset="-122"/>
                <a:ea typeface="楷体" panose="02010609060101010101" pitchFamily="49" charset="-122"/>
                <a:sym typeface="Wingdings"/>
              </a:rPr>
              <a:t></a:t>
            </a:r>
            <a:r>
              <a:rPr lang="zh-CN" altLang="zh-CN" sz="3200" b="1" dirty="0">
                <a:solidFill>
                  <a:srgbClr val="1353A2"/>
                </a:solidFill>
                <a:latin typeface="楷体" panose="02010609060101010101" pitchFamily="49" charset="-122"/>
                <a:ea typeface="楷体" panose="02010609060101010101" pitchFamily="49" charset="-122"/>
              </a:rPr>
              <a:t>多学一招：显式具体化</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605280" y="1391920"/>
            <a:ext cx="9784081" cy="47345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现在要</a:t>
            </a:r>
            <a:r>
              <a:rPr lang="zh-CN" altLang="en-US"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调用</a:t>
            </a: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add()</a:t>
            </a:r>
            <a:r>
              <a:rPr lang="zh-CN" altLang="en-US"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函数模板</a:t>
            </a: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调换</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两个学生的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id</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编号，但是又不想交换学生的姓名、成绩等其他一些信息，那么此时就可以用显式具体化来解决这个问题，重新定义函数模板只交换结构体的部分数据成员，其显式具体化如下所示：</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template&lt;&gt; void swap&lt;Student&gt;(Student&amp; st1, Student&amp; st2)</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	int temp = st1.id;</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	st1.id = st2.id;</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	st2.id = temp;</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112349823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08508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anose="02010609060101010101" pitchFamily="49" charset="-122"/>
                <a:ea typeface="楷体" panose="02010609060101010101" pitchFamily="49" charset="-122"/>
                <a:sym typeface="Wingdings"/>
              </a:rPr>
              <a:t></a:t>
            </a:r>
            <a:r>
              <a:rPr lang="zh-CN" altLang="zh-CN" sz="3200" b="1" dirty="0">
                <a:solidFill>
                  <a:srgbClr val="1353A2"/>
                </a:solidFill>
                <a:latin typeface="楷体" panose="02010609060101010101" pitchFamily="49" charset="-122"/>
                <a:ea typeface="楷体" panose="02010609060101010101" pitchFamily="49" charset="-122"/>
              </a:rPr>
              <a:t>多学一招：显式具体化</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6339841" y="2194560"/>
            <a:ext cx="4439919" cy="2499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如果</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函数有多个原型，则编译器在选择函数调用时，非模板函数优先于模板函数，显式实例化模板优先于函数</a:t>
            </a: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模板</a:t>
            </a:r>
            <a:r>
              <a:rPr lang="zh-CN" altLang="en-US"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p:txBody>
      </p:sp>
      <p:grpSp>
        <p:nvGrpSpPr>
          <p:cNvPr id="7" name="组合 6"/>
          <p:cNvGrpSpPr/>
          <p:nvPr/>
        </p:nvGrpSpPr>
        <p:grpSpPr>
          <a:xfrm>
            <a:off x="2420619" y="1605875"/>
            <a:ext cx="2834640" cy="3676730"/>
            <a:chOff x="2311398" y="1676344"/>
            <a:chExt cx="2834640" cy="3676730"/>
          </a:xfrm>
        </p:grpSpPr>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46503462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6.2.3 </a:t>
            </a:r>
            <a:r>
              <a:rPr lang="zh-CN" altLang="en-US" sz="3200" b="1" dirty="0" smtClean="0">
                <a:solidFill>
                  <a:srgbClr val="1353A2"/>
                </a:solidFill>
                <a:latin typeface="微软雅黑" pitchFamily="34" charset="-122"/>
                <a:ea typeface="微软雅黑" pitchFamily="34" charset="-122"/>
              </a:rPr>
              <a:t>函数模板重载</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871979" y="1391920"/>
            <a:ext cx="5270501" cy="4490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模板可以进行实例化，以支持多种不同形参，不同类型的参数调用会产生一系列重载函数。</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函数模板本身也可以被重载，即相同函数模板名可以具有不同的函数模板定义，当进行函数调用时，编译器根据实参的类型与个数来决定调用哪个函数模板实例化函数。</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4560" y="1498599"/>
            <a:ext cx="3890010" cy="4035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72118857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down)">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6.2.3 </a:t>
            </a:r>
            <a:r>
              <a:rPr lang="zh-CN" altLang="en-US" sz="3200" b="1" dirty="0" smtClean="0">
                <a:solidFill>
                  <a:srgbClr val="1353A2"/>
                </a:solidFill>
                <a:latin typeface="微软雅黑" pitchFamily="34" charset="-122"/>
                <a:ea typeface="微软雅黑" pitchFamily="34" charset="-122"/>
              </a:rPr>
              <a:t>函数模板重载</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554480" y="1291978"/>
            <a:ext cx="9814560" cy="5052838"/>
            <a:chOff x="1554480" y="1270000"/>
            <a:chExt cx="9814560" cy="4856479"/>
          </a:xfrm>
        </p:grpSpPr>
        <p:pic>
          <p:nvPicPr>
            <p:cNvPr id="269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4480" y="1270000"/>
              <a:ext cx="9814560" cy="4856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1993899" y="1348581"/>
              <a:ext cx="9232901" cy="4592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6-3    templateFunc.cpp</a:t>
              </a:r>
            </a:p>
            <a:p>
              <a:pPr mar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max(</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&amp;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&amp; b</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非模板函数，求两个</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类型数据的最大</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者</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a&gt;b ? a:b;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定义求两个任意类型数据的最大值</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 max(</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T&amp; t1,const T&amp; t2</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t1&gt;t2 ? t1:t2;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定义求三个任意类型数据的最大值</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 max(</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T&amp; t1,const T&amp; t2,const T&amp;t3</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max(max(t1,t2),t3);</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148613900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462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6.2.3 </a:t>
            </a:r>
            <a:r>
              <a:rPr lang="zh-CN" altLang="en-US" sz="3200" b="1" dirty="0" smtClean="0">
                <a:solidFill>
                  <a:srgbClr val="1353A2"/>
                </a:solidFill>
                <a:latin typeface="微软雅黑" pitchFamily="34" charset="-122"/>
                <a:ea typeface="微软雅黑" pitchFamily="34" charset="-122"/>
              </a:rPr>
              <a:t>函数模板重载</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286000" y="1676400"/>
            <a:ext cx="8361680" cy="3759199"/>
            <a:chOff x="2011680" y="1554480"/>
            <a:chExt cx="8361680" cy="3759199"/>
          </a:xfrm>
        </p:grpSpPr>
        <p:pic>
          <p:nvPicPr>
            <p:cNvPr id="270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1680" y="1554480"/>
              <a:ext cx="8361680" cy="3759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623819" y="1788160"/>
              <a:ext cx="7607301" cy="3454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max(1,2)&lt;&lt;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调用非模板函数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max(1,2,3)&lt;&lt;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调用三个参数的函数模板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max('</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a','e</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调用两个参数的函数模板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max(6,3.2)&lt;&lt;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调用非模板函数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39163456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483360" y="1727200"/>
            <a:ext cx="10109199" cy="2976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1</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）函数模板中的每一个类型参数在函数参数表中必须至少使用一次，例如，下面的函数模板声明是不正确的。</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template&lt;class T1, class T2&gt;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func(T1 t</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函数模板声明了两个参数</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T1</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与</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T2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，但在使用时只使用了</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T1</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，没有使用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T2</a:t>
            </a: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185431190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635761" y="1645920"/>
            <a:ext cx="9804400" cy="3596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）全局作用域中声明的与模板参数同名的对象、函数或类型，在函数模板中将被隐藏，例如：</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int num;</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template&lt;class T&gt;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func(T t</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r>
              <a:rPr lang="en-US" altLang="zh-CN" sz="1800" dirty="0">
                <a:solidFill>
                  <a:srgbClr val="00B0F0"/>
                </a:solidFill>
                <a:latin typeface="楷体" panose="02010609060101010101" pitchFamily="49" charset="-122"/>
                <a:ea typeface="楷体" panose="02010609060101010101" pitchFamily="49" charset="-122"/>
                <a:cs typeface="Times New Roman" pitchFamily="18" charset="0"/>
              </a:rPr>
              <a:t> </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T </a:t>
            </a: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num</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r>
              <a:rPr lang="en-US" altLang="zh-CN" sz="1800" dirty="0">
                <a:solidFill>
                  <a:srgbClr val="00B0F0"/>
                </a:solidFill>
                <a:latin typeface="楷体" panose="02010609060101010101" pitchFamily="49" charset="-122"/>
                <a:ea typeface="楷体" panose="02010609060101010101" pitchFamily="49" charset="-122"/>
                <a:cs typeface="Times New Roman" pitchFamily="18" charset="0"/>
              </a:rPr>
              <a:t> </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在函数体内访问</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itchFamily="18" charset="0"/>
              </a:rPr>
              <a:t>num</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是访问的</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T</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类型的</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itchFamily="18" charset="0"/>
              </a:rPr>
              <a:t>num</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，而不是全局变量</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itchFamily="18" charset="0"/>
              </a:rPr>
              <a:t>num</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p>
        </p:txBody>
      </p:sp>
    </p:spTree>
    <p:custDataLst>
      <p:tags r:id="rId1"/>
    </p:custDataLst>
    <p:extLst>
      <p:ext uri="{BB962C8B-B14F-4D97-AF65-F5344CB8AC3E}">
        <p14:creationId xmlns:p14="http://schemas.microsoft.com/office/powerpoint/2010/main" val="313116534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747521" y="1991360"/>
            <a:ext cx="9306560" cy="2946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3</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）函数模板中声明的对象或类型不能与模板参数同名，例如：</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template&lt;class T&gt;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func(T t</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r>
              <a:rPr lang="en-US" altLang="zh-CN" sz="1800" dirty="0">
                <a:solidFill>
                  <a:srgbClr val="00B0F0"/>
                </a:solidFill>
                <a:latin typeface="楷体" panose="02010609060101010101" pitchFamily="49" charset="-122"/>
                <a:ea typeface="楷体" panose="02010609060101010101" pitchFamily="49" charset="-122"/>
                <a:cs typeface="Times New Roman" pitchFamily="18" charset="0"/>
              </a:rPr>
              <a:t> </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p>
          <a:p>
            <a:pPr marL="0" indent="0" eaLnBrk="1" hangingPunct="1">
              <a:lnSpc>
                <a:spcPct val="150000"/>
              </a:lnSpc>
              <a:spcBef>
                <a:spcPct val="0"/>
              </a:spcBef>
              <a:buNone/>
              <a:defRPr/>
            </a:pP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typedef </a:t>
            </a: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float T; </a:t>
            </a:r>
            <a:r>
              <a:rPr lang="x-none"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	</a:t>
            </a:r>
            <a:r>
              <a:rPr lang="x-none"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//错误，</a:t>
            </a:r>
            <a:r>
              <a:rPr lang="x-none" altLang="zh-CN" sz="18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定义的类型与模板参数名相同</a:t>
            </a:r>
            <a:endParaRPr lang="en-US" altLang="zh-CN" sz="18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423618267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191259" y="1391920"/>
            <a:ext cx="10312399" cy="4094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4</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）模板参数名在同一模板参数列表中只能使用一次，但可在多个函数模板声明或定义之间重复使用。例如：</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 &lt;class T, class T</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&gt;</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//错误，在同一个模板中重复定义模板参数</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func1(T t1, T t2){}</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 &lt;class T&gt;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func2(T t1){}</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 &lt;class T&gt; 	</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x-none"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在不同函数模板中可重复使用相同模板参数名</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en-US"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func3(T t1){}</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332765951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3302000" y="1493520"/>
            <a:ext cx="5333999" cy="4307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5</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）模板的定义和多处声明所使用的模板参数名不一定要必须相同，例如：</a:t>
            </a:r>
          </a:p>
          <a:p>
            <a:pPr marL="0" indent="0" eaLnBrk="1" hangingPunct="1">
              <a:lnSpc>
                <a:spcPct val="150000"/>
              </a:lnSpc>
              <a:spcBef>
                <a:spcPct val="0"/>
              </a:spcBef>
              <a:buNone/>
              <a:defRPr/>
            </a:pPr>
            <a:r>
              <a:rPr lang="x-none"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//模板的前向声明</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 &lt;class T&gt;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func1(T t1, T t2);</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//模板的定义</a:t>
            </a: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template&lt;class U&gt;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func1(U t1, U t2</a:t>
            </a:r>
            <a:r>
              <a:rPr lang="x-none"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14767605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8011162" cy="584775"/>
          </a:xfrm>
          <a:prstGeom prst="rect">
            <a:avLst/>
          </a:prstGeom>
          <a:noFill/>
          <a:effectLst>
            <a:reflection blurRad="6350" stA="50000" endA="300" endPos="38500" dist="50800" dir="5400000" sy="-100000" algn="bl" rotWithShape="0"/>
          </a:effectLst>
        </p:spPr>
        <p:txBody>
          <a:bodyPr wrap="square" rtlCol="0">
            <a:spAutoFit/>
          </a:bodyPr>
          <a:lstStyle/>
          <a:p>
            <a:r>
              <a:rPr lang="x-none" altLang="zh-CN" sz="3200" b="1" dirty="0" smtClean="0">
                <a:solidFill>
                  <a:srgbClr val="1353A2"/>
                </a:solidFill>
                <a:latin typeface="楷体" panose="02010609060101010101" pitchFamily="49" charset="-122"/>
                <a:ea typeface="楷体" panose="02010609060101010101" pitchFamily="49" charset="-122"/>
                <a:sym typeface="Wingdings"/>
              </a:rPr>
              <a:t></a:t>
            </a:r>
            <a:r>
              <a:rPr lang="x-none" altLang="zh-CN" sz="3200" b="1" dirty="0">
                <a:solidFill>
                  <a:srgbClr val="1353A2"/>
                </a:solidFill>
                <a:latin typeface="楷体" panose="02010609060101010101" pitchFamily="49" charset="-122"/>
                <a:ea typeface="楷体" panose="02010609060101010101" pitchFamily="49" charset="-122"/>
              </a:rPr>
              <a:t>脚下留心：</a:t>
            </a:r>
            <a:r>
              <a:rPr lang="zh-CN" altLang="zh-CN" sz="3200" b="1" dirty="0">
                <a:solidFill>
                  <a:srgbClr val="1353A2"/>
                </a:solidFill>
                <a:latin typeface="楷体" panose="02010609060101010101" pitchFamily="49" charset="-122"/>
                <a:ea typeface="楷体" panose="02010609060101010101" pitchFamily="49" charset="-122"/>
              </a:rPr>
              <a:t>使用函数模板要注意的问题</a:t>
            </a: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463040" y="1818640"/>
            <a:ext cx="10312399" cy="3434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6</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）函数模板如果有多个模板参数，则每个模板类型前都必须使用关键字</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class</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或</a:t>
            </a:r>
            <a:r>
              <a:rPr lang="en-US" altLang="zh-CN" sz="2400" dirty="0" err="1">
                <a:solidFill>
                  <a:schemeClr val="bg1">
                    <a:lumMod val="50000"/>
                  </a:schemeClr>
                </a:solidFill>
                <a:latin typeface="楷体" panose="02010609060101010101" pitchFamily="49" charset="-122"/>
                <a:ea typeface="楷体" panose="02010609060101010101" pitchFamily="49" charset="-122"/>
                <a:cs typeface="Times New Roman" pitchFamily="18" charset="0"/>
              </a:rPr>
              <a:t>typename</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修饰，例如：</a:t>
            </a: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 &lt;class T,class U&gt;   </a:t>
            </a:r>
            <a:r>
              <a:rPr lang="en-US" altLang="zh-CN" sz="1800" dirty="0" smtClean="0">
                <a:solidFill>
                  <a:srgbClr val="00B0F0"/>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x-none"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两个关键字可以混用</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func(T t, U u){}</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template&lt;class T,U&gt;  </a:t>
            </a:r>
            <a:r>
              <a:rPr lang="x-none"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	</a:t>
            </a:r>
            <a:r>
              <a:rPr lang="en-US"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	</a:t>
            </a:r>
            <a:r>
              <a:rPr lang="x-none" altLang="zh-CN" sz="18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x-none"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错误，每一个模板参数前都要有关键字修饰</a:t>
            </a:r>
            <a:endParaRPr lang="zh-CN" altLang="zh-CN" sz="1800" dirty="0">
              <a:solidFill>
                <a:schemeClr val="bg1">
                  <a:lumMod val="50000"/>
                </a:schemeClr>
              </a:solidFill>
              <a:latin typeface="楷体" panose="02010609060101010101" pitchFamily="49" charset="-122"/>
              <a:ea typeface="楷体" panose="02010609060101010101" pitchFamily="49"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楷体" panose="02010609060101010101" pitchFamily="49" charset="-122"/>
                <a:ea typeface="楷体" panose="02010609060101010101" pitchFamily="49" charset="-122"/>
                <a:cs typeface="Times New Roman" pitchFamily="18" charset="0"/>
              </a:rPr>
              <a:t>void func(T t, U u){}</a:t>
            </a:r>
            <a:endParaRPr lang="zh-CN" altLang="zh-CN" sz="1800" dirty="0">
              <a:solidFill>
                <a:srgbClr val="00B0F0"/>
              </a:solidFill>
              <a:latin typeface="楷体" panose="02010609060101010101" pitchFamily="49" charset="-122"/>
              <a:ea typeface="楷体" panose="02010609060101010101" pitchFamily="49" charset="-122"/>
              <a:cs typeface="Times New Roman" pitchFamily="18" charset="0"/>
            </a:endParaRPr>
          </a:p>
        </p:txBody>
      </p:sp>
    </p:spTree>
    <p:custDataLst>
      <p:tags r:id="rId1"/>
    </p:custDataLst>
    <p:extLst>
      <p:ext uri="{BB962C8B-B14F-4D97-AF65-F5344CB8AC3E}">
        <p14:creationId xmlns:p14="http://schemas.microsoft.com/office/powerpoint/2010/main" val="183456366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554481" y="1391920"/>
            <a:ext cx="9601200" cy="4490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r>
              <a:rPr lang="zh-CN" altLang="zh-CN" sz="2400" dirty="0">
                <a:solidFill>
                  <a:schemeClr val="bg1">
                    <a:lumMod val="50000"/>
                  </a:schemeClr>
                </a:solidFill>
                <a:latin typeface="微软雅黑" pitchFamily="34" charset="-122"/>
                <a:ea typeface="微软雅黑" pitchFamily="34" charset="-122"/>
                <a:cs typeface="Times New Roman" pitchFamily="18" charset="0"/>
              </a:rPr>
              <a:t>可以定义模板，对于类来说，也可以定义一个类模板，类模板是针对成员数据类型不同的类的抽象，它不是一个具体的实际的类，而是一个类型的类，一个类模板可以生成多种具体的类，定义类模板的格式如下所示：</a:t>
            </a: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template&lt;class 类型占位符&gt;</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class 类名</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FF0000"/>
                </a:solidFill>
                <a:latin typeface="微软雅黑" pitchFamily="34" charset="-122"/>
                <a:ea typeface="微软雅黑" pitchFamily="34" charset="-122"/>
                <a:cs typeface="Times New Roman" pitchFamily="18" charset="0"/>
              </a:rPr>
              <a:t>}</a:t>
            </a:r>
            <a:endParaRPr lang="zh-CN" altLang="zh-CN" sz="2400" dirty="0">
              <a:solidFill>
                <a:srgbClr val="FF000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7852737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859281" y="1584960"/>
            <a:ext cx="4561839" cy="35763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模板的模板形参不能为空，一旦声明类模板，就可以用类模板的形参名声明类中的成员变量和成员函数，即在类中使用数据类型的地方都可以使用模板形参名来</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声明</a:t>
            </a:r>
            <a:r>
              <a:rPr lang="zh-CN" altLang="en-US" sz="24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grpSp>
        <p:nvGrpSpPr>
          <p:cNvPr id="5" name="组合 4"/>
          <p:cNvGrpSpPr/>
          <p:nvPr/>
        </p:nvGrpSpPr>
        <p:grpSpPr>
          <a:xfrm>
            <a:off x="7069772" y="1625600"/>
            <a:ext cx="3892867" cy="3647440"/>
            <a:chOff x="7079933" y="1463040"/>
            <a:chExt cx="3892867" cy="3647440"/>
          </a:xfrm>
        </p:grpSpPr>
        <p:pic>
          <p:nvPicPr>
            <p:cNvPr id="2529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9933" y="1463040"/>
              <a:ext cx="3892867" cy="3647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a:spLocks/>
            </p:cNvSpPr>
            <p:nvPr/>
          </p:nvSpPr>
          <p:spPr>
            <a:xfrm>
              <a:off x="7599680" y="1615440"/>
              <a:ext cx="2936239" cy="3495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class 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func(T a, T 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06241811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5415281" y="1442720"/>
            <a:ext cx="5598159" cy="45720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定义</a:t>
            </a:r>
            <a:r>
              <a:rPr lang="zh-CN" altLang="zh-CN" sz="2400" dirty="0">
                <a:solidFill>
                  <a:schemeClr val="bg1">
                    <a:lumMod val="50000"/>
                  </a:schemeClr>
                </a:solidFill>
                <a:latin typeface="微软雅黑" pitchFamily="34" charset="-122"/>
                <a:ea typeface="微软雅黑" pitchFamily="34" charset="-122"/>
                <a:cs typeface="Times New Roman" pitchFamily="18" charset="0"/>
              </a:rPr>
              <a:t>了类模板后就要使用类模板创建对象以及实现类中的成员函数，这个过程其实也是类模板实例化的过程，实例化出的具体类称为模板类。如果用类模板创建类的对象，例如，用上述定义的类模板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创建对象，则在类模板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后面加上一个</a:t>
            </a:r>
            <a:r>
              <a:rPr lang="en-US" altLang="zh-CN" sz="2400" dirty="0">
                <a:solidFill>
                  <a:schemeClr val="bg1">
                    <a:lumMod val="50000"/>
                  </a:schemeClr>
                </a:solidFill>
                <a:latin typeface="微软雅黑" pitchFamily="34" charset="-122"/>
                <a:ea typeface="微软雅黑" pitchFamily="34" charset="-122"/>
                <a:cs typeface="Times New Roman" pitchFamily="18" charset="0"/>
              </a:rPr>
              <a:t>&lt; &gt;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，并在里面表明相应的</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类型</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A&lt;int&gt; a;</a:t>
            </a:r>
            <a:endParaRPr lang="zh-CN" altLang="zh-CN" sz="2400" dirty="0">
              <a:solidFill>
                <a:srgbClr val="00B0F0"/>
              </a:solidFill>
              <a:latin typeface="微软雅黑" pitchFamily="34" charset="-122"/>
              <a:ea typeface="微软雅黑" pitchFamily="34" charset="-122"/>
              <a:cs typeface="Times New Roman" pitchFamily="18" charset="0"/>
            </a:endParaRPr>
          </a:p>
        </p:txBody>
      </p:sp>
      <p:pic>
        <p:nvPicPr>
          <p:cNvPr id="25395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7530" y="1442720"/>
            <a:ext cx="3009900" cy="427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2390002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42" presetClass="entr" presetSubtype="0" fill="hold" nodeType="withEffect">
                                  <p:stCondLst>
                                    <p:cond delay="0"/>
                                  </p:stCondLst>
                                  <p:childTnLst>
                                    <p:set>
                                      <p:cBhvr>
                                        <p:cTn id="9" dur="1" fill="hold">
                                          <p:stCondLst>
                                            <p:cond delay="0"/>
                                          </p:stCondLst>
                                        </p:cTn>
                                        <p:tgtEl>
                                          <p:spTgt spid="253954"/>
                                        </p:tgtEl>
                                        <p:attrNameLst>
                                          <p:attrName>style.visibility</p:attrName>
                                        </p:attrNameLst>
                                      </p:cBhvr>
                                      <p:to>
                                        <p:strVal val="visible"/>
                                      </p:to>
                                    </p:set>
                                    <p:animEffect transition="in" filter="fade">
                                      <p:cBhvr>
                                        <p:cTn id="10" dur="1000"/>
                                        <p:tgtEl>
                                          <p:spTgt spid="253954"/>
                                        </p:tgtEl>
                                      </p:cBhvr>
                                    </p:animEffect>
                                    <p:anim calcmode="lin" valueType="num">
                                      <p:cBhvr>
                                        <p:cTn id="11" dur="1000" fill="hold"/>
                                        <p:tgtEl>
                                          <p:spTgt spid="253954"/>
                                        </p:tgtEl>
                                        <p:attrNameLst>
                                          <p:attrName>ppt_x</p:attrName>
                                        </p:attrNameLst>
                                      </p:cBhvr>
                                      <p:tavLst>
                                        <p:tav tm="0">
                                          <p:val>
                                            <p:strVal val="#ppt_x"/>
                                          </p:val>
                                        </p:tav>
                                        <p:tav tm="100000">
                                          <p:val>
                                            <p:strVal val="#ppt_x"/>
                                          </p:val>
                                        </p:tav>
                                      </p:tavLst>
                                    </p:anim>
                                    <p:anim calcmode="lin" valueType="num">
                                      <p:cBhvr>
                                        <p:cTn id="12" dur="1000" fill="hold"/>
                                        <p:tgtEl>
                                          <p:spTgt spid="2539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2011681" y="1280160"/>
            <a:ext cx="5100319" cy="48564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当</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类模板有两个模板形参时，创建对象时，类型之间要用逗号分隔开</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T1, class T2&gt;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B</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T1 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T2 b;</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T1 func(T1 a, T2&amp; b);</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B&lt;int,string&gt; b; </a:t>
            </a:r>
            <a:endParaRPr lang="en-US" altLang="zh-CN" sz="1800" dirty="0" smtClean="0">
              <a:solidFill>
                <a:srgbClr val="00B0F0"/>
              </a:solidFill>
              <a:latin typeface="微软雅黑" pitchFamily="34" charset="-122"/>
              <a:ea typeface="微软雅黑" pitchFamily="34" charset="-122"/>
              <a:cs typeface="Times New Roman" pitchFamily="18" charset="0"/>
            </a:endParaRPr>
          </a:p>
        </p:txBody>
      </p:sp>
      <p:pic>
        <p:nvPicPr>
          <p:cNvPr id="2549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6061" y="1569085"/>
            <a:ext cx="3715648" cy="3998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99049048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par>
                                <p:cTn id="8" presetID="42" presetClass="entr" presetSubtype="0" fill="hold" nodeType="withEffect">
                                  <p:stCondLst>
                                    <p:cond delay="0"/>
                                  </p:stCondLst>
                                  <p:childTnLst>
                                    <p:set>
                                      <p:cBhvr>
                                        <p:cTn id="9" dur="1" fill="hold">
                                          <p:stCondLst>
                                            <p:cond delay="0"/>
                                          </p:stCondLst>
                                        </p:cTn>
                                        <p:tgtEl>
                                          <p:spTgt spid="254978"/>
                                        </p:tgtEl>
                                        <p:attrNameLst>
                                          <p:attrName>style.visibility</p:attrName>
                                        </p:attrNameLst>
                                      </p:cBhvr>
                                      <p:to>
                                        <p:strVal val="visible"/>
                                      </p:to>
                                    </p:set>
                                    <p:animEffect transition="in" filter="fade">
                                      <p:cBhvr>
                                        <p:cTn id="10" dur="1000"/>
                                        <p:tgtEl>
                                          <p:spTgt spid="254978"/>
                                        </p:tgtEl>
                                      </p:cBhvr>
                                    </p:animEffect>
                                    <p:anim calcmode="lin" valueType="num">
                                      <p:cBhvr>
                                        <p:cTn id="11" dur="1000" fill="hold"/>
                                        <p:tgtEl>
                                          <p:spTgt spid="254978"/>
                                        </p:tgtEl>
                                        <p:attrNameLst>
                                          <p:attrName>ppt_x</p:attrName>
                                        </p:attrNameLst>
                                      </p:cBhvr>
                                      <p:tavLst>
                                        <p:tav tm="0">
                                          <p:val>
                                            <p:strVal val="#ppt_x"/>
                                          </p:val>
                                        </p:tav>
                                        <p:tav tm="100000">
                                          <p:val>
                                            <p:strVal val="#ppt_x"/>
                                          </p:val>
                                        </p:tav>
                                      </p:tavLst>
                                    </p:anim>
                                    <p:anim calcmode="lin" valueType="num">
                                      <p:cBhvr>
                                        <p:cTn id="12" dur="1000" fill="hold"/>
                                        <p:tgtEl>
                                          <p:spTgt spid="2549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5974080" y="1737360"/>
            <a:ext cx="5049520" cy="35966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使用</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类模板时，必须要为模板形参显式指定实参，不存在实参推演过程，也就是说不存在将整型值</a:t>
            </a:r>
            <a:r>
              <a:rPr lang="en-US" altLang="zh-CN" sz="2400" dirty="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a:solidFill>
                  <a:schemeClr val="bg1">
                    <a:lumMod val="50000"/>
                  </a:schemeClr>
                </a:solidFill>
                <a:latin typeface="微软雅黑" pitchFamily="34" charset="-122"/>
                <a:ea typeface="微软雅黑" pitchFamily="34" charset="-122"/>
                <a:cs typeface="Times New Roman" pitchFamily="18" charset="0"/>
              </a:rPr>
              <a:t>推演为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类型传递给模板形参，必须要在</a:t>
            </a:r>
            <a:r>
              <a:rPr lang="en-US" altLang="zh-CN" sz="2400" dirty="0">
                <a:solidFill>
                  <a:schemeClr val="bg1">
                    <a:lumMod val="50000"/>
                  </a:schemeClr>
                </a:solidFill>
                <a:latin typeface="微软雅黑" pitchFamily="34" charset="-122"/>
                <a:ea typeface="微软雅黑" pitchFamily="34" charset="-122"/>
                <a:cs typeface="Times New Roman" pitchFamily="18" charset="0"/>
              </a:rPr>
              <a:t>&lt; &gt;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中指定</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类型，这一点与函数模板不同。</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grpSp>
        <p:nvGrpSpPr>
          <p:cNvPr id="8" name="组合 7"/>
          <p:cNvGrpSpPr/>
          <p:nvPr/>
        </p:nvGrpSpPr>
        <p:grpSpPr>
          <a:xfrm>
            <a:off x="2420619" y="1605875"/>
            <a:ext cx="2834640" cy="3676730"/>
            <a:chOff x="2311398" y="1676344"/>
            <a:chExt cx="2834640" cy="3676730"/>
          </a:xfrm>
        </p:grpSpPr>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8381335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767840" y="1402080"/>
            <a:ext cx="4429760" cy="4690810"/>
            <a:chOff x="1513840" y="1391920"/>
            <a:chExt cx="4277360" cy="4690810"/>
          </a:xfrm>
        </p:grpSpPr>
        <p:pic>
          <p:nvPicPr>
            <p:cNvPr id="2560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3840" y="1391920"/>
              <a:ext cx="4277360" cy="4690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001520" y="1493520"/>
              <a:ext cx="3556000" cy="4287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6-4   classTemplate.cpp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Array</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_size;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 _</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ptr</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Array(T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s);</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void show();</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grpSp>
        <p:nvGrpSpPr>
          <p:cNvPr id="6" name="组合 5"/>
          <p:cNvGrpSpPr/>
          <p:nvPr/>
        </p:nvGrpSpPr>
        <p:grpSpPr>
          <a:xfrm>
            <a:off x="6730048" y="1391920"/>
            <a:ext cx="4171632" cy="4480560"/>
            <a:chOff x="6476048" y="1391920"/>
            <a:chExt cx="4171632" cy="4480560"/>
          </a:xfrm>
        </p:grpSpPr>
        <p:pic>
          <p:nvPicPr>
            <p:cNvPr id="25600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6048" y="1391920"/>
              <a:ext cx="4171632" cy="448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6756400" y="1442720"/>
              <a:ext cx="3789680" cy="42875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Array&lt;T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&gt;::Array(T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s)</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_</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ptr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new T[s];</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_size = s;</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=0;i&lt;_size;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_</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ptr</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97985763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721168" y="1503680"/>
            <a:ext cx="3887152" cy="3870960"/>
            <a:chOff x="1385888" y="1503680"/>
            <a:chExt cx="3887152" cy="3870960"/>
          </a:xfrm>
        </p:grpSpPr>
        <p:pic>
          <p:nvPicPr>
            <p:cNvPr id="257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85888" y="1503680"/>
              <a:ext cx="3887152" cy="3870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1524000" y="1859280"/>
              <a:ext cx="3627120" cy="316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 </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void </a:t>
              </a:r>
              <a:r>
                <a:rPr lang="en-US" altLang="zh-CN" sz="1800" dirty="0">
                  <a:solidFill>
                    <a:schemeClr val="bg1">
                      <a:lumMod val="50000"/>
                    </a:schemeClr>
                  </a:solidFill>
                  <a:latin typeface="微软雅黑" pitchFamily="34" charset="-122"/>
                  <a:ea typeface="微软雅黑" pitchFamily="34" charset="-122"/>
                  <a:cs typeface="Times New Roman" pitchFamily="18" charset="0"/>
                </a:rPr>
                <a:t>Array&lt;T&gt;::show()</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=0;i&lt;_</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size;i</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&lt;&lt;*(_</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ptr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grpSp>
        <p:nvGrpSpPr>
          <p:cNvPr id="6" name="组合 5"/>
          <p:cNvGrpSpPr/>
          <p:nvPr/>
        </p:nvGrpSpPr>
        <p:grpSpPr>
          <a:xfrm>
            <a:off x="5998528" y="1493520"/>
            <a:ext cx="5065712" cy="4287520"/>
            <a:chOff x="5663248" y="1493520"/>
            <a:chExt cx="5065712" cy="4287520"/>
          </a:xfrm>
        </p:grpSpPr>
        <p:pic>
          <p:nvPicPr>
            <p:cNvPr id="257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3248" y="1493520"/>
              <a:ext cx="5065712" cy="4287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内容占位符 2"/>
            <p:cNvSpPr txBox="1">
              <a:spLocks/>
            </p:cNvSpPr>
            <p:nvPr/>
          </p:nvSpPr>
          <p:spPr>
            <a:xfrm>
              <a:off x="5913120" y="1503680"/>
              <a:ext cx="4653280" cy="4175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char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 'a', 'b', 'c', 'd', 'e'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Array&lt;char&gt; a1(</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5); </a:t>
              </a:r>
              <a:endParaRPr lang="en-US"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a1.show</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[10] = { 1, 2, 3, 4, 5, 6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Array&lt;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a2(</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 10);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a2.show();</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p>
          </p:txBody>
        </p:sp>
      </p:grpSp>
    </p:spTree>
    <p:custDataLst>
      <p:tags r:id="rId1"/>
    </p:custDataLst>
    <p:extLst>
      <p:ext uri="{BB962C8B-B14F-4D97-AF65-F5344CB8AC3E}">
        <p14:creationId xmlns:p14="http://schemas.microsoft.com/office/powerpoint/2010/main" val="290207660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2042160" y="1696720"/>
            <a:ext cx="5334000" cy="34747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代码</a:t>
            </a:r>
            <a:r>
              <a:rPr lang="zh-CN" altLang="zh-CN" sz="2400" dirty="0">
                <a:solidFill>
                  <a:schemeClr val="bg1">
                    <a:lumMod val="50000"/>
                  </a:schemeClr>
                </a:solidFill>
                <a:latin typeface="微软雅黑" pitchFamily="34" charset="-122"/>
                <a:ea typeface="微软雅黑" pitchFamily="34" charset="-122"/>
                <a:cs typeface="Times New Roman" pitchFamily="18" charset="0"/>
              </a:rPr>
              <a:t>定义了一个类模板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Array</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Array</a:t>
            </a:r>
            <a:r>
              <a:rPr lang="zh-CN" altLang="zh-CN" sz="2400" dirty="0">
                <a:solidFill>
                  <a:schemeClr val="bg1">
                    <a:lumMod val="50000"/>
                  </a:schemeClr>
                </a:solidFill>
                <a:latin typeface="微软雅黑" pitchFamily="34" charset="-122"/>
                <a:ea typeface="微软雅黑" pitchFamily="34" charset="-122"/>
                <a:cs typeface="Times New Roman" pitchFamily="18" charset="0"/>
              </a:rPr>
              <a:t>的构造函数有一个数组类型参数，则在创建类对象时，第一个对象用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类型的数组去初始化，第二个对象用</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类型的数组去初始化，然后调用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输出两个数组的元素。</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58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0498" y="1590040"/>
            <a:ext cx="3741737"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2799458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42" presetClass="entr" presetSubtype="0" fill="hold" nodeType="withEffect">
                                  <p:stCondLst>
                                    <p:cond delay="0"/>
                                  </p:stCondLst>
                                  <p:childTnLst>
                                    <p:set>
                                      <p:cBhvr>
                                        <p:cTn id="9" dur="1" fill="hold">
                                          <p:stCondLst>
                                            <p:cond delay="0"/>
                                          </p:stCondLst>
                                        </p:cTn>
                                        <p:tgtEl>
                                          <p:spTgt spid="258050"/>
                                        </p:tgtEl>
                                        <p:attrNameLst>
                                          <p:attrName>style.visibility</p:attrName>
                                        </p:attrNameLst>
                                      </p:cBhvr>
                                      <p:to>
                                        <p:strVal val="visible"/>
                                      </p:to>
                                    </p:set>
                                    <p:animEffect transition="in" filter="fade">
                                      <p:cBhvr>
                                        <p:cTn id="10" dur="1000"/>
                                        <p:tgtEl>
                                          <p:spTgt spid="258050"/>
                                        </p:tgtEl>
                                      </p:cBhvr>
                                    </p:animEffect>
                                    <p:anim calcmode="lin" valueType="num">
                                      <p:cBhvr>
                                        <p:cTn id="11" dur="1000" fill="hold"/>
                                        <p:tgtEl>
                                          <p:spTgt spid="258050"/>
                                        </p:tgtEl>
                                        <p:attrNameLst>
                                          <p:attrName>ppt_x</p:attrName>
                                        </p:attrNameLst>
                                      </p:cBhvr>
                                      <p:tavLst>
                                        <p:tav tm="0">
                                          <p:val>
                                            <p:strVal val="#ppt_x"/>
                                          </p:val>
                                        </p:tav>
                                        <p:tav tm="100000">
                                          <p:val>
                                            <p:strVal val="#ppt_x"/>
                                          </p:val>
                                        </p:tav>
                                      </p:tavLst>
                                    </p:anim>
                                    <p:anim calcmode="lin" valueType="num">
                                      <p:cBhvr>
                                        <p:cTn id="12" dur="1000" fill="hold"/>
                                        <p:tgtEl>
                                          <p:spTgt spid="2580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6.3.1 </a:t>
            </a:r>
            <a:r>
              <a:rPr lang="zh-CN" altLang="en-US" sz="3200" b="1" dirty="0" smtClean="0">
                <a:solidFill>
                  <a:srgbClr val="1353A2"/>
                </a:solidFill>
                <a:latin typeface="微软雅黑" pitchFamily="34" charset="-122"/>
                <a:ea typeface="微软雅黑" pitchFamily="34" charset="-122"/>
              </a:rPr>
              <a:t>类模板定义与实例化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6573520" y="2123440"/>
            <a:ext cx="4216400" cy="2407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模板在实例化时，带有模板形参的成员函数并不会跟着实例化，这些成员函数只有在被调用时才会被实例化。</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grpSp>
        <p:nvGrpSpPr>
          <p:cNvPr id="7" name="组合 6"/>
          <p:cNvGrpSpPr/>
          <p:nvPr/>
        </p:nvGrpSpPr>
        <p:grpSpPr>
          <a:xfrm>
            <a:off x="2514600" y="1605875"/>
            <a:ext cx="2834640" cy="3676730"/>
            <a:chOff x="2311398" y="1676344"/>
            <a:chExt cx="2834640" cy="3676730"/>
          </a:xfrm>
        </p:grpSpPr>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88952964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7635242" cy="584775"/>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楷体" panose="02010609060101010101" pitchFamily="49" charset="-122"/>
                <a:ea typeface="楷体" panose="02010609060101010101" pitchFamily="49" charset="-122"/>
                <a:sym typeface="Wingdings"/>
              </a:rPr>
              <a:t></a:t>
            </a:r>
            <a:r>
              <a:rPr lang="zh-CN" altLang="zh-CN" sz="3200" b="1" dirty="0">
                <a:solidFill>
                  <a:srgbClr val="1353A2"/>
                </a:solidFill>
                <a:latin typeface="楷体" panose="02010609060101010101" pitchFamily="49" charset="-122"/>
                <a:ea typeface="楷体" panose="02010609060101010101" pitchFamily="49" charset="-122"/>
              </a:rPr>
              <a:t>多学一招：模板声明或定义的作用域</a:t>
            </a:r>
            <a:endParaRPr lang="zh-CN" altLang="en-US" sz="3200" b="1" dirty="0">
              <a:solidFill>
                <a:srgbClr val="1353A2"/>
              </a:solidFill>
              <a:latin typeface="楷体" panose="02010609060101010101" pitchFamily="49" charset="-122"/>
              <a:ea typeface="楷体" panose="02010609060101010101" pitchFamily="49"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899920" y="1463040"/>
            <a:ext cx="9367520" cy="3962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楷体" panose="02010609060101010101" pitchFamily="49" charset="-122"/>
                <a:ea typeface="楷体" panose="02010609060101010101" pitchFamily="49" charset="-122"/>
                <a:cs typeface="Times New Roman" pitchFamily="18" charset="0"/>
              </a:rPr>
              <a:t>模板</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的声明或定义只能在全局、命名空间或类范围内进行，不能在局部范围、函数内进行，比如不能在</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main()</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函数中声明或定义一个模板。声明或定义一个模板还有以下几点需要注意：</a:t>
            </a: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1</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）全局作用域中声明了与模板参数同名的变量，则该变量被隐藏。</a:t>
            </a: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2</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）模板参数名不能被当作类模板定义中类成员的名字。</a:t>
            </a: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3</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）同一个模板参数名在模板参数表中只能出现一次。</a:t>
            </a:r>
          </a:p>
          <a:p>
            <a:pPr marL="0" indent="0" eaLnBrk="1" hangingPunct="1">
              <a:lnSpc>
                <a:spcPct val="150000"/>
              </a:lnSpc>
              <a:spcBef>
                <a:spcPct val="0"/>
              </a:spcBef>
              <a:buNone/>
              <a:defRPr/>
            </a:pP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a:t>
            </a:r>
            <a:r>
              <a:rPr lang="en-US"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4</a:t>
            </a:r>
            <a:r>
              <a:rPr lang="zh-CN" altLang="zh-CN" sz="2400" dirty="0">
                <a:solidFill>
                  <a:schemeClr val="bg1">
                    <a:lumMod val="50000"/>
                  </a:schemeClr>
                </a:solidFill>
                <a:latin typeface="楷体" panose="02010609060101010101" pitchFamily="49" charset="-122"/>
                <a:ea typeface="楷体" panose="02010609060101010101" pitchFamily="49" charset="-122"/>
                <a:cs typeface="Times New Roman" pitchFamily="18" charset="0"/>
              </a:rPr>
              <a:t>）在不同的类模板声明或定义中，模板参数名可以被重复使用。</a:t>
            </a:r>
          </a:p>
        </p:txBody>
      </p:sp>
    </p:spTree>
    <p:custDataLst>
      <p:tags r:id="rId1"/>
    </p:custDataLst>
    <p:extLst>
      <p:ext uri="{BB962C8B-B14F-4D97-AF65-F5344CB8AC3E}">
        <p14:creationId xmlns:p14="http://schemas.microsoft.com/office/powerpoint/2010/main" val="68650485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5994400" y="1778000"/>
            <a:ext cx="4724400" cy="31089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类</a:t>
            </a:r>
            <a:r>
              <a:rPr lang="zh-CN" altLang="zh-CN" sz="2400" dirty="0">
                <a:solidFill>
                  <a:srgbClr val="FF0000"/>
                </a:solidFill>
                <a:latin typeface="微软雅黑" pitchFamily="34" charset="-122"/>
                <a:ea typeface="微软雅黑" pitchFamily="34" charset="-122"/>
                <a:cs typeface="Times New Roman" pitchFamily="18" charset="0"/>
              </a:rPr>
              <a:t>模板派生普通类</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在</a:t>
            </a:r>
            <a:r>
              <a:rPr lang="en-US" altLang="zh-CN" sz="2400" dirty="0">
                <a:solidFill>
                  <a:schemeClr val="bg1">
                    <a:lumMod val="50000"/>
                  </a:schemeClr>
                </a:solidFill>
                <a:latin typeface="微软雅黑" pitchFamily="34" charset="-122"/>
                <a:ea typeface="微软雅黑" pitchFamily="34" charset="-122"/>
                <a:cs typeface="Times New Roman" pitchFamily="18" charset="0"/>
              </a:rPr>
              <a:t>C++</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中，可以从任意一个类模板派生一个普通类。在派生中，作为非模板类的基类，必须是类模板实例化后的模板类</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59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3799" y="1412241"/>
            <a:ext cx="2900681" cy="4252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5621624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59075"/>
                                        </p:tgtEl>
                                        <p:attrNameLst>
                                          <p:attrName>style.visibility</p:attrName>
                                        </p:attrNameLst>
                                      </p:cBhvr>
                                      <p:to>
                                        <p:strVal val="visible"/>
                                      </p:to>
                                    </p:set>
                                    <p:animEffect transition="in" filter="fade">
                                      <p:cBhvr>
                                        <p:cTn id="7" dur="1000"/>
                                        <p:tgtEl>
                                          <p:spTgt spid="259075"/>
                                        </p:tgtEl>
                                      </p:cBhvr>
                                    </p:animEffect>
                                    <p:anim calcmode="lin" valueType="num">
                                      <p:cBhvr>
                                        <p:cTn id="8" dur="1000" fill="hold"/>
                                        <p:tgtEl>
                                          <p:spTgt spid="259075"/>
                                        </p:tgtEl>
                                        <p:attrNameLst>
                                          <p:attrName>ppt_x</p:attrName>
                                        </p:attrNameLst>
                                      </p:cBhvr>
                                      <p:tavLst>
                                        <p:tav tm="0">
                                          <p:val>
                                            <p:strVal val="#ppt_x"/>
                                          </p:val>
                                        </p:tav>
                                        <p:tav tm="100000">
                                          <p:val>
                                            <p:strVal val="#ppt_x"/>
                                          </p:val>
                                        </p:tav>
                                      </p:tavLst>
                                    </p:anim>
                                    <p:anim calcmode="lin" valueType="num">
                                      <p:cBhvr>
                                        <p:cTn id="9" dur="1000" fill="hold"/>
                                        <p:tgtEl>
                                          <p:spTgt spid="25907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960880" y="1330960"/>
            <a:ext cx="3718560" cy="4734560"/>
            <a:chOff x="1899920" y="1381760"/>
            <a:chExt cx="3718560" cy="4734560"/>
          </a:xfrm>
        </p:grpSpPr>
        <p:pic>
          <p:nvPicPr>
            <p:cNvPr id="260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99920" y="1381760"/>
              <a:ext cx="3718560" cy="4734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443479" y="1422400"/>
              <a:ext cx="2677162" cy="46431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Base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 x;</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y;</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Base(T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x, T y);</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Base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getx();</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Base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gety();</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Base();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en-US" sz="1800" dirty="0">
                <a:solidFill>
                  <a:schemeClr val="bg1">
                    <a:lumMod val="50000"/>
                  </a:schemeClr>
                </a:solidFill>
                <a:latin typeface="微软雅黑" pitchFamily="34" charset="-122"/>
                <a:ea typeface="微软雅黑" pitchFamily="34" charset="-122"/>
                <a:cs typeface="Times New Roman" pitchFamily="18" charset="0"/>
              </a:endParaRPr>
            </a:p>
          </p:txBody>
        </p:sp>
      </p:grpSp>
      <p:grpSp>
        <p:nvGrpSpPr>
          <p:cNvPr id="6" name="组合 5"/>
          <p:cNvGrpSpPr/>
          <p:nvPr/>
        </p:nvGrpSpPr>
        <p:grpSpPr>
          <a:xfrm>
            <a:off x="6368098" y="1381760"/>
            <a:ext cx="4777422" cy="4683760"/>
            <a:chOff x="6398578" y="1381760"/>
            <a:chExt cx="4777422" cy="4683760"/>
          </a:xfrm>
        </p:grpSpPr>
        <p:pic>
          <p:nvPicPr>
            <p:cNvPr id="260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8578" y="1381760"/>
              <a:ext cx="4777422" cy="468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a:xfrm>
              <a:off x="6664960" y="1859280"/>
              <a:ext cx="4389120" cy="3454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Derive : public Base&lt;double&gt;  </a:t>
              </a:r>
              <a:endParaRPr lang="en-US"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double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num;</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Derive(double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a, double b, double </a:t>
              </a:r>
              <a:endParaRPr lang="en-US"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c</a:t>
              </a:r>
              <a:r>
                <a:rPr lang="x-none" altLang="zh-CN" sz="1800" dirty="0">
                  <a:solidFill>
                    <a:schemeClr val="bg1">
                      <a:lumMod val="50000"/>
                    </a:schemeClr>
                  </a:solidFill>
                  <a:latin typeface="微软雅黑" pitchFamily="34" charset="-122"/>
                  <a:ea typeface="微软雅黑" pitchFamily="34" charset="-122"/>
                  <a:cs typeface="Times New Roman" pitchFamily="18" charset="0"/>
                </a:rPr>
                <a:t>) :num(c), Base&lt;double&gt;(a, 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63977398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randombar(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2133600" y="1497806"/>
            <a:ext cx="5313680" cy="3423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类模板</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Base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派生</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出了普通</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Derive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其实在这个派生过程中类模板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先实例化出了一个</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类型的具体类，然后由这个具体类派生出</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a:t>
            </a:r>
            <a:r>
              <a:rPr lang="en-US" altLang="zh-CN" sz="2400" dirty="0">
                <a:solidFill>
                  <a:schemeClr val="bg1">
                    <a:lumMod val="50000"/>
                  </a:schemeClr>
                </a:solidFill>
                <a:latin typeface="微软雅黑" pitchFamily="34" charset="-122"/>
                <a:ea typeface="微软雅黑" pitchFamily="34" charset="-122"/>
                <a:cs typeface="Times New Roman" pitchFamily="18" charset="0"/>
              </a:rPr>
              <a:t>Derive </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因此在派生过程中需要指定模板形参类型，根据这个派生关系可以从类模板创建具体的类。</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61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6050" y="2233295"/>
            <a:ext cx="2652713" cy="334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7575658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61122"/>
                                        </p:tgtEl>
                                        <p:attrNameLst>
                                          <p:attrName>style.visibility</p:attrName>
                                        </p:attrNameLst>
                                      </p:cBhvr>
                                      <p:to>
                                        <p:strVal val="visible"/>
                                      </p:to>
                                    </p:set>
                                    <p:animEffect transition="in" filter="fade">
                                      <p:cBhvr>
                                        <p:cTn id="7" dur="1000"/>
                                        <p:tgtEl>
                                          <p:spTgt spid="261122"/>
                                        </p:tgtEl>
                                      </p:cBhvr>
                                    </p:animEffect>
                                    <p:anim calcmode="lin" valueType="num">
                                      <p:cBhvr>
                                        <p:cTn id="8" dur="1000" fill="hold"/>
                                        <p:tgtEl>
                                          <p:spTgt spid="261122"/>
                                        </p:tgtEl>
                                        <p:attrNameLst>
                                          <p:attrName>ppt_x</p:attrName>
                                        </p:attrNameLst>
                                      </p:cBhvr>
                                      <p:tavLst>
                                        <p:tav tm="0">
                                          <p:val>
                                            <p:strVal val="#ppt_x"/>
                                          </p:val>
                                        </p:tav>
                                        <p:tav tm="100000">
                                          <p:val>
                                            <p:strVal val="#ppt_x"/>
                                          </p:val>
                                        </p:tav>
                                      </p:tavLst>
                                    </p:anim>
                                    <p:anim calcmode="lin" valueType="num">
                                      <p:cBhvr>
                                        <p:cTn id="9" dur="1000" fill="hold"/>
                                        <p:tgtEl>
                                          <p:spTgt spid="26112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2463798" y="1772126"/>
            <a:ext cx="4307840" cy="24950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类</a:t>
            </a:r>
            <a:r>
              <a:rPr lang="zh-CN" altLang="zh-CN" sz="2400" dirty="0">
                <a:solidFill>
                  <a:srgbClr val="FF0000"/>
                </a:solidFill>
                <a:latin typeface="微软雅黑" pitchFamily="34" charset="-122"/>
                <a:ea typeface="微软雅黑" pitchFamily="34" charset="-122"/>
                <a:cs typeface="Times New Roman" pitchFamily="18" charset="0"/>
              </a:rPr>
              <a:t>模板派生类模板</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从类模板派生出一个新的类模板，它和普通类之间的派生几乎完全</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相同。</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62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7750" y="1629886"/>
            <a:ext cx="2693710" cy="3877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991530786"/>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6" presetClass="entr" presetSubtype="16" fill="hold" nodeType="withEffect">
                                  <p:stCondLst>
                                    <p:cond delay="0"/>
                                  </p:stCondLst>
                                  <p:childTnLst>
                                    <p:set>
                                      <p:cBhvr>
                                        <p:cTn id="9" dur="1" fill="hold">
                                          <p:stCondLst>
                                            <p:cond delay="0"/>
                                          </p:stCondLst>
                                        </p:cTn>
                                        <p:tgtEl>
                                          <p:spTgt spid="262146"/>
                                        </p:tgtEl>
                                        <p:attrNameLst>
                                          <p:attrName>style.visibility</p:attrName>
                                        </p:attrNameLst>
                                      </p:cBhvr>
                                      <p:to>
                                        <p:strVal val="visible"/>
                                      </p:to>
                                    </p:set>
                                    <p:animEffect transition="in" filter="circle(in)">
                                      <p:cBhvr>
                                        <p:cTn id="10" dur="2000"/>
                                        <p:tgtEl>
                                          <p:spTgt spid="262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642745" y="1436846"/>
            <a:ext cx="4402455" cy="4313714"/>
            <a:chOff x="1642745" y="1436846"/>
            <a:chExt cx="4402455" cy="4313714"/>
          </a:xfrm>
        </p:grpSpPr>
        <p:pic>
          <p:nvPicPr>
            <p:cNvPr id="2631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2745" y="1436846"/>
              <a:ext cx="4402455" cy="4313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内容占位符 2"/>
            <p:cNvSpPr txBox="1">
              <a:spLocks/>
            </p:cNvSpPr>
            <p:nvPr/>
          </p:nvSpPr>
          <p:spPr>
            <a:xfrm>
              <a:off x="1910080" y="1640046"/>
              <a:ext cx="4043680" cy="390731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public</a:t>
              </a: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_a;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n):_a(n)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get()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const { return _a;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grpSp>
        <p:nvGrpSpPr>
          <p:cNvPr id="6" name="组合 5"/>
          <p:cNvGrpSpPr/>
          <p:nvPr/>
        </p:nvGrpSpPr>
        <p:grpSpPr>
          <a:xfrm>
            <a:off x="6522721" y="1436846"/>
            <a:ext cx="4582160" cy="4313714"/>
            <a:chOff x="6522721" y="1436846"/>
            <a:chExt cx="4582160" cy="4313714"/>
          </a:xfrm>
        </p:grpSpPr>
        <p:pic>
          <p:nvPicPr>
            <p:cNvPr id="263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2721" y="1436846"/>
              <a:ext cx="4582160" cy="4313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6664959" y="1447006"/>
              <a:ext cx="4439921" cy="42019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 class U&gt;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Derive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 public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&lt;U&gt;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public</a:t>
              </a: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U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_b;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Derive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t, U u)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&lt;T</a:t>
              </a:r>
              <a:r>
                <a:rPr lang="x-none" altLang="zh-CN" sz="1800" dirty="0">
                  <a:solidFill>
                    <a:schemeClr val="bg1">
                      <a:lumMod val="50000"/>
                    </a:schemeClr>
                  </a:solidFill>
                  <a:latin typeface="微软雅黑" pitchFamily="34" charset="-122"/>
                  <a:ea typeface="微软雅黑" pitchFamily="34" charset="-122"/>
                  <a:cs typeface="Times New Roman" pitchFamily="18" charset="0"/>
                </a:rPr>
                <a:t>&gt;(t), _b(u)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U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sum()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const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 return _b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U(</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::get ()); }</a:t>
              </a:r>
              <a:endParaRPr lang="zh-CN" altLang="zh-CN" sz="1800" dirty="0" smtClean="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788064544"/>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5958838" y="1873726"/>
            <a:ext cx="4953002" cy="30335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类模板</a:t>
            </a:r>
            <a:r>
              <a:rPr lang="en-US" altLang="zh-CN" sz="2400" dirty="0" smtClean="0">
                <a:solidFill>
                  <a:schemeClr val="bg1">
                    <a:lumMod val="50000"/>
                  </a:schemeClr>
                </a:solidFill>
                <a:latin typeface="微软雅黑" pitchFamily="34" charset="-122"/>
                <a:ea typeface="微软雅黑" pitchFamily="34" charset="-122"/>
                <a:cs typeface="Times New Roman" pitchFamily="18" charset="0"/>
              </a:rPr>
              <a:t>Derive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由</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派生而得出</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 Derive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的</a:t>
            </a:r>
            <a:r>
              <a:rPr lang="zh-CN" altLang="zh-CN" sz="2400" dirty="0">
                <a:solidFill>
                  <a:schemeClr val="bg1">
                    <a:lumMod val="50000"/>
                  </a:schemeClr>
                </a:solidFill>
                <a:latin typeface="微软雅黑" pitchFamily="34" charset="-122"/>
                <a:ea typeface="微软雅黑" pitchFamily="34" charset="-122"/>
                <a:cs typeface="Times New Roman" pitchFamily="18" charset="0"/>
              </a:rPr>
              <a:t>成员变量和成员函数类型仍由类模板参数</a:t>
            </a:r>
            <a:r>
              <a:rPr lang="en-US" altLang="zh-CN" sz="2400" dirty="0">
                <a:solidFill>
                  <a:schemeClr val="bg1">
                    <a:lumMod val="50000"/>
                  </a:schemeClr>
                </a:solidFill>
                <a:latin typeface="微软雅黑" pitchFamily="34" charset="-122"/>
                <a:ea typeface="微软雅黑" pitchFamily="34" charset="-122"/>
                <a:cs typeface="Times New Roman" pitchFamily="18" charset="0"/>
              </a:rPr>
              <a:t>U</a:t>
            </a:r>
            <a:r>
              <a:rPr lang="zh-CN" altLang="zh-CN" sz="2400" dirty="0">
                <a:solidFill>
                  <a:schemeClr val="bg1">
                    <a:lumMod val="50000"/>
                  </a:schemeClr>
                </a:solidFill>
                <a:latin typeface="微软雅黑" pitchFamily="34" charset="-122"/>
                <a:ea typeface="微软雅黑" pitchFamily="34" charset="-122"/>
                <a:cs typeface="Times New Roman" pitchFamily="18" charset="0"/>
              </a:rPr>
              <a:t>确定，</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因此</a:t>
            </a:r>
            <a:r>
              <a:rPr lang="en-US" altLang="zh-CN" sz="2400" dirty="0">
                <a:solidFill>
                  <a:schemeClr val="bg1">
                    <a:lumMod val="50000"/>
                  </a:schemeClr>
                </a:solidFill>
                <a:latin typeface="微软雅黑" pitchFamily="34" charset="-122"/>
                <a:ea typeface="微软雅黑" pitchFamily="34" charset="-122"/>
                <a:cs typeface="Times New Roman" pitchFamily="18" charset="0"/>
              </a:rPr>
              <a:t>Derive</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仍然</a:t>
            </a:r>
            <a:r>
              <a:rPr lang="zh-CN" altLang="zh-CN" sz="2400" dirty="0">
                <a:solidFill>
                  <a:schemeClr val="bg1">
                    <a:lumMod val="50000"/>
                  </a:schemeClr>
                </a:solidFill>
                <a:latin typeface="微软雅黑" pitchFamily="34" charset="-122"/>
                <a:ea typeface="微软雅黑" pitchFamily="34" charset="-122"/>
                <a:cs typeface="Times New Roman" pitchFamily="18" charset="0"/>
              </a:rPr>
              <a:t>是一个模板。类模板派生类模板技术可以用来构建类模板的层次结构。</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64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191" y="1463359"/>
            <a:ext cx="3336704" cy="4216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944179661"/>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64195"/>
                                        </p:tgtEl>
                                        <p:attrNameLst>
                                          <p:attrName>style.visibility</p:attrName>
                                        </p:attrNameLst>
                                      </p:cBhvr>
                                      <p:to>
                                        <p:strVal val="visible"/>
                                      </p:to>
                                    </p:set>
                                    <p:animEffect transition="in" filter="wipe(up)">
                                      <p:cBhvr>
                                        <p:cTn id="7" dur="500"/>
                                        <p:tgtEl>
                                          <p:spTgt spid="26419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5664198" y="1619726"/>
            <a:ext cx="5593082" cy="36228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3</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普通</a:t>
            </a:r>
            <a:r>
              <a:rPr lang="zh-CN" altLang="zh-CN" sz="2400" dirty="0">
                <a:solidFill>
                  <a:srgbClr val="FF0000"/>
                </a:solidFill>
                <a:latin typeface="微软雅黑" pitchFamily="34" charset="-122"/>
                <a:ea typeface="微软雅黑" pitchFamily="34" charset="-122"/>
                <a:cs typeface="Times New Roman" pitchFamily="18" charset="0"/>
              </a:rPr>
              <a:t>类派生类模板</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普通类派生类模板可以把现存类库中的类转换为通用的类</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模板</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利用这种技术，程序员能够从现存类中创建类模板，由此可以创建基于非类模板库的类</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模板</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但</a:t>
            </a:r>
            <a:r>
              <a:rPr lang="zh-CN" altLang="zh-CN" sz="2400" dirty="0">
                <a:solidFill>
                  <a:schemeClr val="bg1">
                    <a:lumMod val="50000"/>
                  </a:schemeClr>
                </a:solidFill>
                <a:latin typeface="微软雅黑" pitchFamily="34" charset="-122"/>
                <a:ea typeface="微软雅黑" pitchFamily="34" charset="-122"/>
                <a:cs typeface="Times New Roman" pitchFamily="18" charset="0"/>
              </a:rPr>
              <a:t>这需要对技术非常</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了解</a:t>
            </a: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65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0407" y="1711166"/>
            <a:ext cx="3891871" cy="3226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767830080"/>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65218"/>
                                        </p:tgtEl>
                                        <p:attrNameLst>
                                          <p:attrName>style.visibility</p:attrName>
                                        </p:attrNameLst>
                                      </p:cBhvr>
                                      <p:to>
                                        <p:strVal val="visible"/>
                                      </p:to>
                                    </p:set>
                                    <p:animEffect transition="in" filter="fade">
                                      <p:cBhvr>
                                        <p:cTn id="7" dur="1000"/>
                                        <p:tgtEl>
                                          <p:spTgt spid="265218"/>
                                        </p:tgtEl>
                                      </p:cBhvr>
                                    </p:animEffect>
                                    <p:anim calcmode="lin" valueType="num">
                                      <p:cBhvr>
                                        <p:cTn id="8" dur="1000" fill="hold"/>
                                        <p:tgtEl>
                                          <p:spTgt spid="265218"/>
                                        </p:tgtEl>
                                        <p:attrNameLst>
                                          <p:attrName>ppt_x</p:attrName>
                                        </p:attrNameLst>
                                      </p:cBhvr>
                                      <p:tavLst>
                                        <p:tav tm="0">
                                          <p:val>
                                            <p:strVal val="#ppt_x"/>
                                          </p:val>
                                        </p:tav>
                                        <p:tav tm="100000">
                                          <p:val>
                                            <p:strVal val="#ppt_x"/>
                                          </p:val>
                                        </p:tav>
                                      </p:tavLst>
                                    </p:anim>
                                    <p:anim calcmode="lin" valueType="num">
                                      <p:cBhvr>
                                        <p:cTn id="9" dur="1000" fill="hold"/>
                                        <p:tgtEl>
                                          <p:spTgt spid="26521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wipe(up)">
                                      <p:cBhvr>
                                        <p:cTn id="1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6.3.2 </a:t>
            </a:r>
            <a:r>
              <a:rPr lang="zh-CN" altLang="en-US" sz="3200" b="1" dirty="0" smtClean="0">
                <a:solidFill>
                  <a:srgbClr val="1353A2"/>
                </a:solidFill>
                <a:latin typeface="微软雅黑" pitchFamily="34" charset="-122"/>
                <a:ea typeface="微软雅黑" pitchFamily="34" charset="-122"/>
              </a:rPr>
              <a:t>类模板的派生</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314893" y="1243806"/>
            <a:ext cx="8911907" cy="5085874"/>
            <a:chOff x="2060893" y="1253966"/>
            <a:chExt cx="8911907" cy="5085874"/>
          </a:xfrm>
        </p:grpSpPr>
        <p:pic>
          <p:nvPicPr>
            <p:cNvPr id="26624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93" y="1253966"/>
              <a:ext cx="8911907" cy="5085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2697478" y="1284446"/>
              <a:ext cx="8061962" cy="457787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int _a;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(int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n) :_a(n){}</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int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get()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const {return _a;}</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template&lt;class 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Derive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 public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	T _b;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Deirve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(int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n, T t</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Base</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(n</a:t>
              </a:r>
              <a:r>
                <a:rPr lang="x-none" altLang="zh-CN" sz="1800" dirty="0">
                  <a:solidFill>
                    <a:schemeClr val="bg1">
                      <a:lumMod val="50000"/>
                    </a:schemeClr>
                  </a:solidFill>
                  <a:latin typeface="微软雅黑" pitchFamily="34" charset="-122"/>
                  <a:ea typeface="微软雅黑" pitchFamily="34" charset="-122"/>
                  <a:cs typeface="Times New Roman" pitchFamily="18" charset="0"/>
                </a:rPr>
                <a:t>), _b(t</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 </a:t>
              </a:r>
              <a:r>
                <a:rPr lang="x-none" altLang="zh-CN" sz="1800" dirty="0">
                  <a:solidFill>
                    <a:schemeClr val="bg1">
                      <a:lumMod val="50000"/>
                    </a:schemeClr>
                  </a:solidFill>
                  <a:latin typeface="微软雅黑" pitchFamily="34" charset="-122"/>
                  <a:ea typeface="微软雅黑" pitchFamily="34" charset="-122"/>
                  <a:cs typeface="Times New Roman" pitchFamily="18" charset="0"/>
                </a:rPr>
                <a:t>sum() const {return _b + (</a:t>
              </a:r>
              <a:r>
                <a:rPr lang="x-none" altLang="zh-CN" sz="1800" dirty="0" smtClean="0">
                  <a:solidFill>
                    <a:schemeClr val="bg1">
                      <a:lumMod val="50000"/>
                    </a:schemeClr>
                  </a:solidFill>
                  <a:latin typeface="微软雅黑" pitchFamily="34" charset="-122"/>
                  <a:ea typeface="微软雅黑" pitchFamily="34" charset="-122"/>
                  <a:cs typeface="Times New Roman" pitchFamily="18" charset="0"/>
                </a:rPr>
                <a:t>T)get();}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en-US"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7427710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706880" y="1294606"/>
            <a:ext cx="4541520" cy="48115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非</a:t>
            </a:r>
            <a:r>
              <a:rPr lang="zh-CN" altLang="zh-CN" sz="2400" dirty="0">
                <a:solidFill>
                  <a:srgbClr val="FF0000"/>
                </a:solidFill>
                <a:latin typeface="微软雅黑" pitchFamily="34" charset="-122"/>
                <a:ea typeface="微软雅黑" pitchFamily="34" charset="-122"/>
                <a:cs typeface="Times New Roman" pitchFamily="18" charset="0"/>
              </a:rPr>
              <a:t>模板友元函数</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非</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模板友元就是在类模板中声明普通的友元函数，例如，在一个类模板中声明一个友元</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函数：</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 &lt;class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 _t;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friend void func();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sp>
        <p:nvSpPr>
          <p:cNvPr id="8" name="内容占位符 2"/>
          <p:cNvSpPr txBox="1">
            <a:spLocks/>
          </p:cNvSpPr>
          <p:nvPr/>
        </p:nvSpPr>
        <p:spPr>
          <a:xfrm>
            <a:off x="6847840" y="1431766"/>
            <a:ext cx="4439920" cy="463375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中声明了一个普通的友元函数</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，则</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函数是类模板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所有实例的友元函数，它可以访问全局对象，也可以使用全局指针访问非全局对象；可以创建自己的对象，也可以访问独立于对象的模板的静态数据成员。</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14722610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971040" y="1355566"/>
            <a:ext cx="4541520" cy="459819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也</a:t>
            </a:r>
            <a:r>
              <a:rPr lang="zh-CN" altLang="zh-CN" sz="2400" dirty="0">
                <a:solidFill>
                  <a:schemeClr val="bg1">
                    <a:lumMod val="50000"/>
                  </a:schemeClr>
                </a:solidFill>
                <a:latin typeface="微软雅黑" pitchFamily="34" charset="-122"/>
                <a:ea typeface="微软雅黑" pitchFamily="34" charset="-122"/>
                <a:cs typeface="Times New Roman" pitchFamily="18" charset="0"/>
              </a:rPr>
              <a:t>可以为类模板的友元函数提供模板类参数，示例代码如下：</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 &lt;class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 _t;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friend void show(const A&lt;T&gt;&amp; 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p:txBody>
      </p:sp>
      <p:pic>
        <p:nvPicPr>
          <p:cNvPr id="26726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58205" y="1959927"/>
            <a:ext cx="4137161" cy="2744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04850182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par>
                                <p:cTn id="8" presetID="42" presetClass="entr" presetSubtype="0" fill="hold" nodeType="withEffect">
                                  <p:stCondLst>
                                    <p:cond delay="0"/>
                                  </p:stCondLst>
                                  <p:childTnLst>
                                    <p:set>
                                      <p:cBhvr>
                                        <p:cTn id="9" dur="1" fill="hold">
                                          <p:stCondLst>
                                            <p:cond delay="0"/>
                                          </p:stCondLst>
                                        </p:cTn>
                                        <p:tgtEl>
                                          <p:spTgt spid="267266"/>
                                        </p:tgtEl>
                                        <p:attrNameLst>
                                          <p:attrName>style.visibility</p:attrName>
                                        </p:attrNameLst>
                                      </p:cBhvr>
                                      <p:to>
                                        <p:strVal val="visible"/>
                                      </p:to>
                                    </p:set>
                                    <p:animEffect transition="in" filter="fade">
                                      <p:cBhvr>
                                        <p:cTn id="10" dur="1000"/>
                                        <p:tgtEl>
                                          <p:spTgt spid="267266"/>
                                        </p:tgtEl>
                                      </p:cBhvr>
                                    </p:animEffect>
                                    <p:anim calcmode="lin" valueType="num">
                                      <p:cBhvr>
                                        <p:cTn id="11" dur="1000" fill="hold"/>
                                        <p:tgtEl>
                                          <p:spTgt spid="267266"/>
                                        </p:tgtEl>
                                        <p:attrNameLst>
                                          <p:attrName>ppt_x</p:attrName>
                                        </p:attrNameLst>
                                      </p:cBhvr>
                                      <p:tavLst>
                                        <p:tav tm="0">
                                          <p:val>
                                            <p:strVal val="#ppt_x"/>
                                          </p:val>
                                        </p:tav>
                                        <p:tav tm="100000">
                                          <p:val>
                                            <p:strVal val="#ppt_x"/>
                                          </p:val>
                                        </p:tav>
                                      </p:tavLst>
                                    </p:anim>
                                    <p:anim calcmode="lin" valueType="num">
                                      <p:cBhvr>
                                        <p:cTn id="12" dur="1000" fill="hold"/>
                                        <p:tgtEl>
                                          <p:spTgt spid="26726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483360" y="1487646"/>
            <a:ext cx="9926320" cy="41308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上述代码中，</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函数并不是模板函数，而只是使用一个模板作参数，这就要求在使用友元函数时必须要显式具体化，指明友元函数要引用的参数的类型，例如：</a:t>
            </a: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void show(const A&lt;int&gt;&amp; a);</a:t>
            </a:r>
            <a:endParaRPr lang="zh-CN" altLang="zh-CN" sz="24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void show(const A&lt;double&gt;&amp; a);</a:t>
            </a:r>
            <a:endParaRPr lang="zh-CN" altLang="zh-CN" sz="24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也就是说</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模板形参为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函数是</a:t>
            </a:r>
            <a:r>
              <a:rPr lang="en-US" altLang="zh-CN" sz="2400" dirty="0">
                <a:solidFill>
                  <a:schemeClr val="bg1">
                    <a:lumMod val="50000"/>
                  </a:schemeClr>
                </a:solidFill>
                <a:latin typeface="微软雅黑" pitchFamily="34" charset="-122"/>
                <a:ea typeface="微软雅黑" pitchFamily="34" charset="-122"/>
                <a:cs typeface="Times New Roman" pitchFamily="18" charset="0"/>
              </a:rPr>
              <a:t>A&lt;</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类的友元函数，模板形参为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函数是</a:t>
            </a:r>
            <a:r>
              <a:rPr lang="en-US" altLang="zh-CN" sz="2400" dirty="0">
                <a:solidFill>
                  <a:schemeClr val="bg1">
                    <a:lumMod val="50000"/>
                  </a:schemeClr>
                </a:solidFill>
                <a:latin typeface="微软雅黑" pitchFamily="34" charset="-122"/>
                <a:ea typeface="微软雅黑" pitchFamily="34" charset="-122"/>
                <a:cs typeface="Times New Roman" pitchFamily="18" charset="0"/>
              </a:rPr>
              <a:t>A&lt;double&gt;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类的友元函数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191797620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407920" y="1391920"/>
            <a:ext cx="8412480" cy="4766284"/>
            <a:chOff x="2407920" y="1391920"/>
            <a:chExt cx="8412480" cy="4766284"/>
          </a:xfrm>
        </p:grpSpPr>
        <p:pic>
          <p:nvPicPr>
            <p:cNvPr id="2682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07920" y="1391920"/>
              <a:ext cx="8412480" cy="4766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3048000" y="1513840"/>
              <a:ext cx="7426960" cy="436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6-5   friendTemplate.cpp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 _item;</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static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_count;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静态变量</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T&amp; t) :_item(t){ _count++;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 _count--;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friend void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无参友元函数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friend void show(</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A&lt;T&gt;&amp; a); 	//</a:t>
              </a:r>
              <a:r>
                <a:rPr lang="zh-CN" altLang="zh-CN" sz="1800" dirty="0">
                  <a:solidFill>
                    <a:schemeClr val="bg1">
                      <a:lumMod val="50000"/>
                    </a:schemeClr>
                  </a:solidFill>
                  <a:latin typeface="微软雅黑" pitchFamily="34" charset="-122"/>
                  <a:ea typeface="微软雅黑" pitchFamily="34" charset="-122"/>
                  <a:cs typeface="Times New Roman" pitchFamily="18" charset="0"/>
                </a:rPr>
                <a:t>有参友元函数</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68156491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910080" y="1391920"/>
            <a:ext cx="9296400" cy="4663440"/>
            <a:chOff x="1910080" y="1391920"/>
            <a:chExt cx="9296400" cy="4663440"/>
          </a:xfrm>
        </p:grpSpPr>
        <p:pic>
          <p:nvPicPr>
            <p:cNvPr id="2693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0080" y="1391920"/>
              <a:ext cx="9296400" cy="46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2423158" y="1564640"/>
              <a:ext cx="8402320" cy="42570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A&lt;T&gt;::_count = 0;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初始化静态变量</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函数实现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count:"&lt;&lt;A&lt;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&gt;::_count&lt;&lt;";";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&lt;&lt;"double count:"&lt;&lt;A&lt;double&gt;::_count&lt;&lt;";"&lt;&lt;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模板形参为</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show(</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&gt;&amp; a){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a._item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show(</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A&lt;double&gt;&amp; a){</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&lt;&lt;"double:"&lt;&lt;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a._item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2948902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模板类与友元函数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352038" y="1493520"/>
            <a:ext cx="8244842" cy="4114799"/>
            <a:chOff x="2311398" y="1493520"/>
            <a:chExt cx="8244842" cy="4114799"/>
          </a:xfrm>
        </p:grpSpPr>
        <p:pic>
          <p:nvPicPr>
            <p:cNvPr id="2703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493520"/>
              <a:ext cx="8244842" cy="4114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3393440" y="1666240"/>
              <a:ext cx="6502400" cy="3759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调用无参友元函数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a(10);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创建</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类型对象</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A&lt;double&gt; b(1.2);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show(a);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调用有参数的友元函数</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show(b);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p>
          </p:txBody>
        </p:sp>
      </p:grpSp>
    </p:spTree>
    <p:custDataLst>
      <p:tags r:id="rId1"/>
    </p:custDataLst>
    <p:extLst>
      <p:ext uri="{BB962C8B-B14F-4D97-AF65-F5344CB8AC3E}">
        <p14:creationId xmlns:p14="http://schemas.microsoft.com/office/powerpoint/2010/main" val="3294890235"/>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a:solidFill>
                  <a:srgbClr val="1353A2"/>
                </a:solidFill>
                <a:latin typeface="微软雅黑" pitchFamily="34" charset="-122"/>
                <a:ea typeface="微软雅黑" pitchFamily="34" charset="-122"/>
              </a:rPr>
              <a:t>类</a:t>
            </a:r>
            <a:r>
              <a:rPr lang="zh-CN" altLang="en-US" sz="3200" b="1" dirty="0" smtClean="0">
                <a:solidFill>
                  <a:srgbClr val="1353A2"/>
                </a:solidFill>
                <a:latin typeface="微软雅黑" pitchFamily="34" charset="-122"/>
                <a:ea typeface="微软雅黑" pitchFamily="34" charset="-122"/>
              </a:rPr>
              <a:t>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920240" y="1701006"/>
            <a:ext cx="9377680" cy="355171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a:t>
            </a:r>
            <a:r>
              <a:rPr lang="zh-CN" altLang="en-US" sz="2400" dirty="0">
                <a:solidFill>
                  <a:schemeClr val="bg1">
                    <a:lumMod val="50000"/>
                  </a:schemeClr>
                </a:solidFill>
                <a:latin typeface="微软雅黑" pitchFamily="34" charset="-122"/>
                <a:ea typeface="微软雅黑" pitchFamily="34" charset="-122"/>
                <a:cs typeface="Times New Roman" pitchFamily="18" charset="0"/>
              </a:rPr>
              <a:t>代码中，</a:t>
            </a:r>
            <a:r>
              <a:rPr lang="zh-CN" altLang="zh-CN" sz="2400" dirty="0">
                <a:solidFill>
                  <a:schemeClr val="bg1">
                    <a:lumMod val="50000"/>
                  </a:schemeClr>
                </a:solidFill>
                <a:latin typeface="微软雅黑" pitchFamily="34" charset="-122"/>
                <a:ea typeface="微软雅黑" pitchFamily="34" charset="-122"/>
                <a:cs typeface="Times New Roman" pitchFamily="18" charset="0"/>
              </a:rPr>
              <a:t>第一次调用</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函数时，</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类型的类对象与</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类型的类对象都为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0</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个，因此</a:t>
            </a:r>
            <a:r>
              <a:rPr lang="en-US" altLang="zh-CN" sz="2400" dirty="0">
                <a:solidFill>
                  <a:schemeClr val="bg1">
                    <a:lumMod val="50000"/>
                  </a:schemeClr>
                </a:solidFill>
                <a:latin typeface="微软雅黑" pitchFamily="34" charset="-122"/>
                <a:ea typeface="微软雅黑" pitchFamily="34" charset="-122"/>
                <a:cs typeface="Times New Roman" pitchFamily="18" charset="0"/>
              </a:rPr>
              <a:t>count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值均为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0</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a:solidFill>
                  <a:schemeClr val="bg1">
                    <a:lumMod val="50000"/>
                  </a:schemeClr>
                </a:solidFill>
                <a:latin typeface="微软雅黑" pitchFamily="34" charset="-122"/>
                <a:ea typeface="微软雅黑" pitchFamily="34" charset="-122"/>
                <a:cs typeface="Times New Roman" pitchFamily="18" charset="0"/>
              </a:rPr>
              <a:t>再次</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创建一个</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类型的类对象</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，则再调用</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类型的对象个数为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1</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类型的对象个数仍为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0</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en-US" sz="2400" dirty="0">
                <a:solidFill>
                  <a:schemeClr val="bg1">
                    <a:lumMod val="50000"/>
                  </a:schemeClr>
                </a:solidFill>
                <a:latin typeface="微软雅黑" pitchFamily="34" charset="-122"/>
                <a:ea typeface="微软雅黑" pitchFamily="34" charset="-122"/>
                <a:cs typeface="Times New Roman" pitchFamily="18" charset="0"/>
              </a:rPr>
              <a:t>再次</a:t>
            </a:r>
            <a:r>
              <a:rPr lang="zh-CN" altLang="zh-CN" sz="2400" dirty="0">
                <a:solidFill>
                  <a:schemeClr val="bg1">
                    <a:lumMod val="50000"/>
                  </a:schemeClr>
                </a:solidFill>
                <a:latin typeface="微软雅黑" pitchFamily="34" charset="-122"/>
                <a:ea typeface="微软雅黑" pitchFamily="34" charset="-122"/>
                <a:cs typeface="Times New Roman" pitchFamily="18" charset="0"/>
              </a:rPr>
              <a:t>创建一个</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类型的对象</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a:solidFill>
                  <a:schemeClr val="bg1">
                    <a:lumMod val="50000"/>
                  </a:schemeClr>
                </a:solidFill>
                <a:latin typeface="微软雅黑" pitchFamily="34" charset="-122"/>
                <a:ea typeface="微软雅黑" pitchFamily="34" charset="-122"/>
                <a:cs typeface="Times New Roman" pitchFamily="18" charset="0"/>
              </a:rPr>
              <a:t>并且</a:t>
            </a:r>
            <a:r>
              <a:rPr lang="zh-CN" altLang="zh-CN" sz="2400" dirty="0">
                <a:solidFill>
                  <a:schemeClr val="bg1">
                    <a:lumMod val="50000"/>
                  </a:schemeClr>
                </a:solidFill>
                <a:latin typeface="微软雅黑" pitchFamily="34" charset="-122"/>
                <a:ea typeface="微软雅黑" pitchFamily="34" charset="-122"/>
                <a:cs typeface="Times New Roman" pitchFamily="18" charset="0"/>
              </a:rPr>
              <a:t>以</a:t>
            </a:r>
            <a:r>
              <a:rPr lang="en-US" altLang="zh-CN" sz="2400" dirty="0">
                <a:solidFill>
                  <a:schemeClr val="bg1">
                    <a:lumMod val="50000"/>
                  </a:schemeClr>
                </a:solidFill>
                <a:latin typeface="微软雅黑" pitchFamily="34" charset="-122"/>
                <a:ea typeface="微软雅黑" pitchFamily="34" charset="-122"/>
                <a:cs typeface="Times New Roman" pitchFamily="18" charset="0"/>
              </a:rPr>
              <a:t>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b</a:t>
            </a:r>
            <a:r>
              <a:rPr lang="zh-CN" altLang="zh-CN" sz="2400" dirty="0">
                <a:solidFill>
                  <a:schemeClr val="bg1">
                    <a:lumMod val="50000"/>
                  </a:schemeClr>
                </a:solidFill>
                <a:latin typeface="微软雅黑" pitchFamily="34" charset="-122"/>
                <a:ea typeface="微软雅黑" pitchFamily="34" charset="-122"/>
                <a:cs typeface="Times New Roman" pitchFamily="18" charset="0"/>
              </a:rPr>
              <a:t>作为参数调用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函数，则分别输出了</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与</a:t>
            </a:r>
            <a:r>
              <a:rPr lang="en-US" altLang="zh-CN" sz="2400" dirty="0">
                <a:solidFill>
                  <a:schemeClr val="bg1">
                    <a:lumMod val="50000"/>
                  </a:schemeClr>
                </a:solidFill>
                <a:latin typeface="微软雅黑" pitchFamily="34" charset="-122"/>
                <a:ea typeface="微软雅黑" pitchFamily="34" charset="-122"/>
                <a:cs typeface="Times New Roman" pitchFamily="18" charset="0"/>
              </a:rPr>
              <a:t>double</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类型的数据</a:t>
            </a:r>
            <a:r>
              <a:rPr lang="en-US" altLang="zh-CN" sz="2400" dirty="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1.2</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262240992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6177280" y="2066766"/>
            <a:ext cx="4257040" cy="2606834"/>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调用有模板形参的友元函数时，要对友元函数显式具体化，它们是各自相同类型的对象的友元函数。</a:t>
            </a:r>
            <a:endParaRPr lang="en-US" altLang="zh-CN" sz="2400" dirty="0">
              <a:solidFill>
                <a:schemeClr val="bg1">
                  <a:lumMod val="50000"/>
                </a:schemeClr>
              </a:solidFill>
              <a:latin typeface="微软雅黑" pitchFamily="34" charset="-122"/>
              <a:ea typeface="微软雅黑" pitchFamily="34" charset="-122"/>
              <a:cs typeface="Times New Roman" pitchFamily="18" charset="0"/>
            </a:endParaRPr>
          </a:p>
        </p:txBody>
      </p:sp>
      <p:grpSp>
        <p:nvGrpSpPr>
          <p:cNvPr id="7" name="组合 6"/>
          <p:cNvGrpSpPr/>
          <p:nvPr/>
        </p:nvGrpSpPr>
        <p:grpSpPr>
          <a:xfrm>
            <a:off x="2514600" y="1605875"/>
            <a:ext cx="2834640" cy="3676730"/>
            <a:chOff x="2311398" y="1676344"/>
            <a:chExt cx="2834640" cy="3676730"/>
          </a:xfrm>
        </p:grpSpPr>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398" y="1676344"/>
              <a:ext cx="2834640" cy="36767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941318" y="2734203"/>
              <a:ext cx="1762762" cy="647773"/>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800" b="1" dirty="0">
                  <a:solidFill>
                    <a:srgbClr val="FF0000"/>
                  </a:solidFill>
                  <a:latin typeface="微软雅黑" pitchFamily="34" charset="-122"/>
                  <a:ea typeface="微软雅黑" pitchFamily="34" charset="-122"/>
                  <a:cs typeface="Times New Roman" pitchFamily="18" charset="0"/>
                </a:rPr>
                <a:t>注</a:t>
              </a:r>
              <a:r>
                <a:rPr lang="zh-CN" altLang="en-US" sz="2800" b="1" dirty="0" smtClean="0">
                  <a:solidFill>
                    <a:srgbClr val="FF0000"/>
                  </a:solidFill>
                  <a:latin typeface="微软雅黑" pitchFamily="34" charset="-122"/>
                  <a:ea typeface="微软雅黑" pitchFamily="34" charset="-122"/>
                  <a:cs typeface="Times New Roman" pitchFamily="18" charset="0"/>
                </a:rPr>
                <a:t>      </a:t>
              </a:r>
              <a:r>
                <a:rPr lang="zh-CN" altLang="en-US" sz="2800" b="1" dirty="0">
                  <a:solidFill>
                    <a:srgbClr val="FF0000"/>
                  </a:solidFill>
                  <a:latin typeface="微软雅黑" pitchFamily="34" charset="-122"/>
                  <a:ea typeface="微软雅黑" pitchFamily="34" charset="-122"/>
                  <a:cs typeface="Times New Roman" pitchFamily="18" charset="0"/>
                </a:rPr>
                <a:t>意</a:t>
              </a:r>
              <a:endParaRPr lang="en-US" altLang="zh-CN" sz="2800" b="1" dirty="0">
                <a:solidFill>
                  <a:srgbClr val="FF0000"/>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347007720"/>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内容占位符 2"/>
          <p:cNvSpPr txBox="1">
            <a:spLocks/>
          </p:cNvSpPr>
          <p:nvPr/>
        </p:nvSpPr>
        <p:spPr>
          <a:xfrm>
            <a:off x="1960880" y="1767840"/>
            <a:ext cx="4988560" cy="3007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约束</a:t>
            </a:r>
            <a:r>
              <a:rPr lang="zh-CN" altLang="zh-CN" sz="2400" dirty="0">
                <a:solidFill>
                  <a:srgbClr val="FF0000"/>
                </a:solidFill>
                <a:latin typeface="微软雅黑" pitchFamily="34" charset="-122"/>
                <a:ea typeface="微软雅黑" pitchFamily="34" charset="-122"/>
                <a:cs typeface="Times New Roman" pitchFamily="18" charset="0"/>
              </a:rPr>
              <a:t>模板友元函数</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约束</a:t>
            </a:r>
            <a:r>
              <a:rPr lang="zh-CN" altLang="zh-CN" sz="2400" dirty="0">
                <a:solidFill>
                  <a:schemeClr val="bg1">
                    <a:lumMod val="50000"/>
                  </a:schemeClr>
                </a:solidFill>
                <a:latin typeface="微软雅黑" pitchFamily="34" charset="-122"/>
                <a:ea typeface="微软雅黑" pitchFamily="34" charset="-122"/>
                <a:cs typeface="Times New Roman" pitchFamily="18" charset="0"/>
              </a:rPr>
              <a:t>模板友元函数本身就是一个模板，但它的实例化类型取决于类被实例化时的类型，类实例化时会产匹配的具体化友元函数</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7136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94350" y="1483042"/>
            <a:ext cx="3448580" cy="423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36856007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71363"/>
                                        </p:tgtEl>
                                        <p:attrNameLst>
                                          <p:attrName>style.visibility</p:attrName>
                                        </p:attrNameLst>
                                      </p:cBhvr>
                                      <p:to>
                                        <p:strVal val="visible"/>
                                      </p:to>
                                    </p:set>
                                    <p:animEffect transition="in" filter="fade">
                                      <p:cBhvr>
                                        <p:cTn id="7" dur="500"/>
                                        <p:tgtEl>
                                          <p:spTgt spid="271363"/>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682241" y="1272487"/>
            <a:ext cx="7843520" cy="5039359"/>
            <a:chOff x="2519681" y="1300480"/>
            <a:chExt cx="7843520" cy="5039359"/>
          </a:xfrm>
        </p:grpSpPr>
        <p:pic>
          <p:nvPicPr>
            <p:cNvPr id="28057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681" y="1300480"/>
              <a:ext cx="7843520" cy="5039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3098800" y="1320800"/>
              <a:ext cx="6715760" cy="49580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6-6   bindTemplate.cpp</a:t>
              </a:r>
            </a:p>
            <a:p>
              <a:pPr mar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T&gt;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void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函数模板</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声明</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T&gt;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void </a:t>
              </a:r>
              <a:r>
                <a:rPr lang="en-US" altLang="zh-CN" sz="1800" dirty="0">
                  <a:solidFill>
                    <a:schemeClr val="bg1">
                      <a:lumMod val="50000"/>
                    </a:schemeClr>
                  </a:solidFill>
                  <a:latin typeface="微软雅黑" pitchFamily="34" charset="-122"/>
                  <a:ea typeface="微软雅黑" pitchFamily="34" charset="-122"/>
                  <a:cs typeface="Times New Roman" pitchFamily="18" charset="0"/>
                </a:rPr>
                <a:t>show(T&amp; 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U&gt;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类模板定义</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U _</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static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_count;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U&amp; u):_item(u){_count++;}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~A(){_count--;}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rgbClr val="00B0F0"/>
                  </a:solidFill>
                  <a:latin typeface="微软雅黑" pitchFamily="34" charset="-122"/>
                  <a:ea typeface="微软雅黑" pitchFamily="34" charset="-122"/>
                  <a:cs typeface="Times New Roman" pitchFamily="18" charset="0"/>
                </a:rPr>
                <a:t>friend void </a:t>
              </a:r>
              <a:r>
                <a:rPr lang="en-US" altLang="zh-CN" sz="1800" dirty="0" err="1">
                  <a:solidFill>
                    <a:srgbClr val="00B0F0"/>
                  </a:solidFill>
                  <a:latin typeface="微软雅黑" pitchFamily="34" charset="-122"/>
                  <a:ea typeface="微软雅黑" pitchFamily="34" charset="-122"/>
                  <a:cs typeface="Times New Roman" pitchFamily="18" charset="0"/>
                </a:rPr>
                <a:t>func</a:t>
              </a:r>
              <a:r>
                <a:rPr lang="en-US" altLang="zh-CN" sz="1800" dirty="0">
                  <a:solidFill>
                    <a:srgbClr val="00B0F0"/>
                  </a:solidFill>
                  <a:latin typeface="微软雅黑" pitchFamily="34" charset="-122"/>
                  <a:ea typeface="微软雅黑" pitchFamily="34" charset="-122"/>
                  <a:cs typeface="Times New Roman" pitchFamily="18" charset="0"/>
                </a:rPr>
                <a:t>&lt;U&gt;();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友元函数模板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rgbClr val="00B0F0"/>
                  </a:solidFill>
                  <a:latin typeface="微软雅黑" pitchFamily="34" charset="-122"/>
                  <a:ea typeface="微软雅黑" pitchFamily="34" charset="-122"/>
                  <a:cs typeface="Times New Roman" pitchFamily="18" charset="0"/>
                </a:rPr>
                <a:t>friend void show&lt;&gt;(A&lt;U&gt;&amp; a</a:t>
              </a:r>
              <a:r>
                <a:rPr lang="en-US" altLang="zh-CN" sz="1800" dirty="0" smtClean="0">
                  <a:solidFill>
                    <a:srgbClr val="00B0F0"/>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友元函数</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模板</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171887631"/>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733040" y="1330960"/>
            <a:ext cx="7467599" cy="4541520"/>
            <a:chOff x="2733040" y="1330960"/>
            <a:chExt cx="7467599" cy="4541520"/>
          </a:xfrm>
        </p:grpSpPr>
        <p:pic>
          <p:nvPicPr>
            <p:cNvPr id="2816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3040" y="1330960"/>
              <a:ext cx="7467599" cy="454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3271520" y="1442720"/>
              <a:ext cx="6695440" cy="4429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A&lt;T&gt;::_count =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T&gt;//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友元函数模板的定义</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&lt;&lt;"template size:"&lt;&lt;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sizeof</a:t>
              </a:r>
              <a:r>
                <a:rPr lang="en-US" altLang="zh-CN" sz="1800" dirty="0">
                  <a:solidFill>
                    <a:schemeClr val="bg1">
                      <a:lumMod val="50000"/>
                    </a:schemeClr>
                  </a:solidFill>
                  <a:latin typeface="微软雅黑" pitchFamily="34" charset="-122"/>
                  <a:ea typeface="微软雅黑" pitchFamily="34" charset="-122"/>
                  <a:cs typeface="Times New Roman" pitchFamily="18" charset="0"/>
                </a:rPr>
                <a:t>(A&lt;T&gt;)&lt;&lt;";";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template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():"&lt;&lt;A&lt;T&gt;::_count&lt;&lt;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show(T&amp; 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t._item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82357225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788160" y="1341120"/>
            <a:ext cx="9651999" cy="4775199"/>
            <a:chOff x="1788160" y="1320800"/>
            <a:chExt cx="9651999" cy="4775199"/>
          </a:xfrm>
        </p:grpSpPr>
        <p:pic>
          <p:nvPicPr>
            <p:cNvPr id="2826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88160" y="1320800"/>
              <a:ext cx="9651999" cy="4775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内容占位符 2"/>
            <p:cNvSpPr txBox="1">
              <a:spLocks/>
            </p:cNvSpPr>
            <p:nvPr/>
          </p:nvSpPr>
          <p:spPr>
            <a:xfrm>
              <a:off x="2311398" y="1412240"/>
              <a:ext cx="8940800" cy="45618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rgbClr val="00B0F0"/>
                  </a:solidFill>
                  <a:latin typeface="微软雅黑" pitchFamily="34" charset="-122"/>
                  <a:ea typeface="微软雅黑" pitchFamily="34" charset="-122"/>
                  <a:cs typeface="Times New Roman" pitchFamily="18" charset="0"/>
                </a:rPr>
                <a:t>func</a:t>
              </a:r>
              <a:r>
                <a:rPr lang="en-US" altLang="zh-CN" sz="1800" dirty="0">
                  <a:solidFill>
                    <a:srgbClr val="00B0F0"/>
                  </a:solidFill>
                  <a:latin typeface="微软雅黑" pitchFamily="34" charset="-122"/>
                  <a:ea typeface="微软雅黑" pitchFamily="34" charset="-122"/>
                  <a:cs typeface="Times New Roman" pitchFamily="18" charset="0"/>
                </a:rPr>
                <a:t>&lt;</a:t>
              </a:r>
              <a:r>
                <a:rPr lang="en-US" altLang="zh-CN" sz="1800" dirty="0" err="1">
                  <a:solidFill>
                    <a:srgbClr val="00B0F0"/>
                  </a:solidFill>
                  <a:latin typeface="微软雅黑" pitchFamily="34" charset="-122"/>
                  <a:ea typeface="微软雅黑" pitchFamily="34" charset="-122"/>
                  <a:cs typeface="Times New Roman" pitchFamily="18" charset="0"/>
                </a:rPr>
                <a:t>int</a:t>
              </a:r>
              <a:r>
                <a:rPr lang="en-US" altLang="zh-CN" sz="1800" dirty="0">
                  <a:solidFill>
                    <a:srgbClr val="00B0F0"/>
                  </a:solidFill>
                  <a:latin typeface="微软雅黑" pitchFamily="34" charset="-122"/>
                  <a:ea typeface="微软雅黑" pitchFamily="34" charset="-122"/>
                  <a:cs typeface="Times New Roman" pitchFamily="18" charset="0"/>
                </a:rPr>
                <a:t>&gt;();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类型的函数模板</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实例</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a(10);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b(20</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定义类</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对象</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A&lt;double&gt; c(1.2);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rgbClr val="00B0F0"/>
                  </a:solidFill>
                  <a:latin typeface="微软雅黑" pitchFamily="34" charset="-122"/>
                  <a:ea typeface="微软雅黑" pitchFamily="34" charset="-122"/>
                  <a:cs typeface="Times New Roman" pitchFamily="18" charset="0"/>
                </a:rPr>
                <a:t>show(a); 	</a:t>
              </a:r>
              <a:r>
                <a:rPr lang="en-US" altLang="zh-CN" sz="1800" dirty="0" smtClean="0">
                  <a:solidFill>
                    <a:srgbClr val="00B0F0"/>
                  </a:solidFill>
                  <a:latin typeface="微软雅黑" pitchFamily="34" charset="-122"/>
                  <a:ea typeface="微软雅黑" pitchFamily="34" charset="-122"/>
                  <a:cs typeface="Times New Roman" pitchFamily="18" charset="0"/>
                </a:rPr>
                <a:t>show(b);</a:t>
              </a:r>
              <a:r>
                <a:rPr lang="en-US" altLang="zh-CN" sz="1800" dirty="0">
                  <a:solidFill>
                    <a:srgbClr val="00B0F0"/>
                  </a:solidFill>
                  <a:latin typeface="微软雅黑" pitchFamily="34" charset="-122"/>
                  <a:ea typeface="微软雅黑" pitchFamily="34" charset="-122"/>
                  <a:cs typeface="Times New Roman" pitchFamily="18" charset="0"/>
                </a:rPr>
                <a:t>	</a:t>
              </a:r>
              <a:r>
                <a:rPr lang="en-US" altLang="zh-CN" sz="1800" dirty="0" smtClean="0">
                  <a:solidFill>
                    <a:srgbClr val="00B0F0"/>
                  </a:solidFill>
                  <a:latin typeface="微软雅黑" pitchFamily="34" charset="-122"/>
                  <a:ea typeface="微软雅黑" pitchFamily="34" charset="-122"/>
                  <a:cs typeface="Times New Roman" pitchFamily="18" charset="0"/>
                </a:rPr>
                <a:t>show(c</a:t>
              </a:r>
              <a:r>
                <a:rPr lang="en-US"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output:\n";</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运行到此，已经创建了两个</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类型对象</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&lt;double&gt;()output:\n";</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rgbClr val="00B0F0"/>
                  </a:solidFill>
                  <a:latin typeface="微软雅黑" pitchFamily="34" charset="-122"/>
                  <a:ea typeface="微软雅黑" pitchFamily="34" charset="-122"/>
                  <a:cs typeface="Times New Roman" pitchFamily="18" charset="0"/>
                </a:rPr>
                <a:t>func</a:t>
              </a:r>
              <a:r>
                <a:rPr lang="en-US" altLang="zh-CN" sz="1800" dirty="0">
                  <a:solidFill>
                    <a:srgbClr val="00B0F0"/>
                  </a:solidFill>
                  <a:latin typeface="微软雅黑" pitchFamily="34" charset="-122"/>
                  <a:ea typeface="微软雅黑" pitchFamily="34" charset="-122"/>
                  <a:cs typeface="Times New Roman" pitchFamily="18" charset="0"/>
                </a:rPr>
                <a:t>&lt;double&gt;();</a:t>
              </a:r>
              <a:endParaRPr lang="zh-CN" altLang="zh-CN" sz="1800" dirty="0">
                <a:solidFill>
                  <a:srgbClr val="00B0F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823572257"/>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6390640" y="1757680"/>
            <a:ext cx="4734560" cy="35153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上述</a:t>
            </a:r>
            <a:r>
              <a:rPr lang="zh-CN" altLang="zh-CN" sz="2400" dirty="0">
                <a:solidFill>
                  <a:schemeClr val="bg1">
                    <a:lumMod val="50000"/>
                  </a:schemeClr>
                </a:solidFill>
                <a:latin typeface="微软雅黑" pitchFamily="34" charset="-122"/>
                <a:ea typeface="微软雅黑" pitchFamily="34" charset="-122"/>
                <a:cs typeface="Times New Roman" pitchFamily="18" charset="0"/>
              </a:rPr>
              <a:t>代码分别将</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与</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zh-CN" sz="2400" dirty="0">
                <a:solidFill>
                  <a:schemeClr val="bg1">
                    <a:lumMod val="50000"/>
                  </a:schemeClr>
                </a:solidFill>
                <a:latin typeface="微软雅黑" pitchFamily="34" charset="-122"/>
                <a:ea typeface="微软雅黑" pitchFamily="34" charset="-122"/>
                <a:cs typeface="Times New Roman" pitchFamily="18" charset="0"/>
              </a:rPr>
              <a:t>函数定义成了模板并声明为类的友元，</a:t>
            </a:r>
            <a:r>
              <a:rPr lang="zh-CN" altLang="en-US" sz="2400" dirty="0">
                <a:solidFill>
                  <a:schemeClr val="bg1">
                    <a:lumMod val="50000"/>
                  </a:schemeClr>
                </a:solidFill>
                <a:latin typeface="微软雅黑" pitchFamily="34" charset="-122"/>
                <a:ea typeface="微软雅黑" pitchFamily="34" charset="-122"/>
                <a:cs typeface="Times New Roman" pitchFamily="18" charset="0"/>
              </a:rPr>
              <a:t>并在类外定义函数模板。在调用</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func</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en-US" sz="2400" dirty="0">
                <a:solidFill>
                  <a:schemeClr val="bg1">
                    <a:lumMod val="50000"/>
                  </a:schemeClr>
                </a:solidFill>
                <a:latin typeface="微软雅黑" pitchFamily="34" charset="-122"/>
                <a:ea typeface="微软雅黑" pitchFamily="34" charset="-122"/>
                <a:cs typeface="Times New Roman" pitchFamily="18" charset="0"/>
              </a:rPr>
              <a:t>函数时，</a:t>
            </a:r>
            <a:r>
              <a:rPr lang="zh-CN" altLang="zh-CN" sz="2400" dirty="0">
                <a:solidFill>
                  <a:schemeClr val="bg1">
                    <a:lumMod val="50000"/>
                  </a:schemeClr>
                </a:solidFill>
                <a:latin typeface="微软雅黑" pitchFamily="34" charset="-122"/>
                <a:ea typeface="微软雅黑" pitchFamily="34" charset="-122"/>
                <a:cs typeface="Times New Roman" pitchFamily="18" charset="0"/>
              </a:rPr>
              <a:t>带有</a:t>
            </a:r>
            <a:r>
              <a:rPr lang="en-US" altLang="zh-CN" sz="2400" dirty="0">
                <a:solidFill>
                  <a:schemeClr val="bg1">
                    <a:lumMod val="50000"/>
                  </a:schemeClr>
                </a:solidFill>
                <a:latin typeface="微软雅黑" pitchFamily="34" charset="-122"/>
                <a:ea typeface="微软雅黑" pitchFamily="34" charset="-122"/>
                <a:cs typeface="Times New Roman" pitchFamily="18" charset="0"/>
              </a:rPr>
              <a:t>&lt;&gt;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说明函数的实例化类型，</a:t>
            </a:r>
            <a:r>
              <a:rPr lang="zh-CN" altLang="en-US" sz="2400" dirty="0">
                <a:solidFill>
                  <a:schemeClr val="bg1">
                    <a:lumMod val="50000"/>
                  </a:schemeClr>
                </a:solidFill>
                <a:latin typeface="微软雅黑" pitchFamily="34" charset="-122"/>
                <a:ea typeface="微软雅黑" pitchFamily="34" charset="-122"/>
                <a:cs typeface="Times New Roman" pitchFamily="18" charset="0"/>
              </a:rPr>
              <a:t>而在调用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show()</a:t>
            </a:r>
            <a:r>
              <a:rPr lang="zh-CN" altLang="en-US" sz="2400" dirty="0">
                <a:solidFill>
                  <a:schemeClr val="bg1">
                    <a:lumMod val="50000"/>
                  </a:schemeClr>
                </a:solidFill>
                <a:latin typeface="微软雅黑" pitchFamily="34" charset="-122"/>
                <a:ea typeface="微软雅黑" pitchFamily="34" charset="-122"/>
                <a:cs typeface="Times New Roman" pitchFamily="18" charset="0"/>
              </a:rPr>
              <a:t>函数时，是直接调用的。</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836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9714" y="2225358"/>
            <a:ext cx="4746196" cy="2387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95783638"/>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42" presetClass="entr" presetSubtype="0" fill="hold" nodeType="withEffect">
                                  <p:stCondLst>
                                    <p:cond delay="0"/>
                                  </p:stCondLst>
                                  <p:childTnLst>
                                    <p:set>
                                      <p:cBhvr>
                                        <p:cTn id="9" dur="1" fill="hold">
                                          <p:stCondLst>
                                            <p:cond delay="0"/>
                                          </p:stCondLst>
                                        </p:cTn>
                                        <p:tgtEl>
                                          <p:spTgt spid="283650"/>
                                        </p:tgtEl>
                                        <p:attrNameLst>
                                          <p:attrName>style.visibility</p:attrName>
                                        </p:attrNameLst>
                                      </p:cBhvr>
                                      <p:to>
                                        <p:strVal val="visible"/>
                                      </p:to>
                                    </p:set>
                                    <p:animEffect transition="in" filter="fade">
                                      <p:cBhvr>
                                        <p:cTn id="10" dur="1000"/>
                                        <p:tgtEl>
                                          <p:spTgt spid="283650"/>
                                        </p:tgtEl>
                                      </p:cBhvr>
                                    </p:animEffect>
                                    <p:anim calcmode="lin" valueType="num">
                                      <p:cBhvr>
                                        <p:cTn id="11" dur="1000" fill="hold"/>
                                        <p:tgtEl>
                                          <p:spTgt spid="283650"/>
                                        </p:tgtEl>
                                        <p:attrNameLst>
                                          <p:attrName>ppt_x</p:attrName>
                                        </p:attrNameLst>
                                      </p:cBhvr>
                                      <p:tavLst>
                                        <p:tav tm="0">
                                          <p:val>
                                            <p:strVal val="#ppt_x"/>
                                          </p:val>
                                        </p:tav>
                                        <p:tav tm="100000">
                                          <p:val>
                                            <p:strVal val="#ppt_x"/>
                                          </p:val>
                                        </p:tav>
                                      </p:tavLst>
                                    </p:anim>
                                    <p:anim calcmode="lin" valueType="num">
                                      <p:cBhvr>
                                        <p:cTn id="12" dur="1000" fill="hold"/>
                                        <p:tgtEl>
                                          <p:spTgt spid="2836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991360" y="1310640"/>
            <a:ext cx="9428480" cy="4754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3</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非</a:t>
            </a:r>
            <a:r>
              <a:rPr lang="zh-CN" altLang="zh-CN" sz="2400" dirty="0">
                <a:solidFill>
                  <a:srgbClr val="FF0000"/>
                </a:solidFill>
                <a:latin typeface="微软雅黑" pitchFamily="34" charset="-122"/>
                <a:ea typeface="微软雅黑" pitchFamily="34" charset="-122"/>
                <a:cs typeface="Times New Roman" pitchFamily="18" charset="0"/>
              </a:rPr>
              <a:t>约束模板友元函数</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通过</a:t>
            </a:r>
            <a:r>
              <a:rPr lang="zh-CN" altLang="zh-CN" sz="2400" dirty="0">
                <a:solidFill>
                  <a:schemeClr val="bg1">
                    <a:lumMod val="50000"/>
                  </a:schemeClr>
                </a:solidFill>
                <a:latin typeface="微软雅黑" pitchFamily="34" charset="-122"/>
                <a:ea typeface="微软雅黑" pitchFamily="34" charset="-122"/>
                <a:cs typeface="Times New Roman" pitchFamily="18" charset="0"/>
              </a:rPr>
              <a:t>在类模板内部声明友元函数模板，可以创建非约束友元函数，即友元函数的参数是类的实例化对象，不受类模板形参的影响，如下面的定义所示：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template&lt;class T, class U&gt;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friend void show(T&amp; t, U&amp; u);</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126548443"/>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2044699" y="1808480"/>
            <a:ext cx="5872480" cy="31902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对于</a:t>
            </a:r>
            <a:r>
              <a:rPr lang="zh-CN" altLang="zh-CN" sz="2400" dirty="0">
                <a:solidFill>
                  <a:schemeClr val="bg1">
                    <a:lumMod val="50000"/>
                  </a:schemeClr>
                </a:solidFill>
                <a:latin typeface="微软雅黑" pitchFamily="34" charset="-122"/>
                <a:ea typeface="微软雅黑" pitchFamily="34" charset="-122"/>
                <a:cs typeface="Times New Roman" pitchFamily="18" charset="0"/>
              </a:rPr>
              <a:t>非约束友元，友元模板的参数与类模板的类型参数是不同的。在类内声明函数模板，在类外定义，代码如下所示：</a:t>
            </a: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template&lt;class T, class U&gt;</a:t>
            </a:r>
            <a:endParaRPr lang="zh-CN" altLang="zh-CN" sz="24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2400" dirty="0">
                <a:solidFill>
                  <a:srgbClr val="00B0F0"/>
                </a:solidFill>
                <a:latin typeface="微软雅黑" pitchFamily="34" charset="-122"/>
                <a:ea typeface="微软雅黑" pitchFamily="34" charset="-122"/>
                <a:cs typeface="Times New Roman" pitchFamily="18" charset="0"/>
              </a:rPr>
              <a:t>void show(T&amp; t, U&amp; u</a:t>
            </a:r>
            <a:r>
              <a:rPr lang="x-none" altLang="zh-CN" sz="2400" dirty="0" smtClean="0">
                <a:solidFill>
                  <a:srgbClr val="00B0F0"/>
                </a:solidFill>
                <a:latin typeface="微软雅黑" pitchFamily="34" charset="-122"/>
                <a:ea typeface="微软雅黑" pitchFamily="34" charset="-122"/>
                <a:cs typeface="Times New Roman" pitchFamily="18" charset="0"/>
              </a:rPr>
              <a:t>){……}</a:t>
            </a:r>
            <a:endParaRPr lang="zh-CN" altLang="zh-CN" sz="2400" dirty="0">
              <a:solidFill>
                <a:srgbClr val="00B0F0"/>
              </a:solidFill>
              <a:latin typeface="微软雅黑" pitchFamily="34" charset="-122"/>
              <a:ea typeface="微软雅黑" pitchFamily="34" charset="-122"/>
              <a:cs typeface="Times New Roman" pitchFamily="18" charset="0"/>
            </a:endParaRPr>
          </a:p>
        </p:txBody>
      </p:sp>
      <p:pic>
        <p:nvPicPr>
          <p:cNvPr id="2846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17179" y="1637983"/>
            <a:ext cx="3254375" cy="3360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70002484"/>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4674"/>
                                        </p:tgtEl>
                                        <p:attrNameLst>
                                          <p:attrName>style.visibility</p:attrName>
                                        </p:attrNameLst>
                                      </p:cBhvr>
                                      <p:to>
                                        <p:strVal val="visible"/>
                                      </p:to>
                                    </p:set>
                                    <p:animEffect transition="in" filter="fade">
                                      <p:cBhvr>
                                        <p:cTn id="11" dur="500"/>
                                        <p:tgtEl>
                                          <p:spTgt spid="284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346961" y="1412240"/>
            <a:ext cx="8547102" cy="4704080"/>
            <a:chOff x="1859281" y="1259840"/>
            <a:chExt cx="8547102" cy="4704080"/>
          </a:xfrm>
        </p:grpSpPr>
        <p:pic>
          <p:nvPicPr>
            <p:cNvPr id="2856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281" y="1259840"/>
              <a:ext cx="8547102" cy="4704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712721" y="1279950"/>
              <a:ext cx="7406640" cy="44704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6-7   freeTemplate.cpp</a:t>
              </a:r>
              <a:endParaRPr lang="en-US" altLang="zh-CN" sz="1800" dirty="0" smtClean="0">
                <a:solidFill>
                  <a:srgbClr val="FF0000"/>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 _item;</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const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T&amp; t) :_item(t){}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template&lt;class U, class V&gt;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在类内部声明函数模板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friend void show(U&amp; u, V&amp; v);</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template&lt;class U, class V&gt;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void show(U&amp; u, V&amp; v){</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u._item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v._item</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655788299"/>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53390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6.3.3 </a:t>
            </a:r>
            <a:r>
              <a:rPr lang="zh-CN" altLang="en-US" sz="3200" b="1" dirty="0" smtClean="0">
                <a:solidFill>
                  <a:srgbClr val="1353A2"/>
                </a:solidFill>
                <a:latin typeface="微软雅黑" pitchFamily="34" charset="-122"/>
                <a:ea typeface="微软雅黑" pitchFamily="34" charset="-122"/>
              </a:rPr>
              <a:t>类模板与友元函数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3068320" y="1442720"/>
            <a:ext cx="6990080" cy="4307840"/>
            <a:chOff x="3068320" y="1442720"/>
            <a:chExt cx="6776720" cy="4307840"/>
          </a:xfrm>
        </p:grpSpPr>
        <p:pic>
          <p:nvPicPr>
            <p:cNvPr id="2867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68320" y="1442720"/>
              <a:ext cx="677672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4724401" y="1483360"/>
              <a:ext cx="3566160" cy="4267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a(10);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b(20);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A&lt;double&gt; c(1.2);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a,b</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show(a, b);</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a,c</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show(a, 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780652892"/>
      </p:ext>
    </p:extLst>
  </p:cSld>
  <p:clrMapOvr>
    <a:masterClrMapping/>
  </p:clrMapOvr>
  <mc:AlternateContent xmlns:mc="http://schemas.openxmlformats.org/markup-compatibility/2006" xmlns:p14="http://schemas.microsoft.com/office/powerpoint/2010/main">
    <mc:Choice Requires="p14">
      <p:transition spd="slow" p14:dur="11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727200" y="1310640"/>
            <a:ext cx="9692640" cy="44196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类型</a:t>
            </a:r>
            <a:r>
              <a:rPr lang="zh-CN" altLang="zh-CN" sz="2400" dirty="0">
                <a:solidFill>
                  <a:srgbClr val="FF0000"/>
                </a:solidFill>
                <a:latin typeface="微软雅黑" pitchFamily="34" charset="-122"/>
                <a:ea typeface="微软雅黑" pitchFamily="34" charset="-122"/>
                <a:cs typeface="Times New Roman" pitchFamily="18" charset="0"/>
              </a:rPr>
              <a:t>参数</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模板</a:t>
            </a:r>
            <a:r>
              <a:rPr lang="zh-CN" altLang="zh-CN" sz="2400" dirty="0">
                <a:solidFill>
                  <a:schemeClr val="bg1">
                    <a:lumMod val="50000"/>
                  </a:schemeClr>
                </a:solidFill>
                <a:latin typeface="微软雅黑" pitchFamily="34" charset="-122"/>
                <a:ea typeface="微软雅黑" pitchFamily="34" charset="-122"/>
                <a:cs typeface="Times New Roman" pitchFamily="18" charset="0"/>
              </a:rPr>
              <a:t>参数都是由</a:t>
            </a:r>
            <a:r>
              <a:rPr lang="en-US" altLang="zh-CN" sz="2400" dirty="0">
                <a:solidFill>
                  <a:schemeClr val="bg1">
                    <a:lumMod val="50000"/>
                  </a:schemeClr>
                </a:solidFill>
                <a:latin typeface="微软雅黑" pitchFamily="34" charset="-122"/>
                <a:ea typeface="微软雅黑" pitchFamily="34" charset="-122"/>
                <a:cs typeface="Times New Roman" pitchFamily="18" charset="0"/>
              </a:rPr>
              <a:t>class</a:t>
            </a:r>
            <a:r>
              <a:rPr lang="zh-CN" altLang="zh-CN" sz="2400" dirty="0">
                <a:solidFill>
                  <a:schemeClr val="bg1">
                    <a:lumMod val="50000"/>
                  </a:schemeClr>
                </a:solidFill>
                <a:latin typeface="微软雅黑" pitchFamily="34" charset="-122"/>
                <a:ea typeface="微软雅黑" pitchFamily="34" charset="-122"/>
                <a:cs typeface="Times New Roman" pitchFamily="18" charset="0"/>
              </a:rPr>
              <a:t>或者</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typename</a:t>
            </a:r>
            <a:r>
              <a:rPr lang="zh-CN" altLang="zh-CN" sz="2400" dirty="0">
                <a:solidFill>
                  <a:schemeClr val="bg1">
                    <a:lumMod val="50000"/>
                  </a:schemeClr>
                </a:solidFill>
                <a:latin typeface="微软雅黑" pitchFamily="34" charset="-122"/>
                <a:ea typeface="微软雅黑" pitchFamily="34" charset="-122"/>
                <a:cs typeface="Times New Roman" pitchFamily="18" charset="0"/>
              </a:rPr>
              <a:t>标记，称为类型参数，类型参数是使用模板的主要目的。例如下列模板声明：</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 add(T t1,T t2);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其中</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就是一个类型形参，类型形参的名字由用户自行确定，表示的是一个未知类型，模板类型形参可以作为类型说明符用在模板中的任何地方，与内置类型说明符或类类型说明符的使用方式完全相同</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262013394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889760" y="1361440"/>
            <a:ext cx="9530080" cy="443992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可以</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为模板定义多个类型参数，也可以为类型参数指定默认值，示例代码如下所示：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 class U = int&gt;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void func(T, U);</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上述代码中，把</a:t>
            </a:r>
            <a:r>
              <a:rPr lang="en-US" altLang="zh-CN" sz="2400" dirty="0">
                <a:solidFill>
                  <a:schemeClr val="bg1">
                    <a:lumMod val="50000"/>
                  </a:schemeClr>
                </a:solidFill>
                <a:latin typeface="微软雅黑" pitchFamily="34" charset="-122"/>
                <a:ea typeface="微软雅黑" pitchFamily="34" charset="-122"/>
                <a:cs typeface="Times New Roman" pitchFamily="18" charset="0"/>
              </a:rPr>
              <a:t>U</a:t>
            </a:r>
            <a:r>
              <a:rPr lang="zh-CN" altLang="zh-CN" sz="2400" dirty="0">
                <a:solidFill>
                  <a:schemeClr val="bg1">
                    <a:lumMod val="50000"/>
                  </a:schemeClr>
                </a:solidFill>
                <a:latin typeface="微软雅黑" pitchFamily="34" charset="-122"/>
                <a:ea typeface="微软雅黑" pitchFamily="34" charset="-122"/>
                <a:cs typeface="Times New Roman" pitchFamily="18" charset="0"/>
              </a:rPr>
              <a:t>默认设置成为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类型，类模板类型形参和函数默认参数规则一致。</a:t>
            </a:r>
          </a:p>
        </p:txBody>
      </p:sp>
    </p:spTree>
    <p:custDataLst>
      <p:tags r:id="rId1"/>
    </p:custDataLst>
    <p:extLst>
      <p:ext uri="{BB962C8B-B14F-4D97-AF65-F5344CB8AC3E}">
        <p14:creationId xmlns:p14="http://schemas.microsoft.com/office/powerpoint/2010/main" val="282721259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1767840" y="1270000"/>
            <a:ext cx="9662160" cy="48056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非</a:t>
            </a:r>
            <a:r>
              <a:rPr lang="zh-CN" altLang="zh-CN" sz="2400" dirty="0">
                <a:solidFill>
                  <a:srgbClr val="FF0000"/>
                </a:solidFill>
                <a:latin typeface="微软雅黑" pitchFamily="34" charset="-122"/>
                <a:ea typeface="微软雅黑" pitchFamily="34" charset="-122"/>
                <a:cs typeface="Times New Roman" pitchFamily="18" charset="0"/>
              </a:rPr>
              <a:t>类型参数</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非</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类型参数也就是内置类型形参，例如，定义如下模板：</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 int a&gt;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A{};</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在</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上述代码中，</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2400" dirty="0">
                <a:solidFill>
                  <a:schemeClr val="bg1">
                    <a:lumMod val="50000"/>
                  </a:schemeClr>
                </a:solidFill>
                <a:latin typeface="微软雅黑" pitchFamily="34" charset="-122"/>
                <a:ea typeface="微软雅黑" pitchFamily="34" charset="-122"/>
                <a:cs typeface="Times New Roman" pitchFamily="18" charset="0"/>
              </a:rPr>
              <a:t> a</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就是非类型的模板形参，非类型模板形参为函数模板或类模板预定义一些常量，在生成模板实例时，也要求必须是常量，即整型、枚举、指针和引用。</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非</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类型模板参数在模板所有实例中都具有相同的值，而类型模板参数在不同的模板实例中拥有不同的值。</a:t>
            </a:r>
          </a:p>
          <a:p>
            <a:pPr marL="0" indent="0" eaLnBrk="1" hangingPunct="1">
              <a:lnSpc>
                <a:spcPct val="150000"/>
              </a:lnSpc>
              <a:spcBef>
                <a:spcPct val="0"/>
              </a:spcBef>
              <a:buNone/>
              <a:defRPr/>
            </a:pP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4174335544"/>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418080" y="1266474"/>
            <a:ext cx="8402319" cy="5069012"/>
            <a:chOff x="2418080" y="1361440"/>
            <a:chExt cx="8402319" cy="5069012"/>
          </a:xfrm>
        </p:grpSpPr>
        <p:pic>
          <p:nvPicPr>
            <p:cNvPr id="2877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8080" y="1361440"/>
              <a:ext cx="8402319" cy="506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3098800" y="1408713"/>
              <a:ext cx="7294880" cy="466344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6-8    typeTemplate.cpp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 unsigned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len</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非类型模板参数</a:t>
              </a:r>
              <a:r>
                <a:rPr lang="en-US" altLang="zh-CN" sz="1800" dirty="0">
                  <a:solidFill>
                    <a:schemeClr val="bg1">
                      <a:lumMod val="50000"/>
                    </a:schemeClr>
                  </a:solidFill>
                  <a:latin typeface="微软雅黑" pitchFamily="34" charset="-122"/>
                  <a:ea typeface="微软雅黑" pitchFamily="34" charset="-122"/>
                  <a:cs typeface="Times New Roman" pitchFamily="18" charset="0"/>
                </a:rPr>
                <a:t>unsigned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len</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Array{</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T&amp; operator[](unsigned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重载下标</a:t>
              </a:r>
              <a:r>
                <a:rPr lang="zh-CN" altLang="zh-CN" sz="1800" dirty="0" smtClean="0">
                  <a:solidFill>
                    <a:schemeClr val="bg1">
                      <a:lumMod val="50000"/>
                    </a:schemeClr>
                  </a:solidFill>
                  <a:latin typeface="微软雅黑" pitchFamily="34" charset="-122"/>
                  <a:ea typeface="微软雅黑" pitchFamily="34" charset="-122"/>
                  <a:cs typeface="Times New Roman" pitchFamily="18" charset="0"/>
                </a:rPr>
                <a:t>运算符</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if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&gt;=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len</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数组越界</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else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return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private: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arr</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len</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1457331871"/>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2052320" y="1391920"/>
            <a:ext cx="9286239" cy="4805680"/>
            <a:chOff x="2052320" y="1391920"/>
            <a:chExt cx="9286239" cy="4805680"/>
          </a:xfrm>
        </p:grpSpPr>
        <p:pic>
          <p:nvPicPr>
            <p:cNvPr id="28877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2320" y="1391920"/>
              <a:ext cx="9286239" cy="4805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内容占位符 2"/>
            <p:cNvSpPr txBox="1">
              <a:spLocks/>
            </p:cNvSpPr>
            <p:nvPr/>
          </p:nvSpPr>
          <p:spPr>
            <a:xfrm>
              <a:off x="2575558" y="1412240"/>
              <a:ext cx="8371840" cy="468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Array&lt;char, 5&gt; arr1;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定义一个长度为</a:t>
              </a:r>
              <a:r>
                <a:rPr lang="en-US" altLang="zh-CN" sz="1800" dirty="0">
                  <a:solidFill>
                    <a:schemeClr val="bg1">
                      <a:lumMod val="50000"/>
                    </a:schemeClr>
                  </a:solidFill>
                  <a:latin typeface="微软雅黑" pitchFamily="34" charset="-122"/>
                  <a:ea typeface="微软雅黑" pitchFamily="34" charset="-122"/>
                  <a:cs typeface="Times New Roman" pitchFamily="18" charset="0"/>
                </a:rPr>
                <a:t>5</a:t>
              </a:r>
              <a:r>
                <a:rPr lang="zh-CN" altLang="zh-CN" sz="1800" dirty="0">
                  <a:solidFill>
                    <a:schemeClr val="bg1">
                      <a:lumMod val="50000"/>
                    </a:schemeClr>
                  </a:solidFill>
                  <a:latin typeface="微软雅黑" pitchFamily="34" charset="-122"/>
                  <a:ea typeface="微软雅黑" pitchFamily="34" charset="-122"/>
                  <a:cs typeface="Times New Roman" pitchFamily="18" charset="0"/>
                </a:rPr>
                <a:t>的</a:t>
              </a:r>
              <a:r>
                <a:rPr lang="en-US" altLang="zh-CN" sz="1800" dirty="0">
                  <a:solidFill>
                    <a:schemeClr val="bg1">
                      <a:lumMod val="50000"/>
                    </a:schemeClr>
                  </a:solidFill>
                  <a:latin typeface="微软雅黑" pitchFamily="34" charset="-122"/>
                  <a:ea typeface="微软雅黑" pitchFamily="34" charset="-122"/>
                  <a:cs typeface="Times New Roman" pitchFamily="18" charset="0"/>
                </a:rPr>
                <a:t>char</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类型数组</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Array&lt;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10&gt; arr2;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定义一个长度为</a:t>
              </a:r>
              <a:r>
                <a:rPr lang="en-US" altLang="zh-CN" sz="1800" dirty="0">
                  <a:solidFill>
                    <a:schemeClr val="bg1">
                      <a:lumMod val="50000"/>
                    </a:schemeClr>
                  </a:solidFill>
                  <a:latin typeface="微软雅黑" pitchFamily="34" charset="-122"/>
                  <a:ea typeface="微软雅黑" pitchFamily="34" charset="-122"/>
                  <a:cs typeface="Times New Roman" pitchFamily="18" charset="0"/>
                </a:rPr>
                <a:t>10</a:t>
              </a:r>
              <a:r>
                <a:rPr lang="zh-CN" altLang="zh-CN" sz="1800" dirty="0">
                  <a:solidFill>
                    <a:schemeClr val="bg1">
                      <a:lumMod val="50000"/>
                    </a:schemeClr>
                  </a:solidFill>
                  <a:latin typeface="微软雅黑" pitchFamily="34" charset="-122"/>
                  <a:ea typeface="微软雅黑" pitchFamily="34" charset="-122"/>
                  <a:cs typeface="Times New Roman" pitchFamily="18" charset="0"/>
                </a:rPr>
                <a:t>的</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数组</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arr1[0]= 'A';</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&lt;&lt;arr1[0]&lt;&lt;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0;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 10;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为</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类型数组</a:t>
              </a:r>
              <a:r>
                <a:rPr lang="en-US" altLang="zh-CN" sz="1800" dirty="0">
                  <a:solidFill>
                    <a:schemeClr val="bg1">
                      <a:lumMod val="50000"/>
                    </a:schemeClr>
                  </a:solidFill>
                  <a:latin typeface="微软雅黑" pitchFamily="34" charset="-122"/>
                  <a:ea typeface="微软雅黑" pitchFamily="34" charset="-122"/>
                  <a:cs typeface="Times New Roman" pitchFamily="18" charset="0"/>
                </a:rPr>
                <a:t>arr2</a:t>
              </a:r>
              <a:r>
                <a:rPr lang="zh-CN" altLang="zh-CN" sz="1800" dirty="0">
                  <a:solidFill>
                    <a:schemeClr val="bg1">
                      <a:lumMod val="50000"/>
                    </a:schemeClr>
                  </a:solidFill>
                  <a:latin typeface="微软雅黑" pitchFamily="34" charset="-122"/>
                  <a:ea typeface="微软雅黑" pitchFamily="34" charset="-122"/>
                  <a:cs typeface="Times New Roman" pitchFamily="18" charset="0"/>
                </a:rPr>
                <a:t>赋值并输出</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arr2[</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+ 1;</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for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 0;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 10;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&lt;&lt;arr2[</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return 0</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179280681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out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5933440" y="1666240"/>
            <a:ext cx="4978400" cy="34848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en-US" sz="2400" dirty="0" smtClean="0">
                <a:solidFill>
                  <a:schemeClr val="bg1">
                    <a:lumMod val="50000"/>
                  </a:schemeClr>
                </a:solidFill>
                <a:latin typeface="微软雅黑" pitchFamily="34" charset="-122"/>
                <a:ea typeface="微软雅黑" pitchFamily="34" charset="-122"/>
                <a:cs typeface="Times New Roman" pitchFamily="18" charset="0"/>
              </a:rPr>
              <a:t>在上述代码中，</a:t>
            </a: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实例化</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类模板</a:t>
            </a:r>
            <a:r>
              <a:rPr lang="en-US" altLang="zh-CN" sz="2400" dirty="0">
                <a:solidFill>
                  <a:schemeClr val="bg1">
                    <a:lumMod val="50000"/>
                  </a:schemeClr>
                </a:solidFill>
                <a:latin typeface="微软雅黑" pitchFamily="34" charset="-122"/>
                <a:ea typeface="微软雅黑" pitchFamily="34" charset="-122"/>
                <a:cs typeface="Times New Roman" pitchFamily="18" charset="0"/>
              </a:rPr>
              <a:t>Array</a:t>
            </a:r>
            <a:r>
              <a:rPr lang="zh-CN" altLang="zh-CN" sz="2400" dirty="0">
                <a:solidFill>
                  <a:schemeClr val="bg1">
                    <a:lumMod val="50000"/>
                  </a:schemeClr>
                </a:solidFill>
                <a:latin typeface="微软雅黑" pitchFamily="34" charset="-122"/>
                <a:ea typeface="微软雅黑" pitchFamily="34" charset="-122"/>
                <a:cs typeface="Times New Roman" pitchFamily="18" charset="0"/>
              </a:rPr>
              <a:t>时，分别定义了长度为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5</a:t>
            </a:r>
            <a:r>
              <a:rPr lang="zh-CN" altLang="zh-CN" sz="2400" dirty="0">
                <a:solidFill>
                  <a:schemeClr val="bg1">
                    <a:lumMod val="50000"/>
                  </a:schemeClr>
                </a:solidFill>
                <a:latin typeface="微软雅黑" pitchFamily="34" charset="-122"/>
                <a:ea typeface="微软雅黑" pitchFamily="34" charset="-122"/>
                <a:cs typeface="Times New Roman" pitchFamily="18" charset="0"/>
              </a:rPr>
              <a:t>和</a:t>
            </a:r>
            <a:r>
              <a:rPr lang="en-US" altLang="zh-CN" sz="2400" dirty="0">
                <a:solidFill>
                  <a:schemeClr val="bg1">
                    <a:lumMod val="50000"/>
                  </a:schemeClr>
                </a:solidFill>
                <a:latin typeface="微软雅黑" pitchFamily="34" charset="-122"/>
                <a:ea typeface="微软雅黑" pitchFamily="34" charset="-122"/>
                <a:cs typeface="Times New Roman" pitchFamily="18" charset="0"/>
              </a:rPr>
              <a:t>10</a:t>
            </a:r>
            <a:r>
              <a:rPr lang="zh-CN" altLang="zh-CN" sz="2400" dirty="0">
                <a:solidFill>
                  <a:schemeClr val="bg1">
                    <a:lumMod val="50000"/>
                  </a:schemeClr>
                </a:solidFill>
                <a:latin typeface="微软雅黑" pitchFamily="34" charset="-122"/>
                <a:ea typeface="微软雅黑" pitchFamily="34" charset="-122"/>
                <a:cs typeface="Times New Roman" pitchFamily="18" charset="0"/>
              </a:rPr>
              <a:t>的两个数组，解决了常量参数只能固定大小的问题，当需要为同一算法或类定义不同常量时，最适合用非类型模板参数实现。</a:t>
            </a:r>
          </a:p>
          <a:p>
            <a:pPr marL="0" indent="0" eaLnBrk="1" hangingPunct="1">
              <a:lnSpc>
                <a:spcPct val="150000"/>
              </a:lnSpc>
              <a:spcBef>
                <a:spcPct val="0"/>
              </a:spcBef>
              <a:buNone/>
              <a:defRPr/>
            </a:pPr>
            <a:endParaRPr lang="zh-CN" altLang="zh-CN" sz="2400" dirty="0">
              <a:solidFill>
                <a:schemeClr val="bg1">
                  <a:lumMod val="50000"/>
                </a:schemeClr>
              </a:solidFill>
              <a:latin typeface="微软雅黑" pitchFamily="34" charset="-122"/>
              <a:ea typeface="微软雅黑" pitchFamily="34" charset="-122"/>
              <a:cs typeface="Times New Roman" pitchFamily="18" charset="0"/>
            </a:endParaRPr>
          </a:p>
        </p:txBody>
      </p:sp>
      <p:pic>
        <p:nvPicPr>
          <p:cNvPr id="2897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7681" y="1629409"/>
            <a:ext cx="3627120" cy="3700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332069570"/>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par>
                                <p:cTn id="8" presetID="42" presetClass="entr" presetSubtype="0" fill="hold" nodeType="withEffect">
                                  <p:stCondLst>
                                    <p:cond delay="0"/>
                                  </p:stCondLst>
                                  <p:childTnLst>
                                    <p:set>
                                      <p:cBhvr>
                                        <p:cTn id="9" dur="1" fill="hold">
                                          <p:stCondLst>
                                            <p:cond delay="0"/>
                                          </p:stCondLst>
                                        </p:cTn>
                                        <p:tgtEl>
                                          <p:spTgt spid="289795"/>
                                        </p:tgtEl>
                                        <p:attrNameLst>
                                          <p:attrName>style.visibility</p:attrName>
                                        </p:attrNameLst>
                                      </p:cBhvr>
                                      <p:to>
                                        <p:strVal val="visible"/>
                                      </p:to>
                                    </p:set>
                                    <p:animEffect transition="in" filter="fade">
                                      <p:cBhvr>
                                        <p:cTn id="10" dur="1000"/>
                                        <p:tgtEl>
                                          <p:spTgt spid="289795"/>
                                        </p:tgtEl>
                                      </p:cBhvr>
                                    </p:animEffect>
                                    <p:anim calcmode="lin" valueType="num">
                                      <p:cBhvr>
                                        <p:cTn id="11" dur="1000" fill="hold"/>
                                        <p:tgtEl>
                                          <p:spTgt spid="289795"/>
                                        </p:tgtEl>
                                        <p:attrNameLst>
                                          <p:attrName>ppt_x</p:attrName>
                                        </p:attrNameLst>
                                      </p:cBhvr>
                                      <p:tavLst>
                                        <p:tav tm="0">
                                          <p:val>
                                            <p:strVal val="#ppt_x"/>
                                          </p:val>
                                        </p:tav>
                                        <p:tav tm="100000">
                                          <p:val>
                                            <p:strVal val="#ppt_x"/>
                                          </p:val>
                                        </p:tav>
                                      </p:tavLst>
                                    </p:anim>
                                    <p:anim calcmode="lin" valueType="num">
                                      <p:cBhvr>
                                        <p:cTn id="12" dur="1000" fill="hold"/>
                                        <p:tgtEl>
                                          <p:spTgt spid="2897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432560" y="1330960"/>
            <a:ext cx="10231120" cy="4582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使用</a:t>
            </a:r>
            <a:r>
              <a:rPr lang="zh-CN" altLang="zh-CN" sz="2400" dirty="0">
                <a:solidFill>
                  <a:schemeClr val="bg1">
                    <a:lumMod val="50000"/>
                  </a:schemeClr>
                </a:solidFill>
                <a:latin typeface="微软雅黑" pitchFamily="34" charset="-122"/>
                <a:ea typeface="微软雅黑" pitchFamily="34" charset="-122"/>
                <a:cs typeface="Times New Roman" pitchFamily="18" charset="0"/>
              </a:rPr>
              <a:t>非类型模板参数时，有以下几点需要注意：</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1</a:t>
            </a:r>
            <a:r>
              <a:rPr lang="zh-CN" altLang="zh-CN" sz="2400" dirty="0">
                <a:solidFill>
                  <a:schemeClr val="bg1">
                    <a:lumMod val="50000"/>
                  </a:schemeClr>
                </a:solidFill>
                <a:latin typeface="微软雅黑" pitchFamily="34" charset="-122"/>
                <a:ea typeface="微软雅黑" pitchFamily="34" charset="-122"/>
                <a:cs typeface="Times New Roman" pitchFamily="18" charset="0"/>
              </a:rPr>
              <a:t>）调用非类型模板形参的实参必须是常量表达式，即必须能在编译时计算出结果。</a:t>
            </a: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2</a:t>
            </a:r>
            <a:r>
              <a:rPr lang="zh-CN" altLang="zh-CN" sz="2400" dirty="0">
                <a:solidFill>
                  <a:schemeClr val="bg1">
                    <a:lumMod val="50000"/>
                  </a:schemeClr>
                </a:solidFill>
                <a:latin typeface="微软雅黑" pitchFamily="34" charset="-122"/>
                <a:ea typeface="微软雅黑" pitchFamily="34" charset="-122"/>
                <a:cs typeface="Times New Roman" pitchFamily="18" charset="0"/>
              </a:rPr>
              <a:t>）任何局部对象、局部变量的地址都不是常量表达式，不能用作非类型模板的实参，全局指针类型、全局变量也不是常量表达式，也不能用作非类型模板的实参。</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3</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sizeof</a:t>
            </a:r>
            <a:r>
              <a:rPr lang="en-US" altLang="zh-CN" sz="2400" dirty="0">
                <a:solidFill>
                  <a:schemeClr val="bg1">
                    <a:lumMod val="50000"/>
                  </a:schemeClr>
                </a:solidFill>
                <a:latin typeface="微软雅黑" pitchFamily="34" charset="-122"/>
                <a:ea typeface="微软雅黑" pitchFamily="34" charset="-122"/>
                <a:cs typeface="Times New Roman" pitchFamily="18" charset="0"/>
              </a:rPr>
              <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表达式结果是一个常量表达式，可以用作非类型模板的实参。</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4</a:t>
            </a:r>
            <a:r>
              <a:rPr lang="zh-CN" altLang="zh-CN" sz="2400" dirty="0">
                <a:solidFill>
                  <a:schemeClr val="bg1">
                    <a:lumMod val="50000"/>
                  </a:schemeClr>
                </a:solidFill>
                <a:latin typeface="微软雅黑" pitchFamily="34" charset="-122"/>
                <a:ea typeface="微软雅黑" pitchFamily="34" charset="-122"/>
                <a:cs typeface="Times New Roman" pitchFamily="18" charset="0"/>
              </a:rPr>
              <a:t>）非类型模板形参一般不用于函数模板。</a:t>
            </a:r>
          </a:p>
        </p:txBody>
      </p:sp>
    </p:spTree>
    <p:custDataLst>
      <p:tags r:id="rId1"/>
    </p:custDataLst>
    <p:extLst>
      <p:ext uri="{BB962C8B-B14F-4D97-AF65-F5344CB8AC3E}">
        <p14:creationId xmlns:p14="http://schemas.microsoft.com/office/powerpoint/2010/main" val="344778898"/>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6.4 </a:t>
            </a:r>
            <a:r>
              <a:rPr lang="zh-CN" altLang="en-US" sz="3200" b="1" dirty="0" smtClean="0">
                <a:solidFill>
                  <a:srgbClr val="1353A2"/>
                </a:solidFill>
                <a:latin typeface="微软雅黑" pitchFamily="34" charset="-122"/>
                <a:ea typeface="微软雅黑" pitchFamily="34" charset="-122"/>
              </a:rPr>
              <a:t>模板的参数</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432560" y="1330960"/>
            <a:ext cx="10231120" cy="4368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3</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模板</a:t>
            </a:r>
            <a:r>
              <a:rPr lang="zh-CN" altLang="zh-CN" sz="2400" dirty="0">
                <a:solidFill>
                  <a:srgbClr val="FF0000"/>
                </a:solidFill>
                <a:latin typeface="微软雅黑" pitchFamily="34" charset="-122"/>
                <a:ea typeface="微软雅黑" pitchFamily="34" charset="-122"/>
                <a:cs typeface="Times New Roman" pitchFamily="18" charset="0"/>
              </a:rPr>
              <a:t>形参</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模板</a:t>
            </a:r>
            <a:r>
              <a:rPr lang="zh-CN" altLang="zh-CN" sz="2400" dirty="0">
                <a:solidFill>
                  <a:schemeClr val="bg1">
                    <a:lumMod val="50000"/>
                  </a:schemeClr>
                </a:solidFill>
                <a:latin typeface="微软雅黑" pitchFamily="34" charset="-122"/>
                <a:ea typeface="微软雅黑" pitchFamily="34" charset="-122"/>
                <a:cs typeface="Times New Roman" pitchFamily="18" charset="0"/>
              </a:rPr>
              <a:t>形参就是模板的参数是另一个模板，其声明格式如下所示：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 template&lt;class U,class Z&gt; class A&gt;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Parameter{</a:t>
            </a:r>
            <a:r>
              <a:rPr lang="en-US" altLang="zh-CN" sz="1800" dirty="0">
                <a:solidFill>
                  <a:srgbClr val="00B0F0"/>
                </a:solidFill>
                <a:latin typeface="微软雅黑" pitchFamily="34" charset="-122"/>
                <a:ea typeface="微软雅黑" pitchFamily="34" charset="-122"/>
                <a:cs typeface="Times New Roman" pitchFamily="18" charset="0"/>
              </a:rPr>
              <a:t>	 </a:t>
            </a:r>
            <a:r>
              <a:rPr lang="en-US" altLang="zh-CN" sz="1800" dirty="0" smtClean="0">
                <a:solidFill>
                  <a:srgbClr val="00B0F0"/>
                </a:solidFill>
                <a:latin typeface="微软雅黑" pitchFamily="34" charset="-122"/>
                <a:ea typeface="微软雅黑" pitchFamily="34" charset="-122"/>
                <a:cs typeface="Times New Roman" pitchFamily="18" charset="0"/>
              </a:rPr>
              <a:t>  </a:t>
            </a:r>
            <a:r>
              <a:rPr lang="x-none" altLang="zh-CN" sz="1800" dirty="0" smtClean="0">
                <a:solidFill>
                  <a:srgbClr val="00B0F0"/>
                </a:solidFill>
                <a:latin typeface="微软雅黑" pitchFamily="34" charset="-122"/>
                <a:ea typeface="微软雅黑" pitchFamily="34" charset="-122"/>
                <a:cs typeface="Times New Roman" pitchFamily="18" charset="0"/>
              </a:rPr>
              <a:t>A&lt;T,T</a:t>
            </a:r>
            <a:r>
              <a:rPr lang="x-none" altLang="zh-CN" sz="1800" dirty="0">
                <a:solidFill>
                  <a:srgbClr val="00B0F0"/>
                </a:solidFill>
                <a:latin typeface="微软雅黑" pitchFamily="34" charset="-122"/>
                <a:ea typeface="微软雅黑" pitchFamily="34" charset="-122"/>
                <a:cs typeface="Times New Roman" pitchFamily="18" charset="0"/>
              </a:rPr>
              <a:t>&gt; a</a:t>
            </a:r>
            <a:r>
              <a:rPr lang="x-none" altLang="zh-CN" sz="1800" dirty="0" smtClean="0">
                <a:solidFill>
                  <a:srgbClr val="00B0F0"/>
                </a:solidFill>
                <a:latin typeface="微软雅黑" pitchFamily="34" charset="-122"/>
                <a:ea typeface="微软雅黑" pitchFamily="34" charset="-122"/>
                <a:cs typeface="Times New Roman" pitchFamily="18" charset="0"/>
              </a:rPr>
              <a:t>;</a:t>
            </a:r>
            <a:r>
              <a:rPr lang="en-US" altLang="zh-CN" sz="1800" dirty="0">
                <a:solidFill>
                  <a:srgbClr val="00B0F0"/>
                </a:solidFill>
                <a:latin typeface="微软雅黑" pitchFamily="34" charset="-122"/>
                <a:ea typeface="微软雅黑" pitchFamily="34" charset="-122"/>
                <a:cs typeface="Times New Roman" pitchFamily="18" charset="0"/>
              </a:rPr>
              <a:t> </a:t>
            </a:r>
            <a:r>
              <a:rPr lang="en-US" altLang="zh-CN" sz="1800" dirty="0" smtClean="0">
                <a:solidFill>
                  <a:srgbClr val="00B0F0"/>
                </a:solidFill>
                <a:latin typeface="微软雅黑" pitchFamily="34" charset="-122"/>
                <a:ea typeface="微软雅黑" pitchFamily="34" charset="-122"/>
                <a:cs typeface="Times New Roman" pitchFamily="18" charset="0"/>
              </a:rPr>
              <a:t> </a:t>
            </a:r>
            <a:r>
              <a:rPr lang="x-none" altLang="zh-CN" sz="1800" dirty="0" smtClean="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上述</a:t>
            </a:r>
            <a:r>
              <a:rPr lang="zh-CN" altLang="zh-CN" sz="2400" dirty="0">
                <a:solidFill>
                  <a:schemeClr val="bg1">
                    <a:lumMod val="50000"/>
                  </a:schemeClr>
                </a:solidFill>
                <a:latin typeface="微软雅黑" pitchFamily="34" charset="-122"/>
                <a:ea typeface="微软雅黑" pitchFamily="34" charset="-122"/>
                <a:cs typeface="Times New Roman" pitchFamily="18" charset="0"/>
              </a:rPr>
              <a:t>代码中声明的第二个模板参数就是一个类模板，注意，只有类模板可以作为模板参数，参数声明中的关键字</a:t>
            </a:r>
            <a:r>
              <a:rPr lang="en-US" altLang="zh-CN" sz="2400" dirty="0">
                <a:solidFill>
                  <a:schemeClr val="bg1">
                    <a:lumMod val="50000"/>
                  </a:schemeClr>
                </a:solidFill>
                <a:latin typeface="微软雅黑" pitchFamily="34" charset="-122"/>
                <a:ea typeface="微软雅黑" pitchFamily="34" charset="-122"/>
                <a:cs typeface="Times New Roman" pitchFamily="18" charset="0"/>
              </a:rPr>
              <a:t>class</a:t>
            </a:r>
            <a:r>
              <a:rPr lang="zh-CN" altLang="zh-CN" sz="2400" dirty="0">
                <a:solidFill>
                  <a:schemeClr val="bg1">
                    <a:lumMod val="50000"/>
                  </a:schemeClr>
                </a:solidFill>
                <a:latin typeface="微软雅黑" pitchFamily="34" charset="-122"/>
                <a:ea typeface="微软雅黑" pitchFamily="34" charset="-122"/>
                <a:cs typeface="Times New Roman" pitchFamily="18" charset="0"/>
              </a:rPr>
              <a:t>是必需的。模板参数使用的时候与一般参数没什么区别，不要拘泥于它的语法实现，只要记住可以使用模板作为模板的一个参数即可</a:t>
            </a:r>
          </a:p>
        </p:txBody>
      </p:sp>
    </p:spTree>
    <p:custDataLst>
      <p:tags r:id="rId1"/>
    </p:custDataLst>
    <p:extLst>
      <p:ext uri="{BB962C8B-B14F-4D97-AF65-F5344CB8AC3E}">
        <p14:creationId xmlns:p14="http://schemas.microsoft.com/office/powerpoint/2010/main" val="2901036687"/>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2123440" y="1503680"/>
            <a:ext cx="4399280" cy="389128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1</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偏</a:t>
            </a:r>
            <a:r>
              <a:rPr lang="zh-CN" altLang="zh-CN" sz="2400" dirty="0">
                <a:solidFill>
                  <a:srgbClr val="FF0000"/>
                </a:solidFill>
                <a:latin typeface="微软雅黑" pitchFamily="34" charset="-122"/>
                <a:ea typeface="微软雅黑" pitchFamily="34" charset="-122"/>
                <a:cs typeface="Times New Roman" pitchFamily="18" charset="0"/>
              </a:rPr>
              <a:t>特化</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偏</a:t>
            </a:r>
            <a:r>
              <a:rPr lang="zh-CN" altLang="zh-CN" sz="2400" dirty="0">
                <a:solidFill>
                  <a:schemeClr val="bg1">
                    <a:lumMod val="50000"/>
                  </a:schemeClr>
                </a:solidFill>
                <a:latin typeface="微软雅黑" pitchFamily="34" charset="-122"/>
                <a:ea typeface="微软雅黑" pitchFamily="34" charset="-122"/>
                <a:cs typeface="Times New Roman" pitchFamily="18" charset="0"/>
              </a:rPr>
              <a:t>特化就是模板中的模板参数没有被全部确定，需要编译器在编译时进行确定。例如，定义一个类模板，如下所示：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 class U&gt;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A{};</a:t>
            </a:r>
            <a:endParaRPr lang="zh-CN" altLang="zh-CN" sz="1800" dirty="0">
              <a:solidFill>
                <a:srgbClr val="00B0F0"/>
              </a:solidFill>
              <a:latin typeface="微软雅黑" pitchFamily="34" charset="-122"/>
              <a:ea typeface="微软雅黑" pitchFamily="34" charset="-122"/>
              <a:cs typeface="Times New Roman" pitchFamily="18" charset="0"/>
            </a:endParaRPr>
          </a:p>
        </p:txBody>
      </p:sp>
      <p:sp>
        <p:nvSpPr>
          <p:cNvPr id="7" name="内容占位符 2"/>
          <p:cNvSpPr txBox="1">
            <a:spLocks/>
          </p:cNvSpPr>
          <p:nvPr/>
        </p:nvSpPr>
        <p:spPr>
          <a:xfrm>
            <a:off x="7416800" y="2021840"/>
            <a:ext cx="3657600" cy="28448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将</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其中一个模板形参特化为</a:t>
            </a:r>
            <a:r>
              <a:rPr lang="en-US" altLang="zh-CN" sz="2400" dirty="0" err="1">
                <a:solidFill>
                  <a:schemeClr val="bg1">
                    <a:lumMod val="50000"/>
                  </a:schemeClr>
                </a:solidFill>
                <a:latin typeface="微软雅黑" pitchFamily="34" charset="-122"/>
                <a:ea typeface="微软雅黑" pitchFamily="34" charset="-122"/>
                <a:cs typeface="Times New Roman" pitchFamily="18" charset="0"/>
              </a:rPr>
              <a:t>int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类型，另一个参数由用户指定，示例代码如下：</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A&lt;T, int</a:t>
            </a:r>
            <a:r>
              <a:rPr lang="x-none" altLang="zh-CN" sz="1800" dirty="0" smtClean="0">
                <a:solidFill>
                  <a:srgbClr val="00B0F0"/>
                </a:solidFill>
                <a:latin typeface="微软雅黑" pitchFamily="34" charset="-122"/>
                <a:ea typeface="微软雅黑" pitchFamily="34" charset="-122"/>
                <a:cs typeface="Times New Roman" pitchFamily="18" charset="0"/>
              </a:rPr>
              <a:t>&gt;{};</a:t>
            </a:r>
            <a:endParaRPr lang="zh-CN" altLang="zh-CN" sz="1800" dirty="0">
              <a:solidFill>
                <a:srgbClr val="00B0F0"/>
              </a:solidFill>
              <a:latin typeface="微软雅黑" pitchFamily="34" charset="-122"/>
              <a:ea typeface="微软雅黑" pitchFamily="34" charset="-122"/>
              <a:cs typeface="Times New Roman" pitchFamily="18" charset="0"/>
            </a:endParaRPr>
          </a:p>
        </p:txBody>
      </p:sp>
    </p:spTree>
    <p:custDataLst>
      <p:tags r:id="rId1"/>
    </p:custDataLst>
    <p:extLst>
      <p:ext uri="{BB962C8B-B14F-4D97-AF65-F5344CB8AC3E}">
        <p14:creationId xmlns:p14="http://schemas.microsoft.com/office/powerpoint/2010/main" val="177504197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452880" y="1290320"/>
            <a:ext cx="10007600" cy="468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en-US" altLang="zh-CN" sz="2400" dirty="0" smtClean="0">
                <a:solidFill>
                  <a:srgbClr val="FF0000"/>
                </a:solidFill>
                <a:latin typeface="微软雅黑" pitchFamily="34" charset="-122"/>
                <a:ea typeface="微软雅黑" pitchFamily="34" charset="-122"/>
                <a:cs typeface="Times New Roman" pitchFamily="18" charset="0"/>
              </a:rPr>
              <a:t>2</a:t>
            </a:r>
            <a:r>
              <a:rPr lang="en-US" altLang="zh-CN" sz="2400" dirty="0">
                <a:solidFill>
                  <a:srgbClr val="FF0000"/>
                </a:solidFill>
                <a:latin typeface="微软雅黑" pitchFamily="34" charset="-122"/>
                <a:ea typeface="微软雅黑" pitchFamily="34" charset="-122"/>
                <a:cs typeface="Times New Roman" pitchFamily="18" charset="0"/>
              </a:rPr>
              <a:t>.</a:t>
            </a:r>
            <a:r>
              <a:rPr lang="zh-CN" altLang="zh-CN" sz="2400" dirty="0" smtClean="0">
                <a:solidFill>
                  <a:srgbClr val="FF0000"/>
                </a:solidFill>
                <a:latin typeface="微软雅黑" pitchFamily="34" charset="-122"/>
                <a:ea typeface="微软雅黑" pitchFamily="34" charset="-122"/>
                <a:cs typeface="Times New Roman" pitchFamily="18" charset="0"/>
              </a:rPr>
              <a:t>全</a:t>
            </a:r>
            <a:r>
              <a:rPr lang="zh-CN" altLang="zh-CN" sz="2400" dirty="0">
                <a:solidFill>
                  <a:srgbClr val="FF0000"/>
                </a:solidFill>
                <a:latin typeface="微软雅黑" pitchFamily="34" charset="-122"/>
                <a:ea typeface="微软雅黑" pitchFamily="34" charset="-122"/>
                <a:cs typeface="Times New Roman" pitchFamily="18" charset="0"/>
              </a:rPr>
              <a:t>特化</a:t>
            </a:r>
          </a:p>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全</a:t>
            </a:r>
            <a:r>
              <a:rPr lang="zh-CN" altLang="zh-CN" sz="2400" dirty="0">
                <a:solidFill>
                  <a:schemeClr val="bg1">
                    <a:lumMod val="50000"/>
                  </a:schemeClr>
                </a:solidFill>
                <a:latin typeface="微软雅黑" pitchFamily="34" charset="-122"/>
                <a:ea typeface="微软雅黑" pitchFamily="34" charset="-122"/>
                <a:cs typeface="Times New Roman" pitchFamily="18" charset="0"/>
              </a:rPr>
              <a:t>特化就是模板中的模板参数全部被指定为确定的类型，其标志就是产生出完全确定的东西。例如，有类模板定义，如下所示：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template&lt;class 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a:t>
            </a:r>
            <a:r>
              <a:rPr lang="x-none" altLang="zh-CN" sz="1800" dirty="0" smtClean="0">
                <a:solidFill>
                  <a:srgbClr val="00B0F0"/>
                </a:solidFill>
                <a:latin typeface="微软雅黑" pitchFamily="34" charset="-122"/>
                <a:ea typeface="微软雅黑" pitchFamily="34" charset="-122"/>
                <a:cs typeface="Times New Roman" pitchFamily="18" charset="0"/>
              </a:rPr>
              <a:t>Compare{</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bool isEqual(const T&amp; var1,const T&amp; var2</a:t>
            </a:r>
            <a:r>
              <a:rPr lang="x-none" altLang="zh-CN" sz="1800" dirty="0" smtClean="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return var1==var2;</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a:t>
            </a:r>
            <a:endParaRPr lang="zh-CN" altLang="zh-CN" sz="1800" dirty="0">
              <a:solidFill>
                <a:srgbClr val="00B0F0"/>
              </a:solidFill>
              <a:latin typeface="微软雅黑" pitchFamily="34" charset="-122"/>
              <a:ea typeface="微软雅黑" pitchFamily="34" charset="-122"/>
              <a:cs typeface="Times New Roman" pitchFamily="18" charset="0"/>
            </a:endParaRPr>
          </a:p>
        </p:txBody>
      </p:sp>
      <p:pic>
        <p:nvPicPr>
          <p:cNvPr id="294914" name="Picture 2" descr="http://file06.16sucai.com/2016/0121/cb45da719f3cf933d7ec97c58b11240c.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6317" y="3309302"/>
            <a:ext cx="3878098" cy="258349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75064581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par>
                          <p:cTn id="8" fill="hold">
                            <p:stCondLst>
                              <p:cond delay="500"/>
                            </p:stCondLst>
                            <p:childTnLst>
                              <p:par>
                                <p:cTn id="9" presetID="53" presetClass="entr" presetSubtype="16" fill="hold" nodeType="afterEffect">
                                  <p:stCondLst>
                                    <p:cond delay="0"/>
                                  </p:stCondLst>
                                  <p:childTnLst>
                                    <p:set>
                                      <p:cBhvr>
                                        <p:cTn id="10" dur="1" fill="hold">
                                          <p:stCondLst>
                                            <p:cond delay="0"/>
                                          </p:stCondLst>
                                        </p:cTn>
                                        <p:tgtEl>
                                          <p:spTgt spid="294914"/>
                                        </p:tgtEl>
                                        <p:attrNameLst>
                                          <p:attrName>style.visibility</p:attrName>
                                        </p:attrNameLst>
                                      </p:cBhvr>
                                      <p:to>
                                        <p:strVal val="visible"/>
                                      </p:to>
                                    </p:set>
                                    <p:anim calcmode="lin" valueType="num">
                                      <p:cBhvr>
                                        <p:cTn id="11" dur="500" fill="hold"/>
                                        <p:tgtEl>
                                          <p:spTgt spid="294914"/>
                                        </p:tgtEl>
                                        <p:attrNameLst>
                                          <p:attrName>ppt_w</p:attrName>
                                        </p:attrNameLst>
                                      </p:cBhvr>
                                      <p:tavLst>
                                        <p:tav tm="0">
                                          <p:val>
                                            <p:fltVal val="0"/>
                                          </p:val>
                                        </p:tav>
                                        <p:tav tm="100000">
                                          <p:val>
                                            <p:strVal val="#ppt_w"/>
                                          </p:val>
                                        </p:tav>
                                      </p:tavLst>
                                    </p:anim>
                                    <p:anim calcmode="lin" valueType="num">
                                      <p:cBhvr>
                                        <p:cTn id="12" dur="500" fill="hold"/>
                                        <p:tgtEl>
                                          <p:spTgt spid="294914"/>
                                        </p:tgtEl>
                                        <p:attrNameLst>
                                          <p:attrName>ppt_h</p:attrName>
                                        </p:attrNameLst>
                                      </p:cBhvr>
                                      <p:tavLst>
                                        <p:tav tm="0">
                                          <p:val>
                                            <p:fltVal val="0"/>
                                          </p:val>
                                        </p:tav>
                                        <p:tav tm="100000">
                                          <p:val>
                                            <p:strVal val="#ppt_h"/>
                                          </p:val>
                                        </p:tav>
                                      </p:tavLst>
                                    </p:anim>
                                    <p:animEffect transition="in" filter="fade">
                                      <p:cBhvr>
                                        <p:cTn id="13" dur="500"/>
                                        <p:tgtEl>
                                          <p:spTgt spid="2949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内容占位符 2"/>
          <p:cNvSpPr txBox="1">
            <a:spLocks/>
          </p:cNvSpPr>
          <p:nvPr/>
        </p:nvSpPr>
        <p:spPr>
          <a:xfrm>
            <a:off x="1899920" y="1290320"/>
            <a:ext cx="9652000" cy="468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将</a:t>
            </a:r>
            <a:r>
              <a:rPr lang="zh-CN" altLang="zh-CN" sz="2400" dirty="0">
                <a:solidFill>
                  <a:schemeClr val="bg1">
                    <a:lumMod val="50000"/>
                  </a:schemeClr>
                </a:solidFill>
                <a:latin typeface="微软雅黑" pitchFamily="34" charset="-122"/>
                <a:ea typeface="微软雅黑" pitchFamily="34" charset="-122"/>
                <a:cs typeface="Times New Roman" pitchFamily="18" charset="0"/>
              </a:rPr>
              <a:t>其特化为对</a:t>
            </a:r>
            <a:r>
              <a:rPr lang="en-US" altLang="zh-CN" sz="2400" dirty="0">
                <a:solidFill>
                  <a:schemeClr val="bg1">
                    <a:lumMod val="50000"/>
                  </a:schemeClr>
                </a:solidFill>
                <a:latin typeface="微软雅黑" pitchFamily="34" charset="-122"/>
                <a:ea typeface="微软雅黑" pitchFamily="34" charset="-122"/>
                <a:cs typeface="Times New Roman" pitchFamily="18" charset="0"/>
              </a:rPr>
              <a:t>float</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类型数据的比较，定义如下所示：</a:t>
            </a: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template&lt;&gt;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class Compare&lt;float</a:t>
            </a:r>
            <a:r>
              <a:rPr lang="x-none" altLang="zh-CN" sz="1800" dirty="0" smtClean="0">
                <a:solidFill>
                  <a:srgbClr val="00B0F0"/>
                </a:solidFill>
                <a:latin typeface="微软雅黑" pitchFamily="34" charset="-122"/>
                <a:ea typeface="微软雅黑" pitchFamily="34" charset="-122"/>
                <a:cs typeface="Times New Roman" pitchFamily="18" charset="0"/>
              </a:rPr>
              <a:t>&gt;{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public:</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bool IsEqual(const float&amp; var1,const float&amp; var2</a:t>
            </a:r>
            <a:r>
              <a:rPr lang="x-none" altLang="zh-CN" sz="1800" dirty="0" smtClean="0">
                <a:solidFill>
                  <a:srgbClr val="00B0F0"/>
                </a:solidFill>
                <a:latin typeface="微软雅黑" pitchFamily="34" charset="-122"/>
                <a:ea typeface="微软雅黑" pitchFamily="34" charset="-122"/>
                <a:cs typeface="Times New Roman" pitchFamily="18" charset="0"/>
              </a:rPr>
              <a:t>){</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return abs(var1–var2)&lt;10e-3;</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x-none" altLang="zh-CN" sz="1800" dirty="0">
                <a:solidFill>
                  <a:srgbClr val="00B0F0"/>
                </a:solidFill>
                <a:latin typeface="微软雅黑" pitchFamily="34" charset="-122"/>
                <a:ea typeface="微软雅黑" pitchFamily="34" charset="-122"/>
                <a:cs typeface="Times New Roman" pitchFamily="18" charset="0"/>
              </a:rPr>
              <a:t> };</a:t>
            </a:r>
            <a:endParaRPr lang="zh-CN" altLang="zh-CN" sz="1800" dirty="0">
              <a:solidFill>
                <a:srgbClr val="00B0F0"/>
              </a:solidFill>
              <a:latin typeface="微软雅黑" pitchFamily="34" charset="-122"/>
              <a:ea typeface="微软雅黑" pitchFamily="34" charset="-122"/>
              <a:cs typeface="Times New Roman" pitchFamily="18" charset="0"/>
            </a:endParaRPr>
          </a:p>
          <a:p>
            <a:pPr marL="0" indent="0" eaLnBrk="1" hangingPunct="1">
              <a:lnSpc>
                <a:spcPct val="150000"/>
              </a:lnSpc>
              <a:spcBef>
                <a:spcPct val="0"/>
              </a:spcBef>
              <a:buNone/>
              <a:defRPr/>
            </a:pPr>
            <a:r>
              <a:rPr lang="zh-CN" altLang="zh-CN" sz="2400" dirty="0">
                <a:solidFill>
                  <a:schemeClr val="bg1">
                    <a:lumMod val="50000"/>
                  </a:schemeClr>
                </a:solidFill>
                <a:latin typeface="微软雅黑" pitchFamily="34" charset="-122"/>
                <a:ea typeface="微软雅黑" pitchFamily="34" charset="-122"/>
                <a:cs typeface="Times New Roman" pitchFamily="18" charset="0"/>
              </a:rPr>
              <a:t>上述定义中</a:t>
            </a:r>
            <a:r>
              <a:rPr lang="en-US" altLang="zh-CN" sz="2400" dirty="0">
                <a:solidFill>
                  <a:schemeClr val="bg1">
                    <a:lumMod val="50000"/>
                  </a:schemeClr>
                </a:solidFill>
                <a:latin typeface="微软雅黑" pitchFamily="34" charset="-122"/>
                <a:ea typeface="微软雅黑" pitchFamily="34" charset="-122"/>
                <a:cs typeface="Times New Roman" pitchFamily="18" charset="0"/>
              </a:rPr>
              <a:t>template&lt;&gt;</a:t>
            </a:r>
            <a:r>
              <a:rPr lang="zh-CN" altLang="zh-CN" sz="2400" dirty="0">
                <a:solidFill>
                  <a:schemeClr val="bg1">
                    <a:lumMod val="50000"/>
                  </a:schemeClr>
                </a:solidFill>
                <a:latin typeface="微软雅黑" pitchFamily="34" charset="-122"/>
                <a:ea typeface="微软雅黑" pitchFamily="34" charset="-122"/>
                <a:cs typeface="Times New Roman" pitchFamily="18" charset="0"/>
              </a:rPr>
              <a:t>就是告诉编译器这是一个特化的模板，模板特化之后就可以处理特殊情况，需要注意的是函数模板支持全特化。</a:t>
            </a:r>
          </a:p>
        </p:txBody>
      </p:sp>
    </p:spTree>
    <p:custDataLst>
      <p:tags r:id="rId1"/>
    </p:custDataLst>
    <p:extLst>
      <p:ext uri="{BB962C8B-B14F-4D97-AF65-F5344CB8AC3E}">
        <p14:creationId xmlns:p14="http://schemas.microsoft.com/office/powerpoint/2010/main" val="38766873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991360" y="1252785"/>
            <a:ext cx="9083040" cy="5026095"/>
            <a:chOff x="1971040" y="1252785"/>
            <a:chExt cx="9083040" cy="5026095"/>
          </a:xfrm>
        </p:grpSpPr>
        <p:pic>
          <p:nvPicPr>
            <p:cNvPr id="299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1040" y="1259840"/>
              <a:ext cx="9083040" cy="5019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590800" y="1252785"/>
              <a:ext cx="8168640" cy="46837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smtClean="0">
                  <a:solidFill>
                    <a:srgbClr val="FF0000"/>
                  </a:solidFill>
                  <a:latin typeface="微软雅黑" pitchFamily="34" charset="-122"/>
                  <a:ea typeface="微软雅黑" pitchFamily="34" charset="-122"/>
                  <a:cs typeface="Times New Roman" pitchFamily="18" charset="0"/>
                </a:rPr>
                <a:t>//</a:t>
              </a:r>
              <a:r>
                <a:rPr lang="zh-CN" altLang="en-US" sz="1800" dirty="0" smtClean="0">
                  <a:solidFill>
                    <a:srgbClr val="FF0000"/>
                  </a:solidFill>
                  <a:latin typeface="微软雅黑" pitchFamily="34" charset="-122"/>
                  <a:ea typeface="微软雅黑" pitchFamily="34" charset="-122"/>
                  <a:cs typeface="Times New Roman" pitchFamily="18" charset="0"/>
                </a:rPr>
                <a:t>例</a:t>
              </a:r>
              <a:r>
                <a:rPr lang="en-US" altLang="zh-CN" sz="1800" dirty="0" smtClean="0">
                  <a:solidFill>
                    <a:srgbClr val="FF0000"/>
                  </a:solidFill>
                  <a:latin typeface="微软雅黑" pitchFamily="34" charset="-122"/>
                  <a:ea typeface="微软雅黑" pitchFamily="34" charset="-122"/>
                  <a:cs typeface="Times New Roman" pitchFamily="18" charset="0"/>
                </a:rPr>
                <a:t>6-9     specTemplate.cpp</a:t>
              </a: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T&gt;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bool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(T t1, T t2){return t1 == t2;}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template&lt;&gt;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p>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bool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(char* s1, char* s2</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return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strcmp</a:t>
              </a:r>
              <a:r>
                <a:rPr lang="en-US" altLang="zh-CN" sz="1800" dirty="0">
                  <a:solidFill>
                    <a:schemeClr val="bg1">
                      <a:lumMod val="50000"/>
                    </a:schemeClr>
                  </a:solidFill>
                  <a:latin typeface="微软雅黑" pitchFamily="34" charset="-122"/>
                  <a:ea typeface="微软雅黑" pitchFamily="34" charset="-122"/>
                  <a:cs typeface="Times New Roman" pitchFamily="18" charset="0"/>
                </a:rPr>
                <a:t>(s1, s2) == 0</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template&lt;class </a:t>
              </a:r>
              <a:r>
                <a:rPr lang="en-US" altLang="zh-CN" sz="1800" dirty="0">
                  <a:solidFill>
                    <a:schemeClr val="bg1">
                      <a:lumMod val="50000"/>
                    </a:schemeClr>
                  </a:solidFill>
                  <a:latin typeface="微软雅黑" pitchFamily="34" charset="-122"/>
                  <a:ea typeface="微软雅黑" pitchFamily="34" charset="-122"/>
                  <a:cs typeface="Times New Roman" pitchFamily="18" charset="0"/>
                </a:rPr>
                <a:t>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Compare{</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bool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(T t1, T t2){return t1 == t2</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template</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class Compare&lt;char</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*&gt;{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public:</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bool</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(char* s1, char* s2){return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strcmp</a:t>
              </a:r>
              <a:r>
                <a:rPr lang="en-US" altLang="zh-CN" sz="1800" dirty="0">
                  <a:solidFill>
                    <a:schemeClr val="bg1">
                      <a:lumMod val="50000"/>
                    </a:schemeClr>
                  </a:solidFill>
                  <a:latin typeface="微软雅黑" pitchFamily="34" charset="-122"/>
                  <a:ea typeface="微软雅黑" pitchFamily="34" charset="-122"/>
                  <a:cs typeface="Times New Roman" pitchFamily="18" charset="0"/>
                </a:rPr>
                <a:t>(s1, s2) == 0</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256650593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5" name="组合 4"/>
          <p:cNvGrpSpPr/>
          <p:nvPr/>
        </p:nvGrpSpPr>
        <p:grpSpPr>
          <a:xfrm>
            <a:off x="1991360" y="1229360"/>
            <a:ext cx="9265920" cy="5100320"/>
            <a:chOff x="2001520" y="1229360"/>
            <a:chExt cx="9265920" cy="5100320"/>
          </a:xfrm>
        </p:grpSpPr>
        <p:pic>
          <p:nvPicPr>
            <p:cNvPr id="30003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1520" y="1229360"/>
              <a:ext cx="9265920" cy="510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内容占位符 2"/>
            <p:cNvSpPr txBox="1">
              <a:spLocks/>
            </p:cNvSpPr>
            <p:nvPr/>
          </p:nvSpPr>
          <p:spPr>
            <a:xfrm>
              <a:off x="2570480" y="1229360"/>
              <a:ext cx="8148320" cy="502920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lvl="0" indent="0" eaLnBrk="1" hangingPunct="1">
                <a:lnSpc>
                  <a:spcPct val="150000"/>
                </a:lnSpc>
                <a:spcBef>
                  <a:spcPct val="0"/>
                </a:spcBef>
                <a:buNone/>
                <a:defRPr/>
              </a:pP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main</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char </a:t>
              </a:r>
              <a:r>
                <a:rPr lang="en-US" altLang="zh-CN" sz="1800" dirty="0">
                  <a:solidFill>
                    <a:schemeClr val="bg1">
                      <a:lumMod val="50000"/>
                    </a:schemeClr>
                  </a:solidFill>
                  <a:latin typeface="微软雅黑" pitchFamily="34" charset="-122"/>
                  <a:ea typeface="微软雅黑" pitchFamily="34" charset="-122"/>
                  <a:cs typeface="Times New Roman" pitchFamily="18" charset="0"/>
                </a:rPr>
                <a:t>str1[] =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abc</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char </a:t>
              </a:r>
              <a:r>
                <a:rPr lang="en-US" altLang="zh-CN" sz="1800" dirty="0">
                  <a:solidFill>
                    <a:schemeClr val="bg1">
                      <a:lumMod val="50000"/>
                    </a:schemeClr>
                  </a:solidFill>
                  <a:latin typeface="微软雅黑" pitchFamily="34" charset="-122"/>
                  <a:ea typeface="微软雅黑" pitchFamily="34" charset="-122"/>
                  <a:cs typeface="Times New Roman" pitchFamily="18" charset="0"/>
                </a:rPr>
                <a:t>str2[] =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abc</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函数模板和函数模板特化</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(1, 3)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IsEqual</a:t>
              </a:r>
              <a:r>
                <a:rPr lang="en-US" altLang="zh-CN" sz="1800" dirty="0">
                  <a:solidFill>
                    <a:schemeClr val="bg1">
                      <a:lumMod val="50000"/>
                    </a:schemeClr>
                  </a:solidFill>
                  <a:latin typeface="微软雅黑" pitchFamily="34" charset="-122"/>
                  <a:ea typeface="微软雅黑" pitchFamily="34" charset="-122"/>
                  <a:cs typeface="Times New Roman" pitchFamily="18" charset="0"/>
                </a:rPr>
                <a:t>(str1, str2)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调用特化的函数模板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Compare&lt;</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int</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c1;</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Compare&lt;char</a:t>
              </a:r>
              <a:r>
                <a:rPr lang="en-US" altLang="zh-CN" sz="1800" dirty="0">
                  <a:solidFill>
                    <a:schemeClr val="bg1">
                      <a:lumMod val="50000"/>
                    </a:schemeClr>
                  </a:solidFill>
                  <a:latin typeface="微软雅黑" pitchFamily="34" charset="-122"/>
                  <a:ea typeface="微软雅黑" pitchFamily="34" charset="-122"/>
                  <a:cs typeface="Times New Roman" pitchFamily="18" charset="0"/>
                </a:rPr>
                <a:t>*&gt; c2;</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类模板和类模板特化</a:t>
              </a:r>
              <a:r>
                <a:rPr lang="en-US" altLang="zh-CN" sz="1800" dirty="0">
                  <a:solidFill>
                    <a:schemeClr val="bg1">
                      <a:lumMod val="50000"/>
                    </a:schemeClr>
                  </a:solidFill>
                  <a:latin typeface="微软雅黑" pitchFamily="34" charset="-122"/>
                  <a:ea typeface="微软雅黑" pitchFamily="34" charset="-122"/>
                  <a:cs typeface="Times New Roman" pitchFamily="18" charset="0"/>
                </a:rPr>
                <a:t>"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c1.IsEqual(1.2, 3.4)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调用类模板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err="1" smtClean="0">
                  <a:solidFill>
                    <a:schemeClr val="bg1">
                      <a:lumMod val="50000"/>
                    </a:schemeClr>
                  </a:solidFill>
                  <a:latin typeface="微软雅黑" pitchFamily="34" charset="-122"/>
                  <a:ea typeface="微软雅黑" pitchFamily="34" charset="-122"/>
                  <a:cs typeface="Times New Roman" pitchFamily="18" charset="0"/>
                </a:rPr>
                <a:t>cout</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a:solidFill>
                    <a:schemeClr val="bg1">
                      <a:lumMod val="50000"/>
                    </a:schemeClr>
                  </a:solidFill>
                  <a:latin typeface="微软雅黑" pitchFamily="34" charset="-122"/>
                  <a:ea typeface="微软雅黑" pitchFamily="34" charset="-122"/>
                  <a:cs typeface="Times New Roman" pitchFamily="18" charset="0"/>
                </a:rPr>
                <a:t>&lt;&lt; c2.IsEqual(str1, str2) &lt;&lt; </a:t>
              </a:r>
              <a:r>
                <a:rPr lang="en-US" altLang="zh-CN" sz="1800" dirty="0" err="1">
                  <a:solidFill>
                    <a:schemeClr val="bg1">
                      <a:lumMod val="50000"/>
                    </a:schemeClr>
                  </a:solidFill>
                  <a:latin typeface="微软雅黑" pitchFamily="34" charset="-122"/>
                  <a:ea typeface="微软雅黑" pitchFamily="34" charset="-122"/>
                  <a:cs typeface="Times New Roman" pitchFamily="18" charset="0"/>
                </a:rPr>
                <a:t>endl</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zh-CN" altLang="zh-CN" sz="1800" dirty="0">
                  <a:solidFill>
                    <a:schemeClr val="bg1">
                      <a:lumMod val="50000"/>
                    </a:schemeClr>
                  </a:solidFill>
                  <a:latin typeface="微软雅黑" pitchFamily="34" charset="-122"/>
                  <a:ea typeface="微软雅黑" pitchFamily="34" charset="-122"/>
                  <a:cs typeface="Times New Roman" pitchFamily="18" charset="0"/>
                </a:rPr>
                <a:t>调用特化的类模板</a:t>
              </a:r>
            </a:p>
            <a:p>
              <a:pPr marL="0" lvl="0" indent="0" eaLnBrk="1" hangingPunct="1">
                <a:lnSpc>
                  <a:spcPct val="150000"/>
                </a:lnSpc>
                <a:spcBef>
                  <a:spcPct val="0"/>
                </a:spcBef>
                <a:buNone/>
                <a:defRPr/>
              </a:pP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return </a:t>
              </a:r>
              <a:r>
                <a:rPr lang="en-US" altLang="zh-CN" sz="1800" dirty="0">
                  <a:solidFill>
                    <a:schemeClr val="bg1">
                      <a:lumMod val="50000"/>
                    </a:schemeClr>
                  </a:solidFill>
                  <a:latin typeface="微软雅黑" pitchFamily="34" charset="-122"/>
                  <a:ea typeface="微软雅黑" pitchFamily="34" charset="-122"/>
                  <a:cs typeface="Times New Roman" pitchFamily="18" charset="0"/>
                </a:rPr>
                <a:t>0</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a:t>
              </a:r>
              <a:r>
                <a:rPr lang="en-US" altLang="zh-CN" sz="1800" dirty="0">
                  <a:solidFill>
                    <a:schemeClr val="bg1">
                      <a:lumMod val="50000"/>
                    </a:schemeClr>
                  </a:solidFill>
                  <a:latin typeface="微软雅黑" pitchFamily="34" charset="-122"/>
                  <a:ea typeface="微软雅黑" pitchFamily="34" charset="-122"/>
                  <a:cs typeface="Times New Roman" pitchFamily="18" charset="0"/>
                </a:rPr>
                <a:t> </a:t>
              </a:r>
              <a:r>
                <a:rPr lang="en-US" altLang="zh-CN" sz="1800" dirty="0" smtClean="0">
                  <a:solidFill>
                    <a:schemeClr val="bg1">
                      <a:lumMod val="50000"/>
                    </a:schemeClr>
                  </a:solidFill>
                  <a:latin typeface="微软雅黑" pitchFamily="34" charset="-122"/>
                  <a:ea typeface="微软雅黑" pitchFamily="34" charset="-122"/>
                  <a:cs typeface="Times New Roman" pitchFamily="18" charset="0"/>
                </a:rPr>
                <a:t> }</a:t>
              </a:r>
              <a:endParaRPr lang="zh-CN" altLang="zh-CN" sz="1800" dirty="0">
                <a:solidFill>
                  <a:schemeClr val="bg1">
                    <a:lumMod val="50000"/>
                  </a:schemeClr>
                </a:solidFill>
                <a:latin typeface="微软雅黑" pitchFamily="34" charset="-122"/>
                <a:ea typeface="微软雅黑" pitchFamily="34" charset="-122"/>
                <a:cs typeface="Times New Roman" pitchFamily="18" charset="0"/>
              </a:endParaRPr>
            </a:p>
          </p:txBody>
        </p:sp>
      </p:grpSp>
    </p:spTree>
    <p:custDataLst>
      <p:tags r:id="rId1"/>
    </p:custDataLst>
    <p:extLst>
      <p:ext uri="{BB962C8B-B14F-4D97-AF65-F5344CB8AC3E}">
        <p14:creationId xmlns:p14="http://schemas.microsoft.com/office/powerpoint/2010/main" val="379134076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1398" y="501700"/>
            <a:ext cx="3357882" cy="584775"/>
          </a:xfrm>
          <a:prstGeom prst="rect">
            <a:avLst/>
          </a:prstGeom>
          <a:noFill/>
          <a:effectLst>
            <a:reflection blurRad="6350" stA="50000" endA="300" endPos="38500" dist="50800" dir="5400000" sy="-100000" algn="bl" rotWithShape="0"/>
          </a:effectLst>
        </p:spPr>
        <p:txBody>
          <a:bodyPr wrap="square" rtlCol="0">
            <a:spAutoFit/>
          </a:bodyPr>
          <a:lstStyle/>
          <a:p>
            <a:pPr marL="0" algn="l" defTabSz="914400" rtl="0" eaLnBrk="1" latinLnBrk="0" hangingPunct="1"/>
            <a:r>
              <a:rPr lang="en-US" altLang="zh-CN" sz="3200" b="1" dirty="0" smtClean="0">
                <a:solidFill>
                  <a:srgbClr val="1353A2"/>
                </a:solidFill>
                <a:latin typeface="微软雅黑" pitchFamily="34" charset="-122"/>
                <a:ea typeface="微软雅黑" pitchFamily="34" charset="-122"/>
              </a:rPr>
              <a:t>6.5 </a:t>
            </a:r>
            <a:r>
              <a:rPr lang="zh-CN" altLang="en-US" sz="3200" b="1" dirty="0" smtClean="0">
                <a:solidFill>
                  <a:srgbClr val="1353A2"/>
                </a:solidFill>
                <a:latin typeface="微软雅黑" pitchFamily="34" charset="-122"/>
                <a:ea typeface="微软雅黑" pitchFamily="34" charset="-122"/>
              </a:rPr>
              <a:t>模板特化</a:t>
            </a:r>
            <a:endParaRPr lang="zh-CN" altLang="en-US" sz="3200" b="1" kern="1200" dirty="0">
              <a:solidFill>
                <a:srgbClr val="1353A2"/>
              </a:solidFill>
              <a:latin typeface="微软雅黑" pitchFamily="34" charset="-122"/>
              <a:ea typeface="微软雅黑" pitchFamily="34" charset="-122"/>
            </a:endParaRPr>
          </a:p>
        </p:txBody>
      </p:sp>
      <p:sp>
        <p:nvSpPr>
          <p:cNvPr id="2" name="AutoShape 2" descr="http://img1.imgtn.bdimg.com/it/u=204320028,8906683&amp;fm=26&amp;gp=0.jp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204320028,8906683&amp;fm=26&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7" descr="http://img0.imgtn.bdimg.com/it/u=1390481760,3395835538&amp;fm=26&amp;gp=0.jp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内容占位符 2"/>
          <p:cNvSpPr txBox="1">
            <a:spLocks/>
          </p:cNvSpPr>
          <p:nvPr/>
        </p:nvSpPr>
        <p:spPr>
          <a:xfrm>
            <a:off x="5527040" y="1869440"/>
            <a:ext cx="5547360" cy="3058160"/>
          </a:xfrm>
          <a:prstGeom prst="rect">
            <a:avLst/>
          </a:prstGeom>
        </p:spPr>
        <p:txBody>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a:lstStyle>
          <a:p>
            <a:pPr marL="0" indent="0" eaLnBrk="1" hangingPunct="1">
              <a:lnSpc>
                <a:spcPct val="150000"/>
              </a:lnSpc>
              <a:spcBef>
                <a:spcPct val="0"/>
              </a:spcBef>
              <a:buNone/>
              <a:defRPr/>
            </a:pPr>
            <a:r>
              <a:rPr lang="zh-CN" altLang="zh-CN" sz="2400" dirty="0" smtClean="0">
                <a:solidFill>
                  <a:schemeClr val="bg1">
                    <a:lumMod val="50000"/>
                  </a:schemeClr>
                </a:solidFill>
                <a:latin typeface="微软雅黑" pitchFamily="34" charset="-122"/>
                <a:ea typeface="微软雅黑" pitchFamily="34" charset="-122"/>
                <a:cs typeface="Times New Roman" pitchFamily="18" charset="0"/>
              </a:rPr>
              <a:t>分别</a:t>
            </a:r>
            <a:r>
              <a:rPr lang="zh-CN" altLang="zh-CN" sz="2400" dirty="0">
                <a:solidFill>
                  <a:schemeClr val="bg1">
                    <a:lumMod val="50000"/>
                  </a:schemeClr>
                </a:solidFill>
                <a:latin typeface="微软雅黑" pitchFamily="34" charset="-122"/>
                <a:ea typeface="微软雅黑" pitchFamily="34" charset="-122"/>
                <a:cs typeface="Times New Roman" pitchFamily="18" charset="0"/>
              </a:rPr>
              <a:t>定义了相同功能的函数模板和类模板，然后将两种模板都特化为</a:t>
            </a:r>
            <a:r>
              <a:rPr lang="en-US" altLang="zh-CN" sz="2400" dirty="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类型，当用</a:t>
            </a:r>
            <a:r>
              <a:rPr lang="en-US" altLang="zh-CN" sz="2400" dirty="0">
                <a:solidFill>
                  <a:schemeClr val="bg1">
                    <a:lumMod val="50000"/>
                  </a:schemeClr>
                </a:solidFill>
                <a:latin typeface="微软雅黑" pitchFamily="34" charset="-122"/>
                <a:ea typeface="微软雅黑" pitchFamily="34" charset="-122"/>
                <a:cs typeface="Times New Roman" pitchFamily="18" charset="0"/>
              </a:rPr>
              <a:t>1</a:t>
            </a:r>
            <a:r>
              <a:rPr lang="zh-CN" altLang="zh-CN" sz="2400" dirty="0">
                <a:solidFill>
                  <a:schemeClr val="bg1">
                    <a:lumMod val="50000"/>
                  </a:schemeClr>
                </a:solidFill>
                <a:latin typeface="微软雅黑" pitchFamily="34" charset="-122"/>
                <a:ea typeface="微软雅黑" pitchFamily="34" charset="-122"/>
                <a:cs typeface="Times New Roman" pitchFamily="18" charset="0"/>
              </a:rPr>
              <a:t>、</a:t>
            </a:r>
            <a:r>
              <a:rPr lang="en-US" altLang="zh-CN" sz="2400" dirty="0">
                <a:solidFill>
                  <a:schemeClr val="bg1">
                    <a:lumMod val="50000"/>
                  </a:schemeClr>
                </a:solidFill>
                <a:latin typeface="微软雅黑" pitchFamily="34" charset="-122"/>
                <a:ea typeface="微软雅黑" pitchFamily="34" charset="-122"/>
                <a:cs typeface="Times New Roman" pitchFamily="18" charset="0"/>
              </a:rPr>
              <a:t>3</a:t>
            </a:r>
            <a:r>
              <a:rPr lang="zh-CN" altLang="zh-CN" sz="2400" dirty="0">
                <a:solidFill>
                  <a:schemeClr val="bg1">
                    <a:lumMod val="50000"/>
                  </a:schemeClr>
                </a:solidFill>
                <a:latin typeface="微软雅黑" pitchFamily="34" charset="-122"/>
                <a:ea typeface="微软雅黑" pitchFamily="34" charset="-122"/>
                <a:cs typeface="Times New Roman" pitchFamily="18" charset="0"/>
              </a:rPr>
              <a:t>变量调用时，都是调用的模板，当传入</a:t>
            </a:r>
            <a:r>
              <a:rPr lang="en-US" altLang="zh-CN" sz="2400" dirty="0">
                <a:solidFill>
                  <a:schemeClr val="bg1">
                    <a:lumMod val="50000"/>
                  </a:schemeClr>
                </a:solidFill>
                <a:latin typeface="微软雅黑" pitchFamily="34" charset="-122"/>
                <a:ea typeface="微软雅黑" pitchFamily="34" charset="-122"/>
                <a:cs typeface="Times New Roman" pitchFamily="18" charset="0"/>
              </a:rPr>
              <a:t>char*</a:t>
            </a:r>
            <a:r>
              <a:rPr lang="zh-CN" altLang="zh-CN" sz="2400" dirty="0">
                <a:solidFill>
                  <a:schemeClr val="bg1">
                    <a:lumMod val="50000"/>
                  </a:schemeClr>
                </a:solidFill>
                <a:latin typeface="微软雅黑" pitchFamily="34" charset="-122"/>
                <a:ea typeface="微软雅黑" pitchFamily="34" charset="-122"/>
                <a:cs typeface="Times New Roman" pitchFamily="18" charset="0"/>
              </a:rPr>
              <a:t>类型的</a:t>
            </a:r>
            <a:r>
              <a:rPr lang="en-US" altLang="zh-CN" sz="2400" dirty="0">
                <a:solidFill>
                  <a:schemeClr val="bg1">
                    <a:lumMod val="50000"/>
                  </a:schemeClr>
                </a:solidFill>
                <a:latin typeface="微软雅黑" pitchFamily="34" charset="-122"/>
                <a:ea typeface="微软雅黑" pitchFamily="34" charset="-122"/>
                <a:cs typeface="Times New Roman" pitchFamily="18" charset="0"/>
              </a:rPr>
              <a:t>str1</a:t>
            </a:r>
            <a:r>
              <a:rPr lang="zh-CN" altLang="zh-CN" sz="2400" dirty="0">
                <a:solidFill>
                  <a:schemeClr val="bg1">
                    <a:lumMod val="50000"/>
                  </a:schemeClr>
                </a:solidFill>
                <a:latin typeface="微软雅黑" pitchFamily="34" charset="-122"/>
                <a:ea typeface="微软雅黑" pitchFamily="34" charset="-122"/>
                <a:cs typeface="Times New Roman" pitchFamily="18" charset="0"/>
              </a:rPr>
              <a:t>与</a:t>
            </a:r>
            <a:r>
              <a:rPr lang="en-US" altLang="zh-CN" sz="2400" dirty="0">
                <a:solidFill>
                  <a:schemeClr val="bg1">
                    <a:lumMod val="50000"/>
                  </a:schemeClr>
                </a:solidFill>
                <a:latin typeface="微软雅黑" pitchFamily="34" charset="-122"/>
                <a:ea typeface="微软雅黑" pitchFamily="34" charset="-122"/>
                <a:cs typeface="Times New Roman" pitchFamily="18" charset="0"/>
              </a:rPr>
              <a:t>str2</a:t>
            </a:r>
            <a:r>
              <a:rPr lang="zh-CN" altLang="zh-CN" sz="2400" dirty="0">
                <a:solidFill>
                  <a:schemeClr val="bg1">
                    <a:lumMod val="50000"/>
                  </a:schemeClr>
                </a:solidFill>
                <a:latin typeface="微软雅黑" pitchFamily="34" charset="-122"/>
                <a:ea typeface="微软雅黑" pitchFamily="34" charset="-122"/>
                <a:cs typeface="Times New Roman" pitchFamily="18" charset="0"/>
              </a:rPr>
              <a:t>时，都调用了特化了的模板。</a:t>
            </a:r>
          </a:p>
        </p:txBody>
      </p:sp>
      <p:pic>
        <p:nvPicPr>
          <p:cNvPr id="3010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27981" y="1434646"/>
            <a:ext cx="3438843" cy="3866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57314941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01058"/>
                                        </p:tgtEl>
                                        <p:attrNameLst>
                                          <p:attrName>style.visibility</p:attrName>
                                        </p:attrNameLst>
                                      </p:cBhvr>
                                      <p:to>
                                        <p:strVal val="visible"/>
                                      </p:to>
                                    </p:set>
                                    <p:animEffect transition="in" filter="fade">
                                      <p:cBhvr>
                                        <p:cTn id="7" dur="1000"/>
                                        <p:tgtEl>
                                          <p:spTgt spid="301058"/>
                                        </p:tgtEl>
                                      </p:cBhvr>
                                    </p:animEffect>
                                    <p:anim calcmode="lin" valueType="num">
                                      <p:cBhvr>
                                        <p:cTn id="8" dur="1000" fill="hold"/>
                                        <p:tgtEl>
                                          <p:spTgt spid="301058"/>
                                        </p:tgtEl>
                                        <p:attrNameLst>
                                          <p:attrName>ppt_x</p:attrName>
                                        </p:attrNameLst>
                                      </p:cBhvr>
                                      <p:tavLst>
                                        <p:tav tm="0">
                                          <p:val>
                                            <p:strVal val="#ppt_x"/>
                                          </p:val>
                                        </p:tav>
                                        <p:tav tm="100000">
                                          <p:val>
                                            <p:strVal val="#ppt_x"/>
                                          </p:val>
                                        </p:tav>
                                      </p:tavLst>
                                    </p:anim>
                                    <p:anim calcmode="lin" valueType="num">
                                      <p:cBhvr>
                                        <p:cTn id="9" dur="1000" fill="hold"/>
                                        <p:tgtEl>
                                          <p:spTgt spid="30105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1"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up)">
                                      <p:cBhvr>
                                        <p:cTn id="1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Box 1"/>
          <p:cNvSpPr txBox="1"/>
          <p:nvPr/>
        </p:nvSpPr>
        <p:spPr>
          <a:xfrm>
            <a:off x="2319338" y="500143"/>
            <a:ext cx="5903119" cy="584776"/>
          </a:xfrm>
          <a:prstGeom prst="rect">
            <a:avLst/>
          </a:prstGeom>
          <a:noFill/>
          <a:effectLst>
            <a:reflection blurRad="6350" stA="50000" endA="300" endPos="38500" dist="50800" dir="5400000" sy="-100000" algn="bl" rotWithShape="0"/>
          </a:effectLst>
        </p:spPr>
        <p:txBody>
          <a:bodyPr wrap="square" rtlCol="0">
            <a:spAutoFit/>
          </a:bodyPr>
          <a:lstStyle/>
          <a:p>
            <a:r>
              <a:rPr lang="en-US" altLang="zh-CN" sz="3200" b="1" dirty="0" smtClean="0">
                <a:solidFill>
                  <a:srgbClr val="1353A2"/>
                </a:solidFill>
                <a:latin typeface="微软雅黑" pitchFamily="34" charset="-122"/>
                <a:ea typeface="微软雅黑" pitchFamily="34" charset="-122"/>
              </a:rPr>
              <a:t>6.6 </a:t>
            </a:r>
            <a:r>
              <a:rPr lang="zh-CN" altLang="en-US" sz="3200" b="1" dirty="0" smtClean="0">
                <a:solidFill>
                  <a:srgbClr val="1353A2"/>
                </a:solidFill>
                <a:latin typeface="微软雅黑" pitchFamily="34" charset="-122"/>
                <a:ea typeface="微软雅黑" pitchFamily="34" charset="-122"/>
              </a:rPr>
              <a:t>本章小结</a:t>
            </a:r>
            <a:endParaRPr lang="zh-CN" altLang="en-US" sz="3200" b="1" dirty="0">
              <a:solidFill>
                <a:srgbClr val="1353A2"/>
              </a:solidFill>
              <a:latin typeface="微软雅黑" pitchFamily="34" charset="-122"/>
              <a:ea typeface="微软雅黑" pitchFamily="34" charset="-122"/>
            </a:endParaRPr>
          </a:p>
        </p:txBody>
      </p:sp>
      <p:sp>
        <p:nvSpPr>
          <p:cNvPr id="67" name="矩形 66"/>
          <p:cNvSpPr/>
          <p:nvPr/>
        </p:nvSpPr>
        <p:spPr>
          <a:xfrm>
            <a:off x="5779824" y="1581019"/>
            <a:ext cx="5518096" cy="4247317"/>
          </a:xfrm>
          <a:prstGeom prst="rect">
            <a:avLst/>
          </a:prstGeom>
          <a:no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defTabSz="720725">
              <a:lnSpc>
                <a:spcPct val="150000"/>
              </a:lnSpc>
            </a:pPr>
            <a:r>
              <a:rPr lang="zh-CN" altLang="zh-CN" sz="2000" dirty="0" smtClean="0">
                <a:solidFill>
                  <a:srgbClr val="1353A2"/>
                </a:solidFill>
                <a:latin typeface="微软雅黑" pitchFamily="34" charset="-122"/>
                <a:ea typeface="微软雅黑" pitchFamily="34" charset="-122"/>
              </a:rPr>
              <a:t>本章</a:t>
            </a:r>
            <a:r>
              <a:rPr lang="zh-CN" altLang="zh-CN" sz="2000" dirty="0">
                <a:solidFill>
                  <a:srgbClr val="1353A2"/>
                </a:solidFill>
                <a:latin typeface="微软雅黑" pitchFamily="34" charset="-122"/>
                <a:ea typeface="微软雅黑" pitchFamily="34" charset="-122"/>
              </a:rPr>
              <a:t>首先讲解了模板的概念，然后分别对函数模板与类型模板进行了介绍。函数模板中讲解了函数模板的定义、实例化和函数模板的重载；类模板中讲解了类模板的定义、实例化、类模板与友元函数、类模板与派生；最后讲解了模板的特化，包括全特化与偏特化。模板是</a:t>
            </a:r>
            <a:r>
              <a:rPr lang="en-US" altLang="zh-CN" sz="2000" dirty="0">
                <a:solidFill>
                  <a:srgbClr val="1353A2"/>
                </a:solidFill>
                <a:latin typeface="微软雅黑" pitchFamily="34" charset="-122"/>
                <a:ea typeface="微软雅黑" pitchFamily="34" charset="-122"/>
              </a:rPr>
              <a:t>C++</a:t>
            </a:r>
            <a:r>
              <a:rPr lang="zh-CN" altLang="zh-CN" sz="2000" dirty="0">
                <a:solidFill>
                  <a:srgbClr val="1353A2"/>
                </a:solidFill>
                <a:latin typeface="微软雅黑" pitchFamily="34" charset="-122"/>
                <a:ea typeface="微软雅黑" pitchFamily="34" charset="-122"/>
              </a:rPr>
              <a:t>语言中非常重要的内容，它与</a:t>
            </a:r>
            <a:r>
              <a:rPr lang="en-US" altLang="zh-CN" sz="2000" dirty="0">
                <a:solidFill>
                  <a:srgbClr val="1353A2"/>
                </a:solidFill>
                <a:latin typeface="微软雅黑" pitchFamily="34" charset="-122"/>
                <a:ea typeface="微软雅黑" pitchFamily="34" charset="-122"/>
              </a:rPr>
              <a:t>C++</a:t>
            </a:r>
            <a:r>
              <a:rPr lang="zh-CN" altLang="zh-CN" sz="2000" dirty="0">
                <a:solidFill>
                  <a:srgbClr val="1353A2"/>
                </a:solidFill>
                <a:latin typeface="微软雅黑" pitchFamily="34" charset="-122"/>
                <a:ea typeface="微软雅黑" pitchFamily="34" charset="-122"/>
              </a:rPr>
              <a:t>的标准模板库（</a:t>
            </a:r>
            <a:r>
              <a:rPr lang="en-US" altLang="zh-CN" sz="2000" dirty="0">
                <a:solidFill>
                  <a:srgbClr val="1353A2"/>
                </a:solidFill>
                <a:latin typeface="微软雅黑" pitchFamily="34" charset="-122"/>
                <a:ea typeface="微软雅黑" pitchFamily="34" charset="-122"/>
              </a:rPr>
              <a:t>STL</a:t>
            </a:r>
            <a:r>
              <a:rPr lang="zh-CN" altLang="zh-CN" sz="2000" dirty="0">
                <a:solidFill>
                  <a:srgbClr val="1353A2"/>
                </a:solidFill>
                <a:latin typeface="微软雅黑" pitchFamily="34" charset="-122"/>
                <a:ea typeface="微软雅黑" pitchFamily="34" charset="-122"/>
              </a:rPr>
              <a:t>）联系紧密，学好模板，对以后学习</a:t>
            </a:r>
            <a:r>
              <a:rPr lang="en-US" altLang="zh-CN" sz="2000" dirty="0">
                <a:solidFill>
                  <a:srgbClr val="1353A2"/>
                </a:solidFill>
                <a:latin typeface="微软雅黑" pitchFamily="34" charset="-122"/>
                <a:ea typeface="微软雅黑" pitchFamily="34" charset="-122"/>
              </a:rPr>
              <a:t>STL</a:t>
            </a:r>
            <a:r>
              <a:rPr lang="zh-CN" altLang="zh-CN" sz="2000" dirty="0">
                <a:solidFill>
                  <a:srgbClr val="1353A2"/>
                </a:solidFill>
                <a:latin typeface="微软雅黑" pitchFamily="34" charset="-122"/>
                <a:ea typeface="微软雅黑" pitchFamily="34" charset="-122"/>
              </a:rPr>
              <a:t>非常重要。</a:t>
            </a:r>
            <a:endParaRPr lang="zh-CN" altLang="en-US" sz="2000" dirty="0">
              <a:solidFill>
                <a:srgbClr val="1353A2"/>
              </a:solidFill>
              <a:latin typeface="微软雅黑" pitchFamily="34" charset="-122"/>
              <a:ea typeface="微软雅黑" pitchFamily="34" charset="-122"/>
            </a:endParaRPr>
          </a:p>
        </p:txBody>
      </p:sp>
      <p:cxnSp>
        <p:nvCxnSpPr>
          <p:cNvPr id="94" name="直接连接符 71"/>
          <p:cNvCxnSpPr/>
          <p:nvPr/>
        </p:nvCxnSpPr>
        <p:spPr>
          <a:xfrm flipH="1">
            <a:off x="9202549" y="7121749"/>
            <a:ext cx="1474501" cy="1463953"/>
          </a:xfrm>
          <a:prstGeom prst="line">
            <a:avLst/>
          </a:prstGeom>
          <a:ln>
            <a:solidFill>
              <a:srgbClr val="FEA521"/>
            </a:solidFill>
          </a:ln>
        </p:spPr>
        <p:style>
          <a:lnRef idx="1">
            <a:schemeClr val="accent1"/>
          </a:lnRef>
          <a:fillRef idx="0">
            <a:schemeClr val="accent1"/>
          </a:fillRef>
          <a:effectRef idx="0">
            <a:schemeClr val="accent1"/>
          </a:effectRef>
          <a:fontRef idx="minor">
            <a:schemeClr val="tx1"/>
          </a:fontRef>
        </p:style>
      </p:cxnSp>
      <p:cxnSp>
        <p:nvCxnSpPr>
          <p:cNvPr id="95" name="直接连接符 73"/>
          <p:cNvCxnSpPr/>
          <p:nvPr/>
        </p:nvCxnSpPr>
        <p:spPr>
          <a:xfrm flipH="1">
            <a:off x="11069007" y="5941656"/>
            <a:ext cx="658541" cy="626903"/>
          </a:xfrm>
          <a:prstGeom prst="line">
            <a:avLst/>
          </a:prstGeom>
          <a:ln>
            <a:solidFill>
              <a:srgbClr val="05B0F3"/>
            </a:solidFill>
          </a:ln>
        </p:spPr>
        <p:style>
          <a:lnRef idx="1">
            <a:schemeClr val="accent1"/>
          </a:lnRef>
          <a:fillRef idx="0">
            <a:schemeClr val="accent1"/>
          </a:fillRef>
          <a:effectRef idx="0">
            <a:schemeClr val="accent1"/>
          </a:effectRef>
          <a:fontRef idx="minor">
            <a:schemeClr val="tx1"/>
          </a:fontRef>
        </p:style>
      </p:cxnSp>
      <p:pic>
        <p:nvPicPr>
          <p:cNvPr id="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721" y="1634705"/>
            <a:ext cx="4730773" cy="3870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1707909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074740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UUID" val="{8D62E317-9EB8-4EE3-A0B2-DEA7D8D8667A}"/>
  <p:tag name="ISPRING_RESOURCE_FOLDER" val="F:\7、计算机组装与维护\5、资源\2.PPT\ppt\第1章 认识计算机 教学PPT_薛蒙蒙_0827_1\"/>
  <p:tag name="ISPRING_RESOURCE_FOLDER_STATIC" val="F:\7、计算机组装与维护\5、资源\2.PPT\ppt\第1章 认识计算机 教学PPT_薛蒙蒙_0827_1\"/>
  <p:tag name="ISPRING_PRESENTATION_PATH" val="F:\7、计算机组装与维护\5、资源\2.PPT\ppt\第1章 认识计算机 教学PPT_薛蒙蒙_0827.pptx"/>
  <p:tag name="ISPRING_PROJECT_FOLDER_UPDATED" val="1"/>
  <p:tag name="ISPRING_PLAYERS_CUSTOMIZATION" val="UEsDBBQAAgAIAO9xSE3/6EwIKgQAAHYOAAAdAAAAdW5pdmVyc2FsL2NvbW1vbl9tZXNzYWdlcy5sbmetV1uP00YUfkfiP4wsUbUPXaASCKnZoEk8m1g4drAne+lF1mw8BAvHs7WdwPYJVS1i+wIStKItLVppu1upNK2QWlFW5ddsnOVf9NhOIAm0tnd5sJSx8n3n9p3jM6WLN7ou6nM/cIS3KJ1dOCMh7rWF7XidRalFl96/IKEgZJ7NXOHxRckTErpYPnmi5DKv02MdDr9PnkCo1OVBAMegHJ9enZFjL0rNilXVG02srVmqXtOtilKTylXR3WDeJlJFR3ziv/vB+Qs3zp47/17p9BiZh8hsYFWdpUIJ07kzOYg0auiqBWxEtTSySqXyO53ww/mnGI/eoqqiEak83NkbPXtyuHdr+MPzYhRNgyyDKy6Yn3syeVqGQTRqmaoiE0sxLU2nScJUQokslaMHvw/v7o7290b7vx08/frg6c3o8Xb0553DvduHgz+G/3yTZUA28Iqi1Syq66ppEU2evJHKo/170Y+PRvf3R4/vF6QxsEkM8O7e7ovvdo6AtRIRpPBo62b0cKsYSV2p1VV4aOzFi18fHDwbFCNoEg0SkB13g5gmrhGroq9CaUAjd3eLQPRLYGV7cDjYKYJaI2ZS+SyMhpeVGqaKrsXKMYhJDaWayGZN9FCbeUh47iZi7Tbg0IbP+47oBfCm7/Dr3EaB69g8KGbFJJdbIFgFq6mVq6zPUSgSyjEhcjwUXuWo4/Q5uODb3M+yAQ1UJXJcnsst5SNrCSsqkS2ol6yvWDRp9NgY8znyRIiY64o4ALDL7D7z2hyt8zbrBRxtwt9sx07+tsEg7NiTz3rO54iFqX/o1LjZNJmsnlo4nmsKVWFyrDDfg/FbkGqm1V8PttsLINIw5N2NMCuKqUwsvBUvjhtXE5vmfwaVpy7HjGjOftFwTJA4MeCrBy1fcUR+BGmAPqQy6TLHzY9StCUw1PR5wL2Q+0jxrhSwqeljAk2go3IsQ+ZnXFiGihTAr5CKqdA4x3w9cEKehUwKldb7zRppw4Lg8pC/0sk6vyKg/13O+lBEeO8EqXAWjmCskCAmkzUegdNzesyigUMdFsI6hsAl1+lC/HYOzlaDTDKYjteZTLzxyz/6/ssiH///M5L6bvCg1+UT2SRBZJGaBBvVulXFWpWA1Id3vo3+up0TBFKNfVKpaam4EsOjJ9vw9Y+++CV69HO09RwCHN76ajj4Oydhun/JZAkD6ThzOaHzjqT2YSf66WEhBmi+eOSQl0wfayLkwadZJBRXZnHJIQ9qvLFOcEX21qTs46xhSnG13gBlmIkQRM9vZ68D0wwNbFyC5k9WKqncYP41mBxUCLcQSxJ3PL3CYtaPtLhPExxvAMdRU6VpYVlOrjZwqXGd9rX0w2Ujloyw+I7jwh0nL1m1jjWYLnN83HbCgoTJQJ80O7Rdep4oLd7XXpvvL09BckMsnZ66MP4LUEsDBBQAAgAIAO9xSE2LtzoSDwQAANwPAAAnAAAAdW5pdmVyc2FsL2ZsYXNoX3B1Ymxpc2hpbmdfc2V0dGluZ3MueG1s5VdRaxtHEH7Xr1iupG/RyYldO+5JwdgSEZVl17rShFLM6m6s23pv93q7J0V5CiEJTV8aKIWShhZDavehdUugkNY0P6ZEkn9G53S2LFlyenJISSjiEDf7zbczs7Pf3lpXb/qcNCFUTIq8MZPNGQSEI10mGnnjI7t0ccEgSlPhUi4F5A0hDXK1kLGCqM6Z8mqgNUIVQRqhFgOdNzytg0XTbLVaWaaCMB6VPNLIr7KO9M0gBAVCQ2gGnLbxT7cDUEYhkyHESkyr0o04EOZiCILF0VFe4lR5hpnA6tTZboQyEu6y5DIkYaOeN95ZWIp/x5iEaoX5IOLkVAGNsVkvUtdlcTyU19gtIB6whoeBz88apMVc7eWNy7lLMQ3CzXGaPnmSBI1pliVmI/QRvw+aulTT5DWZUMNNrY4NicltC+ozx8YREhcgb6zYm7VKeaW4WV2zi7XNa/ZqJYlhCie7eN2ewsku25XiNPi09NdurBc3KuXqB5v22lrFLq+feGFFRwpimaMVs7CyMgodGBTM0l7k1wVlHLvtVBkVaOxXTsMG2LLEcBW3KFdgkM8CaHwYUc50G9s6h229DRAsqQAcvREvW97QYQTGCV1CiIHhWg56Yu7KoCfmF0ZSN5PZT9KaGKVFtaaOh82Dtn5oljlsOoZtSTGSWvxO6pK7g4TAr4NbpT4M7YnaNhMlRM4YZAsXgWOqSyGj3CBMY+rOwFlFdaWZ7u/C0jCSIBfudiCrtbFSOB4N1UjFB1WPG98pfFKVGtSnSSkS01nQ7re/dh7u9g72ege/vHj25Ytnt7s/7/Qe3e3+/tXh3heH+791/vomDc8NGRE/UpqgkgQcNBDtAfk8YrdIHbZkCIQDbaLmoJ0pojhzITsVcUCVOiGlOuEgF5IdUK6uFK9fIFoS6japcKYkx6UHP9Cvg59i7kLiFJzLFrhDFFgZh0YKSBthLnP7sDRpZs+9sudZVocKIgVvE+rg5lcEJbbJZKTQ0mQQp9QPUaXl82gT4irEzkeuhIl+zg3cPzhZ6EKYhi03c+ny7Nx78wtXFrPm37d3L77U6UgQ1zmNZ0sUcflMxU3ndUp3/8XpJeo75luSoR93pTs26eQT5Uj5xrXBMmPNmixhfaV9ExWs+8OP3QfPewdfd79/nKrZn+50Hz/o3vnpyPHR3c79e539P9L4dp7s9f58erh3v/Pd8zT4fv3TAN/l+v3TTyq/BmJPPSl3fKp8H+6mgfV29g/3n6RBboCKfCDrQ59eadw+pqHAA+GtgFbx7Gr0MyN4enHmM9yZb4VEnaUWr65u/4lCvdJHViJvr0ehzrWwb7yo/18qlrwNbjojVxvLnHiJjEd8JpiPdYw/WgY3z8LcbA4vSxOHMhlkG72RFzL/AFBLAwQUAAIACADvcUhNBOcD0bYCAABTCgAAIQAAAHVuaXZlcnNhbC9mbGFzaF9za2luX3NldHRpbmdzLnhtbJVWbU/bMBD+vl9Rdd8Jey2TTCUonYTEBhqI705yTaw6dmQ7Zf338yux26TNekKq757Hd763guSWsOWH2QwVnHLxDEoRVkmjCboZKa/neacUZxcFZwqYumBcNJjOlx9/2g/KLPIci+9ATOVscAG9m4X9TKF4H98WRsYIBW9azPYPvOIXOS62leAdK8+GVu9bEJSwrUZe/lis1qMOKJHqXkGTxLS+MjKN0gqQEkxI39dGzrIozoEGT5f2M5HTuzr9+gPajkiiLO3mk5ExWosrSJN8dWNkHM/07WlVFkZOExT8VRr65bORUSjFexDp5XdfjYwyeNu1/9MjreCVSWjKOV3Edw7luNTjZ6K6NHKWYB5kHJ2tgk+PfetdBPJf47lHZlwFp08mrwcLwRQ9p7BUogOUhZOzyZq/PXZKzwcsN5hKDYhVPehJB/2EOxmuSXU97g+8EVZGIK/oEa+cdg2sXLyx09TQE1arW7srYuy7LopQwM4roxB7ZY/8rfN6hIyUPfKZkhIeGd0fwQ8tjhNqfIt9NU+nX1uBYX0MCQunYDWeHszkysi1VwRMw0tYShPOC2nAlA1lVudCyo5iQgzvSIUV4eyXweV7+xiJsgODb7XhxkKKKApD/WZj1Fs6rpc9p+3orWk/ul+F/nHuPFN6iV/PsVK4qBv9qyTnM8/TU6ITM8+GGWZNajiIe7bhEcf6HiM1WGxBvHBOp7phXIGcej13szUGR1mUA5QNZxn5S4bSz7omB7HWVSMQ2ibVOVxNqprqP/VK4A3KlDBidExV6+sYJu9dGSl8CwAWRR161h2cpemoIhR2QL01UtgHj70MSd2jY+12ox5go+KG85pJHekXRd8pMS41DBBedVzDDGc5v4QVzqV9WTL3YQf3g59s5bDLTOvF3p3Ct1Jys7Yfp1ArzT+T/wBQSwMEFAACAAgA73FITaPtv2riAwAA7Q4AACYAAAB1bml2ZXJzYWwvaHRtbF9wdWJsaXNoaW5nX3NldHRpbmdzLnhtbN1X328bRRB+91+xOlTe6kv6g6Th7CpKHMXCdUJyiFYIReu7sW/p3u71ds+u+1ShUlFeqISQUKlAkUrCAwRUCakQ0T8G1Xb+DGZ9jhPHSTgHaNXKOlk7N/PtfLOz3946V2+HnDQhVkyKgjWdn7IICE/6TDQK1gfu0vlZiyhNhU+5FFCwhLTI1WLOiZIaZypYB63RVRGEEWou0gUr0Dqas+1Wq5VnKorNW8kTjfgq78nQjmJQIDTEdsRpG/90OwJlFXM5QpzUdE36CQfCfExBMJMd5cs65JadetWod7MRy0T4C5LLmMSNWsF6a3be/PZ9UqRFFoIw3FQRjcas56jvM5MO5evsDpAAWCPAvGcuWaTFfB0UrItTFwwMutvjMH3wlAM1MAsSyQg9wA9BU59qmg7TCTXc1mrfkJr8tqAh81x8Qwz/grXobqxXyouljeqKW1rfWHavVdIcJghyS9fdCYLcslspTeKfFX75xmpprVKuvrfhrqxU3PLqQRRWdKQgjj1aMQcrK5PYg2HBHB0kYU1QxrHZjpRRgcZ25TRugCuXGK5inXIFFvkkgsb7CeVMt7Grp7CrbwJE8yoCT6+ZZStYOk7AOoBLATExXMthT1y+MuyJmdkR6nY6+wGtY7N0qNbUC7B50NZPzbEPm/bd6lKMUDNjUpPcHxKqY5U5cpmPGeUWYRq5ecO32lRALzGO9Tex0/m60GPkvIDGaqSGwzqaVvaKH1WlBvVxSi41neTa/eaXzsOt3u52b/fnF8++ePHsbvenzd6je93fvtzb/nxv59fOn19nwbkhExImShOUhoiDBqIDILcSdofUoC5jIBxoE0UE7UwRxZkP+YmAI6rUASjVKQY5l/Z0ubpYun6OaEmo36TCmxAcFxPCSP8f+BS5C4lTcC5b4B+CwMp4NFFA2ujmM7/vloVm/swre5Zl9aggUvA2oR5uZ0VQNJtMJgotTQaGUj9FlRUvoE0wVTDBg1DCRJ9zAw8JnCz2Ic6CNjV94eKly+/MzF6Zy9t/3d06f2rQQOJWOTWzpRq3cKKGZos6oqT/EHSKno7FLsk4NF3pj016/Bkx0LJxbXBsoyTHi1JfO1+OJnW//6H74Hlv96vud48zte/Tze7jB91PfxwEPrrXuf9ZZ+f3LLGdJ9u9P57ubd/vfPs8i3+/olkc3+b63aNPprgG+h55Mu7hTHwfbmVx623u7O08yeK5BioJgawe+jzKEvYhjQVK/GvhWsXTqNFnRvA84ixkuNdeC9E5af//e716KZpz+odQqkj/keacaalevfC+sTVIR8Mbw8gVwbGPvYzl0D56RS3m/gZQSwMEFAACAAgA73FITQ/kWSCZAQAAHQYAAB8AAAB1bml2ZXJzYWwvaHRtbF9za2luX3NldHRpbmdzLmpzjZRNb8IwDIbv/AqUXSfEPrvthgaTJnGYNG7TDmkxpSJNoiR0MMR/Xx2+mtYdxJfm7dPXsStn0+mWiyWs+9Ld+Ge//wj3XgPUnFnCdaiLFj1HnVmRTWGS5SAyCayGFIdPj/L2RFDGTHrTeP2JtrbixxS+mXFhq7gmLAyhWUIrCO2HSrKixN+gtH1Zu5IqfY6XzinZS5R0IF1PKpNzz7CrN7+qFdZgVYA5g854AoFp5FcbeXJ8iDCqXKJyzeV6rFLVi3mySI1aymlb/vlagyn/+GIH9J+j11FgJzLr3h3k9cSjJ4x2UhuwFvZ5H0cYJCx4DKLi2/frHzQwbhZUo4vMZu5AD24wqrTmKTS69DTACDFZejW6GWE0OQcrtyPubjECQvA1mIbV8B4jAJVe6gt+oDYqxY400GbPj6hQfJrJdJ+6j0FyeFi0beveqVB//CELRkjVRmhOjGnednNcMPaOHFxbyzqmZl5QoqRERSTWFFiQp3H1awT3X13GnePJPC9vh/JqLNvAzQLMRClRHv/73EGLo7jL1dn+AVBLAwQUAAIACADvcUhNGtrqO6oAAAAfAQAAGgAAAHVuaXZlcnNhbC9pMThuX3ByZXNldHMueG1snY8xD8IgEIV3fgW5XbBb0wDdTNwcdDYVUUno0XDU+vOF1Bhnh0vuXd73Xk71rzHwp0vkI2poxBa4QxuvHu8aTsfdpgVOecDrECI6DRiB94Yp37R4SI5cJl4ikDQ8cp46KZdlEZ6mVBIohjmXYBI2jrLMGFFWUk4rCivb+b/ozw0MY5yry+xD3qMpe1GrhVOyGipzdig83iLIalDy667KzpRLRRFK/jxm2BtQSwMEFAACAAgA73FITZQTsyJpAAAAbgAAABwAAAB1bml2ZXJzYWwvbG9jYWxfc2V0dGluZ3MueG1sDcwxDoMwDEDRnVNY3int1oHAxlaW0gNYxEWRHBuRgOD2ZPvD02/7MwocvKVg6vD1eCKwzuaDLg5/01C/EVIm9SSm7FANoe+qVmwm+XLOBSZYhS7eJo4lMo8Uixx2EajhU17/wB6brroBUEsDBBQAAgAIAKBhr0TOggk37AIAAIgIAAAUAAAAdW5pdmVyc2FsL3BsYXllci54bWytVU1v2zAMPafA/oOhe62kXdc0kFt0BYod1qFA1m23QLUZW4tteZJcN/31o/xtz+lWYAcDNsX3SPGRNLt6TmLnCZQWMvXIwp0TB1JfBiINPfLw9fZ4Sa4u3x2xLOZ7UI4IPJKnwgJ4TJwAtK9EZhB8z03kkZ7BRWbiZEpIJcweuc+Qu4u0JO+OZuiSao9ExmQrSouicIVGRBpqGeeWRLu+TGimQENqQNEqDeI02JX5OxqfRKbU7DPQPWRm3h64Jmk5nrUYkBSnrlQhPZnPF/TH3ee1H0HCj0WqDU99IA5WclaW8pH7uzsZ5DFoa5uxKsk1GGOTKG0zZlZisUwdrXyPVA6bBLTmIWg3TkNCKyydALNtzHVU8+gBreXVO1Hzln4b+71p3ErlaOec5Y+x0BEe9SGddRLI6DAqS8rrlh300HTQrWUijoJfuVAQlJ/f2haZL0gVsO24Mk9XFz4e4Nst941U+xuEYRfVCrqtaG4lmluCWg63jb7uKEhz2y1wkytoSjVjTyIA+YUrxW1bXBqVA6MjY42lQzCj1ZVrkTpBWGSS+OwftLF+I2l+6teUKQH/Q5hPSNTWRKQBPN8K9DGQYE0NYLGtzTVZ7NqYXU46f0x6fT0wVTnWouBFHMNVCDiGATecdnZ6CAqKa3TxczXC9g4OgiMRRjE+ZpJhfHqQJuFqN8nQOzgIjqW/m4C25raMdFzHUTO1HcToxDphfq6NTMRL2Z6DPWNWZR++NnLN0XUm2oPz+R+jOIjRDOaWTKwu+9bbV83hvZ1TozufTVZZBt2K8wAmzyqvZhbybOQTwJbnsbnp59Tswx50lPPUdExzfcd+l8VavIBTiMD+6RantiYR2J7xyIflaY8B9cTtMghfmqYiMlpLUql5SDmGtXkSUFSYalY+ouqhknkajLRxs+7noGPcVdcKuBPDFjNdnGDzycwj7/GlvsvF2UV3lfPFRYMt87qvAle5vGFV1wl3nUHrfm0vwuqZx9ffUEsDBBQAAgAIAO9xSE0129mtaAEAAPMCAAApAAAAdW5pdmVyc2FsL3NraW5fY3VzdG9taXphdGlvbl9zZXR0aW5ncy54bWyNUttqGzEQfc9XiPyAJY1uC1uDrsWQh0IT8rz1qmGJoy0rhYSij682rXHcurSap5lz5gwzOn1+nJJ9zmV+mr4PZZrT51jKlB7y9gqhfj8f5uXTEnMseXOq3E9pnF926eu81lo1lyGNwzLaFc1bjMLbQ0pq5VTLmGEUSeapV8h5bhvWgevANsxRYvvNbxI/dZe4j6lcVu03Z+ifDbuU41J2aYyvWzhnv4fON/i4DOPUeHkr2Br1OLU6tgZihEvuK9UAIJDljjhcpeykJshjxjFUoyhQQIRz0olKJOXQstCJpsJ8JxCTjFFXqaetG2ltHLVVQkeIbtO86mwNwUiMESEEmKtcQDAYNTY0DQ1qPSA4MCCqNpooQMEGE1j1zgvLkaJeYFyZMYDx6bin7d6f61T973WO5/yH4MUvuIiu3tpcMFe/f16WRr6NT98OQ4noy5DjbvxwHe5ubq5/efLNv0fGatS28V99/QNQSwMEFAACAAgA73FITe7Vv9acGQAA8D4AABcAAAB1bml2ZXJzYWwvdW5pdmVyc2FsLnBuZ+17f1jSV/83u9ty3/XDWpmYP7idrZqWjlxaqdBWd9ZaulrmSoWSlJoikYkoArU2TUSpNXOulO3b7myZUlhCIlArwCSlckWEQvFJzQDxYwrIzwdsV652X89zPc9138/1XNfjHwrnfT6f9+v1fp/zfp/30XNKP0+In/HO/HcgEMiMDevXboFA3hRBIH8zvz3VLcmq6z/v/ngjd0v8J5DGzoABd+NN7MebPoZALjKn2Xe95W7/177123MhkJnXPT9vSPFnd0MgiG83rP14Kwll6MGVNfRvd4GtC9EHI1YPlX49Dyx9Ur2+6JdroermS2+93/y2eA/8k/X/WHp59pJrX72J33Lx8xnid3E/euFwDVc+Vt1YuO2+i/aZ2Y+durJvBbZReTwgt1Hui9DfPH85s+OWOjeTjb7/WdAKXKHhsiIB7XiWnIh2DldFFD2ehnZTgxy8Lznhw9+mT1GpA0ROg8a5VAD3yLvfv5hbHi5hV6GpKwXvjUv+cTE/jYFmi5yFhR6rIDxZurnw70LfZfxZnuYg54EgiDR4pf/utDfczUfhZT26Q/q/ebq+PARO82Bl+InGmyf+J809vRvR1rsDvVVoBMWm0iA2bDn1FmHhDeXRGr9ISYT7gYeWfpqzv0vHFlGNwewFDjQh6obfsZpAH8DX3Yuze3oFJVe+GzFpGW2dFXSP8oNRC/ZuIxK3Mjw2Xwre0MRpOp1ud3P7acaGHytfvrv+7nm9/ix0nMaa7zIzsPFii9vU1f7ffRQWExP6Av7oL9uVys1wqtvI28ULOtonIf7jEKeflUerVwiG28Pq3PNxbMTochqvpmuzYoQSIEsQ+hLxrJXpsjC76tnCwkLHqMIoWHf3U7GCWFQuVRQmvYTc7COffuwStYk9OgHQbnm/Jn5cyYmkDPt3nSHjJGTnllE39B8bZ52R5Cf65Xmbx8yrnHMM9N2C3R7SO7cnSSJ+pWnGOvMT5AibfiDRNZKoGfn9i8SaWvLgFbLiB+zEY/muUbQrr1B/UZrARFj3PPOwNaY1db5UukWj9UPDc8Rto1fklEEtKx5OFzeJtJw6FtWqzoqQ/+nB9KFzkgbDCtNlNsWgzno+btqSercdo4bSRbU8ywmpIVJoEj/Nq8TSxgPry22V4MZnKYwd4HUDNq23cMJaa6aH4sGws25rKf5Ieb21WeqLIj3WrqKZ82n5xuUFf3qWWAMjubRlEWoyrnbCMepyQpiwgWCbfgHK13pppRnBjclxa25N8DWm3y589mudOuBK6D1I5kuXDOTMRarCah3Lb3A/QZi7c+ukQWT9p1N+mNDMTyuyAURIWVUTy5Ux8d5g9NQLsmL2vx6Pgdhlnll34XwoUHUgaML6VcwJN/3L4S4c661KZAutzwS07y6lg8uD0Lqkl3N43T1/fCvB2hctKgDPz9q56bXu/+ejCHM/iy0gWstElrIuo3PQWEt1KGiOkWmioWlXA33RMnB5IFoFLkdMYJ8tBMW+id5I+9DAzyVBf5vngwbAy6gJ7VvjnBZg4HDGzqWvigvu+54qsexgT5A9x/G6efXHcy9Jlp/Tv7HswplzExEYSj4YQH1aQj0izhAZzzf8Kajbg/5eAo1HFQ68P2/0yfHEM3/t9gIUDxno/l8npZPSSem/W5qzjOqJc1+OzOTsRTt7cbVU60B0hApN6wuBja23WmU3KJSna2AtpDGOjd8pjYy1D13HC3sMBtpYFW3sN+do2taJ3JaknPJkp32H6g6om8Oy3BCzTiJtTciNEZqy9AsP55++k1dyflYGW/TZdBRADeeLLF82WsHpKlW2F9vgCCzgc/9F6Fcw0O5F13XA2p4s3A/qkuJrnskfEGPp2PWOTqO9U7zvo9qk5ZLTln4eKnVR+2BM45wqaQZIlOjMmN9JlG5sK5WMBDiktNQodRVoDc7xx+e3Ghp80UXgiFJONWlX2bh8gdpkEBx/NYHt/5DaYGizLK+9eBmWF3qHOPJfmM/pWgUpjbEueOo/oRUoyui9MtsRfAqjCsgjuDan0siw4Kl18Hbxaq7jfjvBsZhaboOFJB2RSOfIs8tsZSomdzliMDgHmcMPvKLt5VFby3mdboYL1VyeHGwhrfS/n5Pyp0KmMm71TAn7cs8TLBUXX1O9J3bjV1DMlrkiyQqfcvhiyWlomUTVNrVJAD0vUQWu2d56qhwNCvG0ecmMLwGgdPNXtO1QV2w20ktVxTVHo2DGxLmiCpXR2F+z5U/JPMP76GEwC2d8YqkUIBiy9CX0O3taqbFNoVMbSA7igvlcZRk+j4FNK8ceKP/5A39RM3uairkoyybM4CqFrRQVMArKtwNRxl9eS/YMdJYulooTZ8C/Kn8ju7tvGbxQHClNf7OM1ilhQ6XNSN9sG8jQ3crGN1HGOKCOwzTWbPsrL3OunX5tr02eco91kaCkBtAJoVPZoBxcehS+Ryy7A60qBnHfYm7T8QUMbLlYprQsFzbsj41ZUswBnUyWf5SwY5maCT6/3qxdBfhlgsM8SjfaFCnSOvyM6NR5OC9e/qf/wuO77XTsLpzIBy45I6tVbo0D9qbO42pmfgafKX76EV1XDg+V/GpAeoNORvqe+UZ0a49B7pqvYCqYOsmR5Y0wfPQg5vsZ6ODiehIZfgCHhMGJYh0wbNABFCisy+Qg1yX9NWI2SSIGG//qxEhqTd2kdFI6Kf2/IE23p6chraeRPzqFTc1/6nv2uASWAFswJauUPfpnMSiFJcIW/0Us9kWP6CO+TH1tZwrXhaHH2gfGV9Wf/Hiq8R0u9j+xLwgYYDufsb88dWnpS4UrtjBCIgQj75YVDt9cZHQkbNRMgK34zp1pJREG2UuUit32HSfBjbaJBTHET3Q/035X+NJMYL07U/qJLkVMqvn/SE2gn0gIluNPIZ5Xy0/VkrSl0+RIl12wMdxYja1dKTBSjDGObrmj+9t4GGVE/b4RBVLR/Y4HKCRVoAcqmMbwqolJetNyuTkEUBz2RpDg1DibvskXUCRJakuCCp+mf0hXfUNaKbmQ30RCNkZuxbFh1xVc4WhDWZXZ8cjb+UhQNZj5MkAkx9zhzB+0+Ey5HcKM3W9kCRXZ+lIsXZynVeBUjz8o/gXOMLA2+3D5eg5oNagqPs7pzmyNfahO5GXb6TY/ebZ/iMJkhTtxmkESmdBj6MfYhHi25sqrtveMYKnitw9UYhPF7gqiEDQwbW6e2OPiXngUjuUTFV52bWk4WU5WP+876BPBVEjzEKO/JqZ1L5TU8UQkSmsNL3uueTa31HZEhTWSGVsJShJa2wtPL9dJ3SXN5lR8N7pbARWlry6rktqgXD8jpv/V4SAeB8MkNVCySS5pp1/7irEW/rbYICHNnfKQ+BP95w8a54gkOO3wZgaWQIMvxqGRkguLc/zN0fMxW1MX5US3ZPPKDn1lW1pN4MN5GUCySRhPQNtsKhQ361VPxqyilgf3h15P3hZ7OnTdf0OPpj+iV5klDz5adwan1AFRKnQ8wAKov+1pdVDgB8R7ltf6Ra1rNoxKHVg8phvdikCpdaiXSYqw4EUND59ajn+r9VOCQ1+iYuJ9uplbVJK2j+hVgEGs42o+8Tt8z1SNVkmQ0siW9AP+GdfvCXkJrSwCS6VjmsMQXoSxZgLNZnY0fv/qBNJVoAGVNX09fRcWWpURch96RhJ59r+hjZKDzS7TTUMGkDIL6F089Z88pkMHVO/APGjJts83R+bM4colbFKK6uOwxmiE2mHxEdtWFfMsUC5GZaIwzHjk93lLXo0XRaAo/XbpY2wEnbC3tTVi6k9Qajr0Hfg7OFHG/ukogtKp+gDDmM9VIXKzbFYSGegvMmhKDEjpCh88rbXBoPIXq5RCNsFGSmtNBKygjgQDFGCU+fCO6Xk2bpfgtbn2xEud1fFvCGrVJvfkosV25yt190R/ieVmV/R1GarCxf/59XCKWUZNi8rGofH2Fv7EEhW/zL0nagEUp5mIQnh2Obag/JiOo4hnWX+vC0fB1GaheexEW99rz5+R238U2O3P5ejW2KlsS7+5tT/ON6Ie+1r8GkBd6aLaFXGWR4d9RTNV8M8c7a9aEgOnirkxOVL2UDm+CNDuH31tBePGUSl9kayVccNtIb4R8RrrfS4D3fGaO+6AYbZrJqUOoy98+nNJOPU2hYEijBGnfyF6LdbcewDYDhiyKay4wSAfbNGPbrbDYBj3xuDrX/P/4qq9hslFZVLNf17NFgb6vA7mfAwbfLWCm/yX0iTEJMQkxCTEJMQkxCTEJMQkxCTEJMQkxCTEJMQkxCTEJMQkxP8uhMXEFVGMjxsWCAQrQib+UBdBGdhYZ6Sa+eagvk/vunywa07NfkmlPVcel+85jT8Y1135S5e4ehZ2DTHzFvR/fTT+/7AZN6RxOTSLxmXH/g36AueLUAW9lV11SMdAVzzSeqfLCzF0qOu6N7I7oRUNOsU2PyPeRPC8I8BFH9GDrrS5sI2WJ4uQBQ0d7zX6c/24crXJLZPhBqMVQSKhc5TNog5UUT+gYPl0c7TaqAc8NwgKCx9/6/sQMdBHLe14D9GpBzR0XffluL4WrdkayirTtZgsoyCTFkvx4peZY2yknGeeA2Xf6jkClmuMhaSMydBUlc5lwrtMIymi0RTfILL+Ijet01BgUmI19m7k6O9f4K9k22zvKlSoZh8RFijU2PuiNfuVJEcSDR1hi9yPHMQQBd7UocO90oIvVK4duUhnb96IsiZN7e0e53mJ6VdgNKxoGtVopkY4ArLFeRxV40Kq3Gie80NjHLXnXiXcY8yVUuhsodEmNKZ/3hauIQ9d89KYWqCd2lH4pW9glkMwniWPFpcTXzSIGaHLxzwHyEUrD4qvfkSN+I1pb2OmrkqVGLQKHi4VnzqPFp7+OV0mkalUmRxkiBlAnNOJpfPxSOcSaa9K1RPBdTDukFTJKwP4rTD3bF3qvD4cwoz9zikgJyn7d4XxO85pzU4q4sqjh0CyKaHHRynN3cp4C/7JDTZ84W6Fkv54gf9CbTVCdS1YfT9JHRTtyzIbjs6VF9KvhaHU3mvhByTGpNaAw72WOH9AyUPZC6DyNxnwvbYlDZ5D+Ylelx67acUbQxDF4P48geUHKatfNV+kLsUyUL0v/abZfsxBIWe8INSula82Faz4zZJ322K6UF+RBK/N9mLISH2KmEXURJMoH/6umG3bvAwVJG+nH/qKkQh/r1z3DdgfXPxPRxNPy6rXqGRORoCASVrpPNXZGL3ugkE3yFUVNd+bZT7WY95WZZ4CgfBS7bfq9MaH9TKEb4oSt20es2FQIXcto/bchr7HkTVrq5ersOrd6fv85OFaU4YoH2N/6P0xOExd/Q5gvU46qRzFAnczaOtyCmHJArXewS/V68Co3WZBZU+f+2MGBHJLzG2pkcnHHsoQMA+Cr8b5AyW8UWbJW4M50hauesj0ToGTbvQWs/O3mcjmnAq0UuUtYdfLBsluJ2Q4HsOcuwod9W2D/hDIDzFVsGe1N8cVdV5bhBy7OfKcEChh+89fs5aonKVpJyrz0i101uXvHecX5SQX6bTEfd3OW2ySw3JfcsFRjU4hOEDc4V322EZSDyllzWik6BwyJFrArEcZe4JEVJeZ5hr5NqLo8Yj9uRwWVMuxqdtzjucdfxw2bsrvtQV91SNGRf97tlPZGdyVviyXvb9LfjNJkAUohPUo4hz3rPki2U+U/mA+MiQ7YmoleFhS4lh8zXBEnstYDZgXUiMkV32ALXbhjRUrp7bDi8VszIKH6oXqTuJW+rW95JMOyOXl7vB6gtDKe/PUVflZdmuHxt7RpRCaLpPRBo1O7rLLu3Sd4w7O1Nxx8/P4hdeNc7GUxq/1zzluv6feYJWftLNGy9HRc9f8BvUJb3KdaNpVxAfUegPBdaN/lbDhQ8bFrNR5h7t4S2pxy1EixyEzBuqvUDnV5T+HomCibdfdFLFsb/d8VfdBf28cFm6d0r0pA80MnnnBc9FEnWwd0Pbqq9GJiLEn4gzQ+gx9REnBZ3CV5odZ7LTp+5V57FA+HgJ5tB9squGIUljHX1A71f2kn+YnOphSRYkrhrasuxfZqFUFcymDuayNXuf0Qq5J4X2adPI09GrOMLqGY5sKgewHI90akjVr7VKHfnRN3timHH9mSAXiRBsi2jMNOu6M33/ISTONQuXa+eKh79OwvPOOnSd6zPdNLWs+qt3bTGFpU+B4HXoHBHLVXASWoT9zJVB+d6c/vGgM1myuEmuM0vzK3S5Q0II7Ip0Grgh2hjidHOgNbTMIuwsY9BEiuv55U2XPmXdhmNhjjzhmbFEQRxrXpJJkgGDmmp3dCxGJAOG+Yx4tkyNPdK+H3S16HSH2ZNjM7q9202HfiJY6M971IhDbMs2CyyLqA1gbyODwmCeLbBiixk1K1cN28TGxOQ+o2A2MCIBD0s9iBmuNls32FkrA5z1RN/IAguwp22Vla1qzGajTPDUurqIt54tSM7noFkgVD3Epeh9Y/2JEseH2cj6uaOY6GyxtDsxlKRKrjugymZoKOjJS2V+X/sJPKx46y0KaHL4bLrl872wjatxuXEb4Eubw3TYeZSS+3tilmH24g7inVOqtEsnwsEQGNqR8NpaoghY1T7ltQv4mZauuLXECVMYeoDl+N4vVoI+KBC9KpLHFjSChQgYA5bQgGDYVz9jZpKrYTCiaCSgsp8plUtcd2twIDXv2EpvdXWh8S3MoaHFx1qenfUUrU8AW3hL+jCGiUgEsninTDweHM9dEUgMzFNPG59aVc7qAu0qKO2nhqxwU6yoJ8A0UxQH3zj3dYareuIuogueILU202FlTNs89fFsP70jKGOeV7AMjezziJgULue8EqnuiENGYv5fJlc5hEhmTqkLw9QvHh63yyK4w6vOgwqc/d5UgRty/kPbHXJLLpqFZb7LsN8t00Gs7w22FAR21Y8uzWdtOpgWNJ4hcH0D0jZ41g6hsuj4+ZdWDU2CW1db8Z/V0aS/45S5GGKCMxzylY8NxrJ99aFzYlFv6ZoLA8LTJYRLyElLzp68Do7Q4sYohY7YhkO7hyMwZhm/lzoge61avtVffRCB9AEXnxgjBAWs1a6y67FDYCbmsSI+B8d1vR+ccFyx9ROawpYT1kuAf0oTRzo2f2H/8g1zknBLz4pmDcJKYDcptuhK98A3IQS7ZOlDXJfoCncwIhUsY0hl3TMMOrhnH6vmIj5u+kuBwLy2YakPvxdnZIgF++mpFJYXazFFt1VIqtJgKJsUFM8aDBKlUFHgmk9uDqC3T5cSLDJizNtDwExnELhwf3BjwVqNZaBbg/VpCCT28Tabmg8abwiBgXyDOJT5eyr682a74Wr8qmG/0DNJFChoYYtKCXHdvNbJ6oiGQo7an8cgfnQLrWZDxTz0HzK6zxFCIBXmqWVy+HpSRmruoi1vO6XPHw9KYNZpdb1kR4f8sk1suv5bBum6x4K1LeLIbrEp9bqR70SK5a5sIYQ0Bua/DbmG6LAOJzieJCS7317bA5/G0kXhfjbq9V/uoXYhqDLEVTgdEp9ZWOaYtEEokt+eKUERLsTs7cVSpSQH67cq8pvHMxG4d/nTMbM89Rslxe+fUcUvku7RtHHkHA8wKoR6l2BlsB8/Hu93Vh3f2fdLaKrIrqAZFgmg4TPRdRdhI1QxEa5JpdH+gUoE5sgs3PWVzbE+UUFJs+KLktKVQpu486l6kiSd1R8x70UTB+LjJKOPJK4eSwJHL3H25w2NyGsLRmirmR1EF/hwmVldHfVYXXjvMDWzW7qXaLi5AcQUJsYZBKVUvVRPjBouz9Y8bOOwqXZswqIQUqjeRdU3pf+frB3gpfwSZ4/Po9saTnhH43DZSh6xxOqypu1nH3WPUrwVgLpJ15ZVQQCE57I2wnNgcthuz4QHaWEKzlHTp7qCjTEPblApZ3m40MwUcuQet5Gqm+omR6H6yuOlFpFTNQG8mOsaNuRIfVLDAEWNa2fZiPf/YrglkUvnATvvDD6k1dX8iil8znqNy1owny26FyDna5BhDK/sx7gphJcldDd+VS/OgoigOnsxggU2wjdo8lc7SLOUv9SeT6vW63lXqUlqBmOJeNu/1OtwldLgvUvWBjW96xpGL3X68F/f8VuRAv7aFgfaHOYdKumAkVxVtrAo/831w2DlsOWQ2UoxkzbKz+/J3Y7zxlRRBanwRjWhaXoBM6yVffVFSGmosfHL0H7XbYD+mPouJzh8dKEkuiJJgkTZlmZfVRsjqW0TVLkqgDXnRjs4MGzG5Cw4z3r+QVM9yKFmbRKhGoJnVEoCPGQxxh0W40QsC+dBXk1HpEJD/AeY2cOTXtqUu4hvoWjPCFhCQZwB1jY3s5LTpNNCXBo44zSJk4JVlfwSba46mjuLvGqZzC2qMbxiHqW67L+dax9DJyiWdvcp9XPCXrz0UQW9NHoLguQEdQTUpPMdfz2AUQxeZFL121QtVnt0NoEV+yEYcTMtrWlEC/xAhVJG2XLssZe9LkZ/izYivLZ+N2Wa3sy1EtiUPWeSQ4O0SMfewOKPYsx3kxeXvPcxr1OXMQ/hKA+aLOsVdiUiK9ZEXklToKfrfQ/lWZXA9W5ufvMc3mRDZ+D1FyIUlfzQLH8VoxhIK3xi/b51xkRw3JPHH/+LruUR9NW0eXzHFZRO5TqLe9vTnb9ejvE85abUOz23sq5+mG+nhEvZTmrOfdjfsxRvvxiiedoBh1sF8EdlzIbbL36N5NfZillg4SqtJcHl35wtO2jaJajwKN/wjYW3jJzu//h9QSwMEFAACAAgA73FITXA/OElKAAAAagAAABsAAAB1bml2ZXJzYWwvdW5pdmVyc2FsLnBuZy54bWyzsa/IzVEoSy0qzszPs1Uy1DNQsrfj5bIpKEoty0wtV6gAihnpGUCAkkIlKrc8M6Ukw1bJ0tAYIZaRmpmeUWKrZGZhChfUBxoJAFBLAQIAABQAAgAIAO9xSE3/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WnBkAAPA+AAAXAAAAAAAAAAAAAAAAAPwXAAB1bml2ZXJzYWwvdW5pdmVyc2FsLnBuZ1BLAQIAABQAAgAIAO9xSE1wPzhJSgAAAGoAAAAbAAAAAAAAAAEAAAAAAM0xAAB1bml2ZXJzYWwvdW5pdmVyc2FsLnBuZy54bWxQSwUGAAAAAAsACwBJAwAAUDIAAAAA"/>
  <p:tag name="ISPRING_ULTRA_SCORM_COURSE_ID" val="29CDFE28-0755-48D7-B396-2DB4679C4ED9"/>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CLOUDFOLDERID" val="0"/>
  <p:tag name="ISPRINGCLOUDFOLDERPATH" val="Content List"/>
  <p:tag name="ISPRING_PRESENTATION_TITLE" val="第1章 认识计算机 教学PPT_薛蒙蒙_0827"/>
  <p:tag name="ISPRING_RESOURCE_PATHS_HASH_PRESENTER" val="cae9d3a2b6043bbe045896435aaeebcb882e"/>
</p:tagLst>
</file>

<file path=ppt/tags/tag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1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2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3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4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5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6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6.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7.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8.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79.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0.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1.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2.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3.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1.1 什么是自动化测试"/>
</p:tagLst>
</file>

<file path=ppt/tags/tag84.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6.6 本章小结"/>
</p:tagLst>
</file>

<file path=ppt/tags/tag85.xml><?xml version="1.0" encoding="utf-8"?>
<p:tagLst xmlns:a="http://schemas.openxmlformats.org/drawingml/2006/main" xmlns:r="http://schemas.openxmlformats.org/officeDocument/2006/relationships" xmlns:p="http://schemas.openxmlformats.org/presentationml/2006/main">
  <p:tag name="GENSWF_ADVANCE_TIME" val="0.00"/>
  <p:tag name="ISPRING_SLIDE_INDENT_LEVEL" val="0"/>
  <p:tag name="ISPRING_CUSTOM_TIMING_USED" val="0"/>
  <p:tag name="GENSWF_SLIDE_TITLE" val="传智播客.黑马程序员"/>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7794</TotalTime>
  <Words>4784</Words>
  <Application>Microsoft Office PowerPoint</Application>
  <PresentationFormat>宽屏</PresentationFormat>
  <Paragraphs>683</Paragraphs>
  <Slides>85</Slides>
  <Notes>85</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85</vt:i4>
      </vt:variant>
    </vt:vector>
  </HeadingPairs>
  <TitlesOfParts>
    <vt:vector size="96" baseType="lpstr">
      <vt:lpstr>等线</vt:lpstr>
      <vt:lpstr>等线 Light</vt:lpstr>
      <vt:lpstr>方正细倩简体</vt:lpstr>
      <vt:lpstr>楷体</vt:lpstr>
      <vt:lpstr>宋体</vt:lpstr>
      <vt:lpstr>微软雅黑</vt:lpstr>
      <vt:lpstr>Arial</vt:lpstr>
      <vt:lpstr>Calibri</vt:lpstr>
      <vt:lpstr>Times New Roman</vt:lpstr>
      <vt:lpstr>Wingdings</vt:lpstr>
      <vt:lpstr>Office 主题​​</vt:lpstr>
      <vt:lpstr>第6章 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认识计算机 教学PPT_薛蒙蒙_0827</dc:title>
  <dc:creator>lucius</dc:creator>
  <cp:lastModifiedBy>薛蒙蒙</cp:lastModifiedBy>
  <cp:revision>943</cp:revision>
  <dcterms:created xsi:type="dcterms:W3CDTF">2016-08-25T05:35:30Z</dcterms:created>
  <dcterms:modified xsi:type="dcterms:W3CDTF">2021-03-29T07:39:51Z</dcterms:modified>
</cp:coreProperties>
</file>