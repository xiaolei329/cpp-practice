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ppt/tags/tag42.xml" ContentType="application/vnd.openxmlformats-officedocument.presentationml.tags+xml"/>
  <Override PartName="/ppt/notesSlides/notesSlide42.xml" ContentType="application/vnd.openxmlformats-officedocument.presentationml.notesSlide+xml"/>
  <Override PartName="/ppt/tags/tag43.xml" ContentType="application/vnd.openxmlformats-officedocument.presentationml.tags+xml"/>
  <Override PartName="/ppt/notesSlides/notesSlide43.xml" ContentType="application/vnd.openxmlformats-officedocument.presentationml.notesSlide+xml"/>
  <Override PartName="/ppt/tags/tag44.xml" ContentType="application/vnd.openxmlformats-officedocument.presentationml.tags+xml"/>
  <Override PartName="/ppt/notesSlides/notesSlide44.xml" ContentType="application/vnd.openxmlformats-officedocument.presentationml.notesSlide+xml"/>
  <Override PartName="/ppt/tags/tag45.xml" ContentType="application/vnd.openxmlformats-officedocument.presentationml.tags+xml"/>
  <Override PartName="/ppt/notesSlides/notesSlide45.xml" ContentType="application/vnd.openxmlformats-officedocument.presentationml.notesSlide+xml"/>
  <Override PartName="/ppt/tags/tag46.xml" ContentType="application/vnd.openxmlformats-officedocument.presentationml.tags+xml"/>
  <Override PartName="/ppt/notesSlides/notesSlide46.xml" ContentType="application/vnd.openxmlformats-officedocument.presentationml.notesSlide+xml"/>
  <Override PartName="/ppt/tags/tag47.xml" ContentType="application/vnd.openxmlformats-officedocument.presentationml.tags+xml"/>
  <Override PartName="/ppt/notesSlides/notesSlide47.xml" ContentType="application/vnd.openxmlformats-officedocument.presentationml.notesSlide+xml"/>
  <Override PartName="/ppt/tags/tag48.xml" ContentType="application/vnd.openxmlformats-officedocument.presentationml.tags+xml"/>
  <Override PartName="/ppt/notesSlides/notesSlide48.xml" ContentType="application/vnd.openxmlformats-officedocument.presentationml.notesSlide+xml"/>
  <Override PartName="/ppt/tags/tag49.xml" ContentType="application/vnd.openxmlformats-officedocument.presentationml.tags+xml"/>
  <Override PartName="/ppt/notesSlides/notesSlide49.xml" ContentType="application/vnd.openxmlformats-officedocument.presentationml.notesSlide+xml"/>
  <Override PartName="/ppt/tags/tag50.xml" ContentType="application/vnd.openxmlformats-officedocument.presentationml.tags+xml"/>
  <Override PartName="/ppt/notesSlides/notesSlide50.xml" ContentType="application/vnd.openxmlformats-officedocument.presentationml.notesSlide+xml"/>
  <Override PartName="/ppt/tags/tag51.xml" ContentType="application/vnd.openxmlformats-officedocument.presentationml.tags+xml"/>
  <Override PartName="/ppt/notesSlides/notesSlide51.xml" ContentType="application/vnd.openxmlformats-officedocument.presentationml.notesSlide+xml"/>
  <Override PartName="/ppt/tags/tag52.xml" ContentType="application/vnd.openxmlformats-officedocument.presentationml.tags+xml"/>
  <Override PartName="/ppt/notesSlides/notesSlide52.xml" ContentType="application/vnd.openxmlformats-officedocument.presentationml.notesSlide+xml"/>
  <Override PartName="/ppt/tags/tag53.xml" ContentType="application/vnd.openxmlformats-officedocument.presentationml.tags+xml"/>
  <Override PartName="/ppt/notesSlides/notesSlide53.xml" ContentType="application/vnd.openxmlformats-officedocument.presentationml.notesSlide+xml"/>
  <Override PartName="/ppt/tags/tag54.xml" ContentType="application/vnd.openxmlformats-officedocument.presentationml.tags+xml"/>
  <Override PartName="/ppt/notesSlides/notesSlide54.xml" ContentType="application/vnd.openxmlformats-officedocument.presentationml.notesSlide+xml"/>
  <Override PartName="/ppt/tags/tag55.xml" ContentType="application/vnd.openxmlformats-officedocument.presentationml.tags+xml"/>
  <Override PartName="/ppt/notesSlides/notesSlide55.xml" ContentType="application/vnd.openxmlformats-officedocument.presentationml.notesSlide+xml"/>
  <Override PartName="/ppt/tags/tag56.xml" ContentType="application/vnd.openxmlformats-officedocument.presentationml.tags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802" r:id="rId3"/>
    <p:sldId id="803" r:id="rId4"/>
    <p:sldId id="804" r:id="rId5"/>
    <p:sldId id="805" r:id="rId6"/>
    <p:sldId id="806" r:id="rId7"/>
    <p:sldId id="807" r:id="rId8"/>
    <p:sldId id="808" r:id="rId9"/>
    <p:sldId id="809" r:id="rId10"/>
    <p:sldId id="810" r:id="rId11"/>
    <p:sldId id="811" r:id="rId12"/>
    <p:sldId id="812" r:id="rId13"/>
    <p:sldId id="816" r:id="rId14"/>
    <p:sldId id="817" r:id="rId15"/>
    <p:sldId id="818" r:id="rId16"/>
    <p:sldId id="819" r:id="rId17"/>
    <p:sldId id="820" r:id="rId18"/>
    <p:sldId id="821" r:id="rId19"/>
    <p:sldId id="822" r:id="rId20"/>
    <p:sldId id="823" r:id="rId21"/>
    <p:sldId id="824" r:id="rId22"/>
    <p:sldId id="825" r:id="rId23"/>
    <p:sldId id="826" r:id="rId24"/>
    <p:sldId id="827" r:id="rId25"/>
    <p:sldId id="828" r:id="rId26"/>
    <p:sldId id="829" r:id="rId27"/>
    <p:sldId id="830" r:id="rId28"/>
    <p:sldId id="831" r:id="rId29"/>
    <p:sldId id="832" r:id="rId30"/>
    <p:sldId id="833" r:id="rId31"/>
    <p:sldId id="834" r:id="rId32"/>
    <p:sldId id="835" r:id="rId33"/>
    <p:sldId id="836" r:id="rId34"/>
    <p:sldId id="837" r:id="rId35"/>
    <p:sldId id="838" r:id="rId36"/>
    <p:sldId id="839" r:id="rId37"/>
    <p:sldId id="840" r:id="rId38"/>
    <p:sldId id="841" r:id="rId39"/>
    <p:sldId id="843" r:id="rId40"/>
    <p:sldId id="842" r:id="rId41"/>
    <p:sldId id="844" r:id="rId42"/>
    <p:sldId id="845" r:id="rId43"/>
    <p:sldId id="846" r:id="rId44"/>
    <p:sldId id="847" r:id="rId45"/>
    <p:sldId id="848" r:id="rId46"/>
    <p:sldId id="849" r:id="rId47"/>
    <p:sldId id="850" r:id="rId48"/>
    <p:sldId id="851" r:id="rId49"/>
    <p:sldId id="853" r:id="rId50"/>
    <p:sldId id="852" r:id="rId51"/>
    <p:sldId id="854" r:id="rId52"/>
    <p:sldId id="855" r:id="rId53"/>
    <p:sldId id="856" r:id="rId54"/>
    <p:sldId id="857" r:id="rId55"/>
    <p:sldId id="335" r:id="rId56"/>
    <p:sldId id="283" r:id="rId57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3461" autoAdjust="0"/>
  </p:normalViewPr>
  <p:slideViewPr>
    <p:cSldViewPr snapToGrid="0">
      <p:cViewPr varScale="1">
        <p:scale>
          <a:sx n="82" d="100"/>
          <a:sy n="82" d="100"/>
        </p:scale>
        <p:origin x="75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27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4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17273" y="-3221"/>
            <a:ext cx="6259483" cy="1600200"/>
            <a:chOff x="3117273" y="-3221"/>
            <a:chExt cx="6259483" cy="1600200"/>
          </a:xfrm>
        </p:grpSpPr>
        <p:sp>
          <p:nvSpPr>
            <p:cNvPr id="11" name="矩形 10"/>
            <p:cNvSpPr/>
            <p:nvPr userDrawn="1"/>
          </p:nvSpPr>
          <p:spPr>
            <a:xfrm>
              <a:off x="3117273" y="-3221"/>
              <a:ext cx="6259483" cy="1600200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3773" y="760266"/>
              <a:ext cx="3590099" cy="560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76687" y="1090336"/>
            <a:ext cx="42386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\AppData\Local\Temp\企业微信截图_1612256527179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" y="6495731"/>
            <a:ext cx="1733550" cy="3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5" name="矩形 4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3" name="矩形 2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pPr/>
              <a:t>2021-3-26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Relationship Id="rId4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7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1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8.xml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5.xml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 smtClean="0">
                <a:latin typeface="方正细倩简体"/>
                <a:ea typeface="方正细倩简体"/>
                <a:cs typeface="方正细倩简体"/>
              </a:rPr>
              <a:t>11</a:t>
            </a:r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章 综合项目</a:t>
            </a:r>
            <a:r>
              <a:rPr lang="en-US" altLang="zh-CN" b="1" dirty="0" smtClean="0">
                <a:latin typeface="方正细倩简体"/>
                <a:ea typeface="方正细倩简体"/>
                <a:cs typeface="方正细倩简体"/>
              </a:rPr>
              <a:t>—</a:t>
            </a:r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酒店管理系统</a:t>
            </a:r>
            <a:endParaRPr lang="zh-CN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4649245" y="5042659"/>
            <a:ext cx="134515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项目分析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项目实现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效果显示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19345" y="5042659"/>
            <a:ext cx="14594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程序调试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项目心得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784" y="5203668"/>
            <a:ext cx="1905952" cy="1054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功能描述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07760" y="2092960"/>
            <a:ext cx="4572000" cy="2509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本章将实现一个简单的酒店管理系统，系统具有三大功能模块，用以实现酒店客房的显示、添加、删除、状态设置等操作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0160" y="1892300"/>
            <a:ext cx="4339590" cy="3363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功能描述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0593" name="Object 1"/>
          <p:cNvGraphicFramePr>
            <a:graphicFrameLocks noChangeAspect="1"/>
          </p:cNvGraphicFramePr>
          <p:nvPr/>
        </p:nvGraphicFramePr>
        <p:xfrm>
          <a:off x="4348480" y="1107440"/>
          <a:ext cx="401637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3" name="Visio" r:id="rId5" imgW="4014392" imgH="5414472" progId="Visio.Drawing.11">
                  <p:embed/>
                </p:oleObj>
              </mc:Choice>
              <mc:Fallback>
                <p:oleObj name="Visio" r:id="rId5" imgW="4014392" imgH="5414472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480" y="1107440"/>
                        <a:ext cx="4016375" cy="541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功能描述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432560" y="1574800"/>
            <a:ext cx="4937760" cy="4043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酒店管理系统各个模块的主要功能：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）客房模块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：客房模块主要功能包括获取客房数据，如客房编号、名称、价格、面积、床位数量、状态（空闲或入住）等，将客房数据保存到外部文件，在显示客房信息时从文件中读取客房数据。</a:t>
            </a:r>
          </a:p>
        </p:txBody>
      </p:sp>
      <p:pic>
        <p:nvPicPr>
          <p:cNvPr id="257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64953" y="2181225"/>
            <a:ext cx="4939050" cy="2827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5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64953" y="2181225"/>
            <a:ext cx="4939050" cy="2827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功能描述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209040" y="1483360"/>
            <a:ext cx="5750560" cy="4033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）客房管理模块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：客房管理模块主要用于管理客房。例如，添加客房、删除客房、查找客房、设置客房状态等。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）界面模块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：界面模块主要用于显示酒店管理系统的界面，例如，显示操作菜单，为添加客房、删除客房、设置客房状态、显示客房信息等操作提供提示信息。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项目设计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18640" y="1635760"/>
            <a:ext cx="961136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客房模块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客房管理模块主要负责保存、读取客房数据，如客房编号、名称、价格等，该模块需要设计一个客房类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，类中定义客房的数据信息作为成员变量，并提供获取这些客房数据的成员函数。此外，由于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类中还要负责将客房数据保存到本地文件中，在显示客房信息时，负责从文件读取客房信息，因此还需要定义文件读写函数。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项目设计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 descr="C:\Users\admin\Documents\Tencent Files\731556221\Image\C2C\BZ[HYH{A3FL1~Z)J4UC`1]K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560" y="1261739"/>
            <a:ext cx="4969920" cy="507810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项目设计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2113280" y="1310640"/>
            <a:ext cx="9377680" cy="4582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客房管理模块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客房管理模块主要负责管理客房，如查看客房状态、添加客房、删除客房、设置客房状态等，该模块需要设计一个客房管理类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，定义各种功能函数。由于管理客房时，每次需要从文件中读取客房数据，在设计时，可以将读取的客房数据保存到一个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容器中，以客房编号为键，以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类对象为值，因此，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类中需要定义一个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容器作为成员变量存储客房信息。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项目设计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 descr="C:\Users\admin\Documents\Tencent Files\731556221\Image\C2C\Z]P[XZUK%ZDA][MCBYS9YJH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560" y="2128252"/>
            <a:ext cx="6554880" cy="281966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项目设计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37360" y="1463040"/>
            <a:ext cx="5059680" cy="4145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界面模块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界面模块主要负责显示酒店管理系统的操作界面，为添加客房、删除客房、设置客房状态、显示客房信息等操作提供提示信息，该模块需要设计一个界面类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RoomView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类，定义功能函数为各种操作提供界面显示。</a:t>
            </a:r>
          </a:p>
        </p:txBody>
      </p:sp>
      <p:pic>
        <p:nvPicPr>
          <p:cNvPr id="6" name="图片 5" descr="C:\Users\admin\Documents\Tencent Files\731556221\Image\C2C\98R1L$AAG9B6W3CEVDG([JL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520" y="2117892"/>
            <a:ext cx="4178800" cy="295194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600887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项目设计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242560" y="1737360"/>
            <a:ext cx="2641600" cy="762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三个类之间的关系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9073" name="Object 1"/>
          <p:cNvGraphicFramePr>
            <a:graphicFrameLocks noChangeAspect="1"/>
          </p:cNvGraphicFramePr>
          <p:nvPr/>
        </p:nvGraphicFramePr>
        <p:xfrm>
          <a:off x="2960283" y="3058160"/>
          <a:ext cx="7108519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83" name="Visio" r:id="rId5" imgW="4243032" imgH="573480" progId="Visio.Drawing.11">
                  <p:embed/>
                </p:oleObj>
              </mc:Choice>
              <mc:Fallback>
                <p:oleObj name="Visio" r:id="rId5" imgW="4243032" imgH="573480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283" y="3058160"/>
                        <a:ext cx="7108519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9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4348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客房模块的实现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564640" y="1361440"/>
            <a:ext cx="10027920" cy="4734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客户模块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负责保存、读取客房数据，如客房编号、名称、价格等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，该模块需要实现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11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个函数：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类的构造函数，初始化类成员变量。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generate_number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用于生成客房编号。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show_state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用于显示客房状态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sava_data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用于将客房数据保存到外部文件中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read_data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从文件中读取客房数据，并存储到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容器中，将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容器返回。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4348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客房模块的实现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2844800" y="1686560"/>
            <a:ext cx="7142480" cy="3637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get_num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用于获取客房编号。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set_state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用于设置客房状态。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8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get_name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用于获取客房名称。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9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get_price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用于获取客房价格。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get_area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用于获取客房面积。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11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get_bed_num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用于获取客房的床位数量。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客房管理模块的实现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503680" y="1503680"/>
            <a:ext cx="10139680" cy="3972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客房管理模块用于管理客房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，该模块需要实现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个函数：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GuestRoomManager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类的构造函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数，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类的匿名对象调用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read_data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函数读取文件，即每次通过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类对象管理客房时，都会先读取文件获取客房数据。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check_in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用于查找客房，其参数为客房编号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add_room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用于添加客房，其参数为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类对象，即要添加的客房。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客房管理模块的实现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99760" y="2123440"/>
            <a:ext cx="5567680" cy="2540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remove_data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用于删除客房数据，其参数为要删除客房的编号。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set_room_state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用于设置客房状态，其参数为客房编号。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1882775"/>
            <a:ext cx="3076575" cy="305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界面模块的实现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35760" y="1391920"/>
            <a:ext cx="10078720" cy="4622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界面模块负责显示酒店管理系统的操作界面，为添加客房、删除客房、设置客房状态、显示客房信息等操作提供提示信息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。该模块实现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个函数。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show_menu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用于显示酒店管理系统菜单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add_room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用于添加客房。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remove_data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用于删除客房。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set_room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用于设置客房状态。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show_all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用于显示所有客房信息。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run()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用于启动酒店管理系统。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界面模块的实现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425440" y="1534160"/>
            <a:ext cx="6146800" cy="4033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前面已经完成了酒店管理系统中所有功能模块的编写，但是功能模块是无法独立运行的，需要一个程序去将这些功能模块按照项目的逻辑思路整合起来，这样才能完成一个完整的项目。此时就需要创建一个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main.cpp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文件来整合这些代码，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main.cpp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文件中包含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函数，是程序的入口。</a:t>
            </a: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759902" y="1952943"/>
            <a:ext cx="3513138" cy="3295269"/>
            <a:chOff x="1922462" y="1952943"/>
            <a:chExt cx="3513138" cy="3295269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2462" y="1952943"/>
              <a:ext cx="3513138" cy="3295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 rot="2277755">
              <a:off x="3920969" y="2721645"/>
              <a:ext cx="1371517" cy="56098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main()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  <a:endParaRPr lang="zh-CN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17040" y="1351280"/>
            <a:ext cx="6146800" cy="1442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系统主菜单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系统运行后，显示系统主菜单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4080" y="2803614"/>
            <a:ext cx="6494443" cy="26827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17040" y="1209040"/>
            <a:ext cx="9662160" cy="177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显示客房信息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，显示客房信息，第一次运行程序时，由于还没有客房，因此显示客房信息时，没有任何信息，系统会提示先添加客房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3440" y="3023994"/>
            <a:ext cx="6094632" cy="31329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513840"/>
            <a:ext cx="9662160" cy="1107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添加客房信息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，添加客房信息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4880" y="3048948"/>
            <a:ext cx="5791200" cy="25288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280160"/>
            <a:ext cx="9662160" cy="1259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显示客房信息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添加客房之后，再次输入数字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，显示客房信息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8640" y="2627660"/>
            <a:ext cx="6665547" cy="34581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452880"/>
            <a:ext cx="9662160" cy="1330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设置客房状态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可以设置客房状态，在设置客房状态时，需要输入客房编号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4560" y="3095168"/>
            <a:ext cx="6252503" cy="15682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452880"/>
            <a:ext cx="9662160" cy="1270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输入客房编号之后，系统会更改该编号的客房状态。回到主菜单再次输入数字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，显示客房信息，可以看到客房状态改变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0720" y="2775878"/>
            <a:ext cx="6492105" cy="32693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452880"/>
            <a:ext cx="9662160" cy="13004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删除客房状态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，可以删除客房信息。在删除客房信息时，输入客房编号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0880" y="3102415"/>
            <a:ext cx="6573821" cy="17235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452880"/>
            <a:ext cx="9662160" cy="153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输入客房编号后，按回车键回到主菜单，系统会删除对应编号的客房信息。此时，再次输入数字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查看客房信息，编号为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84717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的客房不存在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6000" y="2848850"/>
            <a:ext cx="6205932" cy="31658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效果显示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86560" y="1452880"/>
            <a:ext cx="9662160" cy="153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退出管理系统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输入数字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，可以退出酒店管理系统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60" y="3050082"/>
            <a:ext cx="6736221" cy="164383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78880" y="2043113"/>
            <a:ext cx="4958080" cy="30673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程序开发过程中难免会出现各种各样的错误。为了快速发现和解决程序中的这些错误，可以使用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Visual Studio2019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自带的调试功能，通过程序调试快速定位错误。</a:t>
            </a:r>
          </a:p>
        </p:txBody>
      </p:sp>
      <p:pic>
        <p:nvPicPr>
          <p:cNvPr id="8" name="Picture 2" descr="http://pic3.16pic.com/00/09/61/16pic_961640_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8" y="2043113"/>
            <a:ext cx="3467342" cy="279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设置断点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412998" y="2205673"/>
            <a:ext cx="4221480" cy="250856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单击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鼠标右键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在程序中，将鼠标放置在要插入断点的行，单击鼠标右键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→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【断点】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→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【插入断点】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1527174"/>
            <a:ext cx="4219575" cy="420306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设置断点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95120" y="1445101"/>
            <a:ext cx="10139680" cy="71024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在上图中，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单击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插入断点选项后，选中的代码行左边会有一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红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色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圆点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160" y="2233733"/>
            <a:ext cx="6901840" cy="40248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设置断点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244080" y="2336799"/>
            <a:ext cx="3870960" cy="24360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调试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完毕要删除断点也是非常简单的，将鼠标放置在断点代码行，单击鼠标右键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→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【删除断点】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30" y="1521618"/>
            <a:ext cx="4225290" cy="433054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设置断点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085022" y="1880553"/>
            <a:ext cx="9578658" cy="32410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单击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鼠标左键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除了上述方式，读者还可以在代码左边的灰色区域单击鼠标左键插入断点，断点插入成功后左侧会也有彩色圆点出现。同样，删除断点时，只需再次左键单击代码左侧已插入的彩色圆点，便可删除断点。相比于上一种断点插入方式，这种方式更简单便捷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59902" y="1575752"/>
            <a:ext cx="6278880" cy="409352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程序出现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Bug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时，为了找出错误的原因，通常会采用一步一步跟踪程序执行流程的方式，这种调试方式称为单步调试。单步调试分为逐语句（快捷键【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F11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】）和逐过程（快捷键【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】），逐语句调试会进入方法内部调试，单步执行方法体的每条语句，逐过程调试不会进入方法体内部，而是把方法当作一步来执行。</a:t>
            </a:r>
          </a:p>
        </p:txBody>
      </p:sp>
      <p:pic>
        <p:nvPicPr>
          <p:cNvPr id="7" name="Picture 2" descr="http://pic1.16pic.com/00/28/38/16pic_2838993_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205" y="2144713"/>
            <a:ext cx="2939391" cy="293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759902" y="1209993"/>
            <a:ext cx="9822498" cy="1929448"/>
            <a:chOff x="1759902" y="1382713"/>
            <a:chExt cx="9822498" cy="1929448"/>
          </a:xfrm>
        </p:grpSpPr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1759902" y="1382713"/>
              <a:ext cx="9822498" cy="1929448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.</a:t>
              </a:r>
              <a:r>
                <a:rPr lang="zh-CN" altLang="zh-CN" sz="24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逐</a:t>
              </a:r>
              <a:r>
                <a:rPr lang="zh-CN" altLang="zh-CN" sz="24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语句调试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设置</a:t>
              </a:r>
              <a:r>
                <a:rPr lang="zh-CN" altLang="zh-CN" sz="2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断点之后，单击工具栏中的运行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按钮</a:t>
              </a: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r>
                <a:rPr lang="zh-CN" altLang="zh-CN" sz="24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，程序运行之后，遇到断点就会停止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执行</a:t>
              </a:r>
              <a:r>
                <a:rPr lang="zh-CN" altLang="en-US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。</a:t>
              </a:r>
              <a:endPara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pic>
          <p:nvPicPr>
            <p:cNvPr id="8" name="图片 7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5040" y="2194560"/>
              <a:ext cx="254000" cy="22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图片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1760" y="2617546"/>
            <a:ext cx="6154492" cy="37222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759902" y="1596073"/>
            <a:ext cx="9822498" cy="12893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调试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启动后，当遇到断点时，程序会停止执行，等待用户进行操作。程序开始调试时，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Visual 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Studio 2019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工具栏按钮会发生变化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517170"/>
              </p:ext>
            </p:extLst>
          </p:nvPr>
        </p:nvGraphicFramePr>
        <p:xfrm>
          <a:off x="3329118" y="3210560"/>
          <a:ext cx="6395908" cy="222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16" name="Visio" r:id="rId5" imgW="3529017" imgH="1216728" progId="Visio.Drawing.11">
                  <p:embed/>
                </p:oleObj>
              </mc:Choice>
              <mc:Fallback>
                <p:oleObj name="Visio" r:id="rId5" imgW="3529017" imgH="1216728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9118" y="3210560"/>
                        <a:ext cx="6395908" cy="2225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24000" y="1596073"/>
            <a:ext cx="10546080" cy="40224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继续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执行：该按钮可以跳过调试语句，继续执行程序。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停止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调试：该按钮用于停止调试程序，快捷键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Shift+F5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重新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启动：该按钮用于重新启动程序调试，快捷键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Ctrl+Shift+F5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显示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下一条语句：该按钮用于显示下一条执行的语句，快捷键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Alt+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数字键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逐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语句：该按钮可以让程序按照逐语句进行调试，快捷键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F11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逐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过程：该按钮可以让程序按照逐过程进行调试，快捷键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跳出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：该按钮用于跳出正在执行的程序，快捷键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Shift+F11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51280" y="1270953"/>
            <a:ext cx="10546080" cy="119792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如果在调试时想逐语句调试，则按快捷键【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】或单击工具栏中的逐语句调试按钮，程序会进入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run()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函数内部一条一条执行语句。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pic>
        <p:nvPicPr>
          <p:cNvPr id="5" name="图片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1040" y="2438400"/>
            <a:ext cx="6678320" cy="39319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156960" y="2043112"/>
            <a:ext cx="5344160" cy="302672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在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上图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继续按快捷键【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F11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】或单击工具栏中的逐语句调试按钮，程序就会逐条语句往下执行，当执行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run()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函数就会接着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进入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show_menue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函数执行。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80" y="1750924"/>
            <a:ext cx="2841681" cy="34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113280" y="1931352"/>
            <a:ext cx="9712960" cy="30572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逐</a:t>
            </a:r>
            <a:r>
              <a:rPr lang="zh-CN" altLang="zh-CN" sz="2400" dirty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过程调试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逐过程调试在每次调试时执行一个函数，当调试开始时，按快捷键【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】或单击工具栏中的逐过程调试按钮，可以一次执行一个函数。连续按快捷键【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F10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】或单击工具栏中的逐过程调试按钮，程序会逐个函数的往下执行，直到程序执行完毕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单步调试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167120" y="1626552"/>
            <a:ext cx="4744720" cy="40020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调试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程序一般是为了查找错误，当查找完错误之后就会结束调试，并不会全程调试。如果查找完错误之前，想要结束调试，可单击工具栏中的运行按钮继续往下执行程序，也可以单击工具栏中的停止调试按钮结束程序执行。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061" y="1835401"/>
            <a:ext cx="2939494" cy="4062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观察变量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113280" y="1493520"/>
            <a:ext cx="9712960" cy="401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1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鼠标悬停法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Visual Studio2019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可以通过鼠标悬停的方式查看变量的值，即鼠标指向变量，变量就会显示出其值。例如，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run()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函数中定义了变量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，下面以查看变量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的值为例演示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Visual Studio2019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查看变量的方法。程序还未执行第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82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行代码：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&gt;&gt;flag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，此时，变量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-1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，可通过鼠标悬停的方式进行查看，将鼠标悬停在变量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上面，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Visual Studio2019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会显示出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观察变量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920" y="1539776"/>
            <a:ext cx="7790963" cy="461718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观察变量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20800" y="1239520"/>
            <a:ext cx="10200640" cy="2052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通过鼠标悬停的方式查看到变量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-1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。继续逐语句往下执行，当执行完第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82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行代码时，通过键盘输入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的值，此时再查看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就变成了输入的数值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520" y="2559698"/>
            <a:ext cx="6398217" cy="367854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观察变量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20800" y="1239520"/>
            <a:ext cx="10200640" cy="280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2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使用局部变量窗口查看变量的值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除了鼠标悬停之外，还可以通过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Visual Studio2019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下面的局部变量窗口查看变量的值，在菜单栏中选择【调试】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→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【窗口】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→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【局部变量】打开局部变量窗口查看变量的值，在该窗口中可以看到当前运行代码之前所有变量的名称、当前值和类型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pic>
        <p:nvPicPr>
          <p:cNvPr id="8" name="图片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4400" y="4038450"/>
            <a:ext cx="6238240" cy="22505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观察变量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402080" y="1463040"/>
            <a:ext cx="4978400" cy="3972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3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使用快速监视窗口查看变量的值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程序调试过程中，在代码区单击鼠标右键选择【快速监视】，弹出快速监视窗口，在该窗口的表达式文本框中输入要监视的变量，单击【重新计算】按钮，就可以查看变量的名称、值与数据类型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5760" y="1927566"/>
            <a:ext cx="4956305" cy="30609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观察变量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422400" y="1351280"/>
            <a:ext cx="10424160" cy="2407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4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使用即时窗口查看变量的值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在代码调试的过程中，在菜单栏选择【调试】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→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【窗口】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→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【即时】打开即时窗口，在即时窗口中直接输入程序中的变量名，按回车即可查看变量的值，也可以在变量名前加上“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&amp;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”（取地址符），查看变量的地址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pic>
        <p:nvPicPr>
          <p:cNvPr id="8" name="图片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3440" y="3838270"/>
            <a:ext cx="6252566" cy="18919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49120" y="1798320"/>
            <a:ext cx="9499600" cy="3535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在酒店管理系统的主菜单中，要求输入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1~5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之间的整数，如果输入不符合要求的数据，如输入一个字符，则系统会一直闪屏无响应。对此进行分析，主菜单的输入操作由界面模块的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run()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函数实现，在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room_view.cpp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文件中，第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81~105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行代码定义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int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类型变量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，利用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对象从键盘输入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的值，然后判断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的值，根据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的值调用不同的函数以实现不同的操作。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38960" y="1747520"/>
            <a:ext cx="5567680" cy="3535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当输入字符时，系统闪屏无响应，表明第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81~105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行代码在输入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值或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switch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case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语句对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的处理不够严谨，需要对第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81~105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行代码进行调试。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room_view.cpp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文件中第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行代码设置断点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320" y="2043113"/>
            <a:ext cx="3276600" cy="3424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4320" y="1510092"/>
            <a:ext cx="7820059" cy="46671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71040" y="1554480"/>
            <a:ext cx="9225280" cy="3667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设置断点之后开始调试，通过逐语句调试跟踪每一步操作。当程序运行至第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83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行代码时，发现在调用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对象输入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的值时，没有对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对象作错误处理。利用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对象为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int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类型变量输入数据时，如果输入的是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char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类型的数据，则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对象的一个错误标记会被设置，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对象就不能再使用，再次调用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&gt;&gt;flag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会直接返回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false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（即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0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）。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switch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case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语句无法匹配到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0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，因此，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while(state)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循环会无限循环，导致系统主菜单界面闪屏无响应。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11.4.4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项目调试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71040" y="1554480"/>
            <a:ext cx="9225280" cy="3667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经过上面的调试和分析，已确定了程序中的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bug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所在，在修改时，可以调用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clear()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函数清除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对象的错误标志，恢复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对象的默认状态；然后再调用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ignore()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函数将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对象中不符合输入选项的数据忽略。在图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11-26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中第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83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行代码后添加如下代码，解决由于输入错误导致程序运行出错的问题。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cin.clear</a:t>
            </a:r>
            <a:r>
              <a:rPr lang="en-US" altLang="zh-CN" sz="2400" dirty="0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();		//</a:t>
            </a:r>
            <a:r>
              <a:rPr lang="zh-CN" altLang="zh-CN" sz="2400" dirty="0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清除</a:t>
            </a:r>
            <a:r>
              <a:rPr lang="en-US" altLang="zh-CN" sz="2400" dirty="0" err="1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对象的错误标志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cin.ignore</a:t>
            </a:r>
            <a:r>
              <a:rPr lang="en-US" altLang="zh-CN" sz="2400" dirty="0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();		//</a:t>
            </a:r>
            <a:r>
              <a:rPr lang="zh-CN" altLang="zh-CN" sz="2400" dirty="0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忽略</a:t>
            </a:r>
            <a:r>
              <a:rPr lang="en-US" altLang="zh-CN" sz="2400" dirty="0" err="1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cin</a:t>
            </a:r>
            <a:r>
              <a:rPr lang="zh-CN" altLang="zh-CN" sz="2400" dirty="0" smtClean="0">
                <a:solidFill>
                  <a:srgbClr val="00B0F0"/>
                </a:solidFill>
                <a:latin typeface="Lucida Sans Unicode"/>
                <a:ea typeface="微软雅黑" pitchFamily="34" charset="-122"/>
                <a:cs typeface="Lucida Sans Unicode"/>
              </a:rPr>
              <a:t>对象中残留数据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项目心得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71040" y="1554480"/>
            <a:ext cx="9225280" cy="3667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1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项目整体规划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每一个项目，在实现之前都要进行分析设计，项目整体要实现哪些功能。将这些功能划分成不同的模块，如果模块较大还可以在内部划分成更小的功能模块。这样逐个实现每个模块，条理清晰。在实现各个模块后，需要将模块整合，使各个功能协调有序的进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项目心得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88160" y="1463040"/>
            <a:ext cx="9702800" cy="3881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2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类的设计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在项目开发中，类的设计要简洁、独立，要降低类之间的耦合性。在本项目中，每个模块设计了一个类，每个类都根据模块的功能封装了成员变量与成员函数。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类负责保存客房数据，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类用于管理客房数据，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GuestView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类用于显示系统界面，三个类相互独立，若需要增加新的功能只需要修改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即可，上层显示模块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GuestView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只需要调用即可。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项目心得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98320" y="1767840"/>
            <a:ext cx="9377680" cy="2976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在设计时，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GuestRoom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类将客房数据保存到文件或者从文件中读取数据时，以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容器作为载体，实现客房数据的存储和读取，如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类中以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map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容器作为成员变量，实现对客房数据的管理；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GuestView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类以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GuestRoomManager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类对象作为成员变量，以实现各个操作的界面管理，三个类又相互联系。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项目心得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98320" y="1767840"/>
            <a:ext cx="9377680" cy="2976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3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清屏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酒店管理系统是一个多操作项目，每一次操作切换需要把上一个操作的内容清空，这就要涉及清屏，如果不清屏，会造成多个屏幕内容显示过多。清屏可使用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system("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cls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")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语句实现，本项目就在多处使用该语句，场景切换处理的很好。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506720" y="1366494"/>
            <a:ext cx="6228080" cy="470898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本章综合运用前面所讲的知识，设计了一个综合项目——酒店管理系统，使大家了解如何开发一个多模块多文件的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程序。在开发这个程序时，首先将一个项目拆分成若干个小的模块，然后分别设计每个模块所需要的类。在实现时，将每个模块的声明和定义分开，放置在头文件和源文件中，最后在一个含有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main()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函数的源文件中，将它们的头文件包含进来，并利用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main()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函数将所有的模块联系起来。通过这个项目的学习，读者会对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程序开发流程有个整体的认识，这对实际工作中是大有裨益的。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0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43c27cd2411386fd15427cba457cf245c956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6 本章小结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5245</TotalTime>
  <Words>3253</Words>
  <Application>Microsoft Office PowerPoint</Application>
  <PresentationFormat>宽屏</PresentationFormat>
  <Paragraphs>218</Paragraphs>
  <Slides>56</Slides>
  <Notes>56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7" baseType="lpstr">
      <vt:lpstr>等线</vt:lpstr>
      <vt:lpstr>等线 Light</vt:lpstr>
      <vt:lpstr>方正细倩简体</vt:lpstr>
      <vt:lpstr>宋体</vt:lpstr>
      <vt:lpstr>微软雅黑</vt:lpstr>
      <vt:lpstr>Arial</vt:lpstr>
      <vt:lpstr>Calibri</vt:lpstr>
      <vt:lpstr>Lucida Sans Unicode</vt:lpstr>
      <vt:lpstr>Times New Roman</vt:lpstr>
      <vt:lpstr>Office 主题​​</vt:lpstr>
      <vt:lpstr>Visio</vt:lpstr>
      <vt:lpstr>第11章 综合项目—酒店管理系统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薛蒙蒙</cp:lastModifiedBy>
  <cp:revision>753</cp:revision>
  <dcterms:created xsi:type="dcterms:W3CDTF">2016-08-25T05:35:30Z</dcterms:created>
  <dcterms:modified xsi:type="dcterms:W3CDTF">2021-03-26T09:48:20Z</dcterms:modified>
</cp:coreProperties>
</file>