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522" r:id="rId3"/>
    <p:sldId id="1337" r:id="rId4"/>
    <p:sldId id="1339" r:id="rId5"/>
    <p:sldId id="1340" r:id="rId6"/>
    <p:sldId id="1341" r:id="rId7"/>
    <p:sldId id="1342" r:id="rId8"/>
    <p:sldId id="1343" r:id="rId9"/>
    <p:sldId id="1344" r:id="rId10"/>
    <p:sldId id="1345" r:id="rId11"/>
    <p:sldId id="1347" r:id="rId12"/>
    <p:sldId id="1348" r:id="rId13"/>
    <p:sldId id="1349" r:id="rId14"/>
    <p:sldId id="1350" r:id="rId15"/>
    <p:sldId id="1351" r:id="rId16"/>
    <p:sldId id="1352" r:id="rId17"/>
    <p:sldId id="1353" r:id="rId18"/>
    <p:sldId id="1354" r:id="rId19"/>
    <p:sldId id="1355" r:id="rId20"/>
    <p:sldId id="1356" r:id="rId21"/>
    <p:sldId id="1357" r:id="rId22"/>
    <p:sldId id="1358" r:id="rId23"/>
    <p:sldId id="1359" r:id="rId24"/>
    <p:sldId id="1360" r:id="rId25"/>
    <p:sldId id="1361" r:id="rId26"/>
    <p:sldId id="1362" r:id="rId27"/>
    <p:sldId id="1363" r:id="rId28"/>
    <p:sldId id="1364" r:id="rId29"/>
    <p:sldId id="1365" r:id="rId30"/>
    <p:sldId id="1366" r:id="rId31"/>
    <p:sldId id="1367" r:id="rId32"/>
    <p:sldId id="1368" r:id="rId33"/>
    <p:sldId id="1369" r:id="rId34"/>
    <p:sldId id="1370" r:id="rId35"/>
    <p:sldId id="335" r:id="rId36"/>
    <p:sldId id="283" r:id="rId37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3" autoAdjust="0"/>
    <p:restoredTop sz="74611" autoAdjust="0"/>
  </p:normalViewPr>
  <p:slideViewPr>
    <p:cSldViewPr snapToGrid="0">
      <p:cViewPr varScale="1">
        <p:scale>
          <a:sx n="88" d="100"/>
          <a:sy n="88" d="100"/>
        </p:scale>
        <p:origin x="47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3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5327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4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17273" y="-3221"/>
            <a:ext cx="6259483" cy="1600200"/>
            <a:chOff x="3117273" y="-3221"/>
            <a:chExt cx="6259483" cy="1600200"/>
          </a:xfrm>
        </p:grpSpPr>
        <p:sp>
          <p:nvSpPr>
            <p:cNvPr id="11" name="矩形 10"/>
            <p:cNvSpPr/>
            <p:nvPr userDrawn="1"/>
          </p:nvSpPr>
          <p:spPr>
            <a:xfrm>
              <a:off x="3117273" y="-3221"/>
              <a:ext cx="6259483" cy="1600200"/>
            </a:xfrm>
            <a:prstGeom prst="rect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3773" y="760266"/>
              <a:ext cx="3590099" cy="560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76687" y="1099045"/>
            <a:ext cx="423862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\AppData\Local\Temp\企业微信截图_1612256527179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21" y="6489221"/>
            <a:ext cx="1733550" cy="34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5" name="矩形 4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3" name="矩形 2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441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pPr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1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6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5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 smtClean="0">
                <a:latin typeface="方正细倩简体"/>
                <a:ea typeface="方正细倩简体"/>
                <a:cs typeface="方正细倩简体"/>
              </a:rPr>
              <a:t>9</a:t>
            </a:r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章 异常</a:t>
            </a:r>
            <a:endParaRPr lang="zh-CN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5792511" y="4840218"/>
            <a:ext cx="19365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异常处理方式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栈解旋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标准异常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静态断言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784" y="5203668"/>
            <a:ext cx="1905952" cy="1054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072520" y="1685305"/>
            <a:ext cx="5996538" cy="411770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，如果函数在调用时发生异常，异常通常会被传递给函数的调用者进行处理，而不在发生异常的函数内部处理。如果函数调用者也不能处理异常，则异常会继续向上一层调用者传递，直到异常被处理为止。如果最终异常没有被处理，则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运行系统就会捕捉异常，终止程序运行。</a:t>
            </a:r>
          </a:p>
        </p:txBody>
      </p:sp>
      <p:pic>
        <p:nvPicPr>
          <p:cNvPr id="3338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276" y="1407198"/>
            <a:ext cx="2996314" cy="467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29804" y="1340255"/>
            <a:ext cx="8450981" cy="4897208"/>
            <a:chOff x="1982804" y="1292130"/>
            <a:chExt cx="8450981" cy="4897208"/>
          </a:xfrm>
        </p:grpSpPr>
        <p:pic>
          <p:nvPicPr>
            <p:cNvPr id="39526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82804" y="1292130"/>
              <a:ext cx="8450981" cy="4897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521828" y="2108813"/>
              <a:ext cx="5139889" cy="3493087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C++</a:t>
              </a:r>
              <a:r>
                <a:rPr lang="zh-CN" altLang="zh-CN" sz="24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的异常处理机制使得异常的引发和处理不必在同一函数中完成，函数的调用者可以在适当的位置对函数抛出的异常进行处理。这样，底层的函数可以着重解决具体的业务问题，而不必考虑对异常的处理。</a:t>
              </a:r>
              <a:endPara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59293" y="1540041"/>
            <a:ext cx="10068025" cy="411961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的异常处理通过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throw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语句结构实现。通常情况下，被调用的函数如果发生异常，就通过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throw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关键字抛出异常，而函数的上层调用者通过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语句检测捕获异常，并对异常进行处理。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throw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关键字抛出异常的语法格式如下所示：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throw 表达式;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在上述格式中，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throw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后面的表达式可以是常量、变量或对象。如果函数调用中出现异常，就可以通过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throw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将表示异常的表达式抛给它的调用者。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913819" y="1509566"/>
            <a:ext cx="9289978" cy="43329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语句的语法格式如下所示：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try{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	}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		</a:t>
            </a:r>
            <a:r>
              <a:rPr lang="x-none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//可能会出现异常的代码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 (异常类型1) {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//异常处理代码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 (异常类型2) {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	}</a:t>
            </a:r>
            <a:r>
              <a:rPr lang="x-none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//异常处理代码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 (异常类型n) {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	} 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//异常处理代码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 (...){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	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	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 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//异常处理代码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5176794" y="1722921"/>
            <a:ext cx="6065514" cy="357097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在上述格式中，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语句块用于检测可能发生异常的代码（函数调用），如果这段代码抛出了异常，则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语句会依次对抛出的异常进行类型匹配，如果某个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语句中的异常类型与抛出的异常的类型相同，则该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语句就捕获异常并对异常进行处理。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39629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11167" y="1624865"/>
            <a:ext cx="3549516" cy="3549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540040" y="1655540"/>
            <a:ext cx="10299031" cy="374422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语句时，有以下几点需要注意：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语句中，只能有一个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语句块，但可以有多个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语句块，以便与不同的异常信息匹配。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语句必须有参数，如果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语句块中的代码抛出了异常，无论抛出的异常的值是什么，只要异常的类型与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语句的参数类型匹配，异常就会被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语句捕获。最后一个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语句参数为“…”符号，表示可以捕获任意类型的异常。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617045" y="1953928"/>
            <a:ext cx="10068025" cy="293570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一旦某个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语句捕获到了异常，后面的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语句将不会再执行，其用法类似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switch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case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语句块中的代码必须使用大括号“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{}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”括起来，即使语句块中只有一行代码。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语句不能单独使用，必须连起来使用。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121668" y="1886552"/>
            <a:ext cx="4485373" cy="32629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语句处理异常时，如果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语句块中的某一行代码抛出了异常，则无论异常是否被处理，抛出异常的语句后面的代码都不再执行。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487562" y="1572477"/>
            <a:ext cx="2834640" cy="3676730"/>
            <a:chOff x="2311398" y="1676344"/>
            <a:chExt cx="2834640" cy="3676730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注</a:t>
              </a:r>
              <a:r>
                <a:rPr lang="zh-CN" altLang="en-US" sz="28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意</a:t>
              </a:r>
              <a:endPara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435187" y="1530416"/>
            <a:ext cx="8402859" cy="4158115"/>
            <a:chOff x="2271562" y="1530416"/>
            <a:chExt cx="7854215" cy="4158115"/>
          </a:xfrm>
        </p:grpSpPr>
        <p:pic>
          <p:nvPicPr>
            <p:cNvPr id="397314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71562" y="1530416"/>
              <a:ext cx="7854215" cy="41196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内容占位符 2"/>
            <p:cNvSpPr txBox="1">
              <a:spLocks/>
            </p:cNvSpPr>
            <p:nvPr/>
          </p:nvSpPr>
          <p:spPr>
            <a:xfrm>
              <a:off x="3234089" y="1578543"/>
              <a:ext cx="6622180" cy="4109988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try{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func();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add();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cout &lt;&lt; 3/0&lt;&lt; endl;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catch (int){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cout &lt;&lt; "异常处理" &lt;&lt; endl;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x-none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 &lt;&lt; "异常处理完毕，程序从此处开始向下执行" &lt;&lt; endl;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011683" y="1607417"/>
            <a:ext cx="6063913" cy="381160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在上述格式中，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语句块用于检测可能发生异常的代码（函数调用），如果这段代码抛出了异常，则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语句会依次对抛出的异常进行类型匹配，如果某个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语句中的异常类型与抛出的异常的类型相同，则该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语句就捕获异常并对异常进行处理。</a:t>
            </a:r>
          </a:p>
        </p:txBody>
      </p:sp>
      <p:pic>
        <p:nvPicPr>
          <p:cNvPr id="39833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49491" y="1533024"/>
            <a:ext cx="2562225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55426" y="1227909"/>
            <a:ext cx="8870867" cy="5303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579559" y="1156866"/>
            <a:ext cx="8162220" cy="4937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//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9-1    tryCatch.cpp</a:t>
            </a:r>
            <a:endParaRPr lang="en-US" altLang="zh-CN" sz="1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AbstractException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		//</a:t>
            </a:r>
            <a:r>
              <a: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定义抽象异常类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AbstractException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public: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virtual void 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printErr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 = 0;	//</a:t>
            </a:r>
            <a:r>
              <a: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纯虚函数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printErr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};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FileException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: public 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AbstractException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public: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virtual void 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printErr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 {  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&lt;&lt; "</a:t>
            </a:r>
            <a:r>
              <a: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错误：文件不存在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 &lt;&lt; 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 }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};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DivideException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: public 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AbstractException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public: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virtual void 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printErr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(){  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cout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&lt;&lt; "</a:t>
            </a:r>
            <a:r>
              <a: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错误：除零异常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" &lt;&lt; 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endl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 }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};</a:t>
            </a:r>
            <a:endParaRPr lang="zh-CN" altLang="zh-CN" sz="18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992429" y="1376414"/>
            <a:ext cx="9182502" cy="4793380"/>
            <a:chOff x="1992429" y="1376414"/>
            <a:chExt cx="9182502" cy="4793380"/>
          </a:xfrm>
        </p:grpSpPr>
        <p:pic>
          <p:nvPicPr>
            <p:cNvPr id="40038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92429" y="1376414"/>
              <a:ext cx="9182502" cy="4793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483308" y="1434167"/>
              <a:ext cx="8412489" cy="4668248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readFile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readFile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ifstream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ifs("log.txt");  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创建文件输入流对象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ifs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并打开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log.txt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文件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if (!ifs){   throw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FileException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} 	//</a:t>
              </a:r>
              <a:r>
                <a:rPr lang="zh-CN" altLang="en-US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文件打开失败，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抛出异常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ifs.close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关闭文件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divide(){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num1 = 100;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num2 = 2;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if (num2 == 0)	{  throw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DivideException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 } 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抛出异常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ret = num1 / num2;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两个数相除结果：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ret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10063" y="1434164"/>
            <a:ext cx="8845617" cy="4735630"/>
            <a:chOff x="2310063" y="1434164"/>
            <a:chExt cx="8845617" cy="4735630"/>
          </a:xfrm>
        </p:grpSpPr>
        <p:pic>
          <p:nvPicPr>
            <p:cNvPr id="40141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310063" y="1434164"/>
              <a:ext cx="8845617" cy="4735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569933" y="1482294"/>
              <a:ext cx="8412489" cy="4668248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try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readFile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divide();	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catch 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FileException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fex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捕获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FileException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类型异常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fex.printErr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调用相应函数输出异常信息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catch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DivideException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dex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捕获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DivideException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类型异常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dex.printErr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catch (...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){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处理其他异常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程序执行结束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03673" y="1578539"/>
            <a:ext cx="10010272" cy="40329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上述代码定义了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异常类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AbstractException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AbstractException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类是一个抽象类，该类声明了纯虚函数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printErr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然后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定义了文件异常类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FileException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公有继承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AbstractException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FileException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类实现了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printErr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函数，用于输出文件不存在的错误提示信息。定义异常类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DivideException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公有继承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AbstractException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DivideException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类实现了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printErr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函数，用于输出除数为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的错误提示信息。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异常处理方式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703673" y="1867289"/>
            <a:ext cx="10010272" cy="31474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语句检测并捕获异常。在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语句块中，检测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readFile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divide()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函数调用，如果有异常抛出，则通过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语句捕获异常。第一个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语句捕获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FileException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&amp;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类型的异常，第二个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语句捕获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DivideException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&amp;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类型的异常，第三个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语句捕获任意类型的异常。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栈解旋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59295" y="1694046"/>
            <a:ext cx="6160166" cy="36094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的异常处理机制不仅能够处理各种不同类型的异常，而且还可以在异常处理前释放所有局部对象。从进入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语句块开始，到异常被抛出之前，这期间在栈上创建的所有对象都会被析构，析构的顺序与构造的顺序相反，这一过程称为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栈解旋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或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栈自旋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40243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45150" y="1588970"/>
            <a:ext cx="3770568" cy="4301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栈解旋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963553" y="1352116"/>
            <a:ext cx="8893742" cy="4978558"/>
            <a:chOff x="1896178" y="1395661"/>
            <a:chExt cx="8893742" cy="4978558"/>
          </a:xfrm>
        </p:grpSpPr>
        <p:pic>
          <p:nvPicPr>
            <p:cNvPr id="403458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896178" y="1397958"/>
              <a:ext cx="8893742" cy="4976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550670" y="1395661"/>
              <a:ext cx="8008217" cy="47933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9-2     stackUnwinding.cpp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Shape{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Shape();		~Shape();	static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count;	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Shape::count = 0;		//count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初始值为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Shape::Shape(){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count++;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if (Shape::count == 3)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throw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纸张画不下啦！！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"Shape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构造函数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    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Shape::~Shape()	{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"Shape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析构函数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栈解旋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90300" y="1337912"/>
            <a:ext cx="9548260" cy="4793381"/>
            <a:chOff x="1790300" y="1337912"/>
            <a:chExt cx="9548260" cy="4793381"/>
          </a:xfrm>
        </p:grpSpPr>
        <p:pic>
          <p:nvPicPr>
            <p:cNvPr id="40448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790300" y="1337912"/>
              <a:ext cx="9548260" cy="4793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396681" y="1376413"/>
              <a:ext cx="8576107" cy="4658627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Shape circle;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画圆形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try{			//try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语句块检测可能抛出异常的代码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num = 2;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类型变量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num,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表示纸张可画两个图形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纸张可画图形个数：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num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Shape rectangle;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画长方形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Shape  triangle;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画三角形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catch (const char* e){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e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栈解旋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255395" y="1386039"/>
            <a:ext cx="6256420" cy="448537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上述代码定义了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形状类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Shape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，该类声明了一个静态成员变量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count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，用于记录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Shape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类对象的个数。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当创建的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Shape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类对象超过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个时，构造函数就抛出异常。在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函数中，首先创建了个对象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circle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，然后在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语句块中又创建了两个对象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rectangle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triangle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，当创建第三个对象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triangle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时，程序会抛出异常，被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catch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语句捕获。</a:t>
            </a: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40550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18661" y="1636361"/>
            <a:ext cx="3676851" cy="428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栈解旋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333424" y="2483319"/>
            <a:ext cx="4398744" cy="15496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栈解旋只能析构栈上的对象，动态对象不会被析构。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487562" y="1572477"/>
            <a:ext cx="2834640" cy="3676730"/>
            <a:chOff x="2311398" y="1676344"/>
            <a:chExt cx="2834640" cy="367673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注</a:t>
              </a:r>
              <a:r>
                <a:rPr lang="zh-CN" altLang="en-US" sz="28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意</a:t>
              </a:r>
              <a:endPara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标准异常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589195" y="2319689"/>
            <a:ext cx="4119612" cy="24063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提供了一组标准异常类，这些类以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为根基类，程序中抛出的所有标准异常都继承自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类。</a:t>
            </a:r>
          </a:p>
        </p:txBody>
      </p:sp>
      <p:pic>
        <p:nvPicPr>
          <p:cNvPr id="40653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36581" y="1823319"/>
            <a:ext cx="3021932" cy="3325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标准异常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531444" y="1491916"/>
            <a:ext cx="8460606" cy="44083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类定义在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头文件中，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其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exception {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public: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exception ()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noexcept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exception (const exception&amp;)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noexcept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exception&amp; operator= (const exception&amp;)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noexcept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virtual ~exception();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virtual const char* what() const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noexcept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};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55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4388" y="1146087"/>
            <a:ext cx="5608788" cy="568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标准异常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222409" y="1299411"/>
            <a:ext cx="3205212" cy="119353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派生出了一个庞大的异常类库：</a:t>
            </a:r>
            <a:endParaRPr lang="zh-CN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标准异常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17037" y="1482289"/>
            <a:ext cx="9942897" cy="41388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logic_error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类与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runtime_error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类是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类最主要的两个派生类，它们都定义在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stdexcept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头文件中。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logic_error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类表示那些可以在程序中被预先检测到的异常，即通过检查或编译可以发现的错误。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runtime_error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则表示运行时异常，这类错误只有在程序运行时才能被检测到。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logic_error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runtime_error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类都有一个带有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const string&amp;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类型参数的构造函数，构造异常对象时，可以将错误信息传递给该参数，通过调用异常对象的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what()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函数，可以得到构造时提供的异常信息。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标准异常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405288" y="1392452"/>
            <a:ext cx="10366409" cy="4729671"/>
            <a:chOff x="1405288" y="1453415"/>
            <a:chExt cx="10366409" cy="4729671"/>
          </a:xfrm>
        </p:grpSpPr>
        <p:pic>
          <p:nvPicPr>
            <p:cNvPr id="408579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05288" y="1453415"/>
              <a:ext cx="10366409" cy="47296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1732538" y="1501998"/>
              <a:ext cx="9942897" cy="4138862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9-3   stdexception.cpp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Animal{				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定义动物类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speak();		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Animal::speak(){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动物叫声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} 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类外实现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Cat :public Animal{	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猫类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公有继承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speak();		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Cat::speak()	{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小猫喵喵叫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标准异常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61424" y="1414915"/>
            <a:ext cx="9654138" cy="4783754"/>
            <a:chOff x="1761424" y="1414915"/>
            <a:chExt cx="9654138" cy="4783754"/>
          </a:xfrm>
        </p:grpSpPr>
        <p:pic>
          <p:nvPicPr>
            <p:cNvPr id="40960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761424" y="1414915"/>
              <a:ext cx="9654138" cy="4783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290787" y="1482288"/>
              <a:ext cx="9038129" cy="462012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Animal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类对象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Animal&amp; ref = animal;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类引用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ref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ref.speak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通过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的引用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ref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try{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将引用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ref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强制转换为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Cat&amp;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类型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Cat&amp; cat =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dynamic_cast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&lt;Cat&amp;&gt;(ref);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cat.speak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catch (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bad_cast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&amp; ex){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ex.what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标准异常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17037" y="1482289"/>
            <a:ext cx="9942897" cy="41388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上述代码定义了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个类：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类：定义了虚函数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类：公有继承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类，定义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函数中，定义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对象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，并定义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类引用指向对象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，然后在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try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语句块中，定义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类引用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指向对象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由于引用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ref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指向的是基类对象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，因此在将其转换为派生类引用时会发生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bad_cast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异常。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标准异常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74787" y="1597789"/>
            <a:ext cx="9942897" cy="41388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exception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类定义中，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noexcept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关键字表示函数不抛出异常。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noexcept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关键字是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C++11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新增的关键字，在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C++11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之前，如果一个函数不抛出异常，则在函数后面添加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throw()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，示例代码如下：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void func() throw();</a:t>
            </a:r>
            <a:endParaRPr lang="zh-CN" altLang="zh-CN" sz="2400" dirty="0" smtClean="0">
              <a:solidFill>
                <a:srgbClr val="FF0000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相比于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throw()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noexcept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关键字有利于编译器优化代码，但它并不是适用于任何地方。在指定函数是否抛出异常时，如果读者对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noexcept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关键不是很熟悉，尽量还是使用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throw()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，而不要轻易使用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noexcept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关键字。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静态断言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771038" y="1414914"/>
            <a:ext cx="9760023" cy="46201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断言是编程中常用的一种调试手段，在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C++11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之前，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assert()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宏进行断言。但是，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assert()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宏只能在程序运行时期执行，这意味着不运行程序将无法检测到断言错误。如果每次断言都要执行一遍程序，则检测效率就会降低。另外，对于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中使用较多的模板来说，模板实例化是在编译阶段完成的，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assert()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断言不能在编译阶段完成对模板实例化的检测。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为此，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C++11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引入了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static_assert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关键字，用于实现编译时断言，称为静态断言。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静态断言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771038" y="1491914"/>
            <a:ext cx="9760023" cy="416773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静态断言的语法格式如下所示：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static_assert(常量表达式， 提示字符串);</a:t>
            </a:r>
            <a:endParaRPr lang="zh-CN" altLang="zh-CN" sz="2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在上述格式中，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static_assert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有两个参数，第一个参数是一个常量表达式，即断言表达式；第二个参数是一个字符串。在执行断言时，编译器首先检测“常量表达式”的值，若常量表达式值为真，则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static_assert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不做任何操作，程序继续完成编译；若常量表达式值为假，则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static_assert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产生一条编译错误提示，错误提示就是第二个参数。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静态断言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74798" y="1262744"/>
            <a:ext cx="9625263" cy="4998716"/>
            <a:chOff x="1597798" y="1520794"/>
            <a:chExt cx="9625263" cy="4998716"/>
          </a:xfrm>
        </p:grpSpPr>
        <p:pic>
          <p:nvPicPr>
            <p:cNvPr id="41062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97798" y="1520794"/>
              <a:ext cx="9625263" cy="49987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107935" y="1530415"/>
              <a:ext cx="8797491" cy="461050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9-4    staticAssert.cpp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template&lt;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typename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T,typename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U&gt;	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(T&amp; t, U&amp; u){					//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定义函数模板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static_assert</a:t>
              </a:r>
              <a:r>
                <a:rPr lang="en-US" altLang="zh-CN" sz="18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</a:t>
              </a:r>
              <a:r>
                <a:rPr lang="en-US" altLang="zh-CN" sz="1800" dirty="0" err="1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sizeof</a:t>
              </a:r>
              <a:r>
                <a:rPr lang="en-US" altLang="zh-CN" sz="18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(t) == </a:t>
              </a:r>
              <a:r>
                <a:rPr lang="en-US" altLang="zh-CN" sz="1800" dirty="0" err="1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sizeof</a:t>
              </a:r>
              <a:r>
                <a:rPr lang="en-US" altLang="zh-CN" sz="18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(u),		//</a:t>
              </a:r>
              <a:r>
                <a:rPr lang="zh-CN" altLang="zh-CN" sz="18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静态断言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"the parameters must be the same width.");</a:t>
              </a:r>
              <a:endParaRPr lang="zh-CN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&lt;&lt; t &lt;&lt;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与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u &lt;&lt; "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字节大小相同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 &lt;&lt;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main(){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x = 100;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y = 20;	char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= 'a';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(x, y);	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(x,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ch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);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0;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静态断言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751788" y="1472664"/>
            <a:ext cx="9760023" cy="461050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代码定义了函数模板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func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，在函数内部，使用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static_assert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判断两个参数的字节大小是否相同，如果不相同，即静态断言失败，则输出提示信息：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the parameters must be the same width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定义了两个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类型的变量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和一个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char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类型变量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第一次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func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函数，传入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y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作为参数，由于传入的参数都为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类型，因此程序编译不会出错。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第二次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func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函数，传入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与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作为参数，由于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int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类型，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char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类型，因此，程序在编译时静态断言失败，编译器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会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报错。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3742893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静态断言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97790" y="1443790"/>
            <a:ext cx="10087272" cy="4543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static_assert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断言表达式的结果，必须在编译阶段就可以计算出来，即必须是常量表达式。如果使用了变量则会导致编译错误，示例代码如下：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void set_age(const int n) 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  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static_assert(n &gt; 0, "The age should be greater than zero!");  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18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  </a:t>
            </a:r>
            <a:endParaRPr lang="zh-CN" altLang="zh-CN" sz="1800" dirty="0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上述代码中，在</a:t>
            </a: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static_assert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中使用了参数变量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，编译时报错“表达式的计算结果不是常数”。针对这种情况，可以使用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assert()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宏在运行时对数据进行检测。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0313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9.5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843459" y="1724976"/>
            <a:ext cx="5552853" cy="3785652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本章主要讲解了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中的异常处理机制和静态断言。异常处理机制通过抛出异常与处理异常的分离，使程序每个部分只完成自己的本职工作而互不干扰，保证了程序的高容错性。静态断言是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程序常用的程序调试手段，使用静态断言可以在编译阶段查找出程序中存在的逻辑错误，提高程序的编译效率。学习完本章，读者可以了解</a:t>
            </a:r>
            <a:r>
              <a:rPr lang="en-US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中错误处理的方式和规则。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2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79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0747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958c22c9cdca36535ebf1110d2dbb191b1c45f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1.1 计算机分类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1.6 本章小结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9429</TotalTime>
  <Words>2167</Words>
  <Application>Microsoft Office PowerPoint</Application>
  <PresentationFormat>宽屏</PresentationFormat>
  <Paragraphs>237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等线</vt:lpstr>
      <vt:lpstr>等线 Light</vt:lpstr>
      <vt:lpstr>方正细倩简体</vt:lpstr>
      <vt:lpstr>楷体</vt:lpstr>
      <vt:lpstr>宋体</vt:lpstr>
      <vt:lpstr>微软雅黑</vt:lpstr>
      <vt:lpstr>Arial</vt:lpstr>
      <vt:lpstr>Calibri</vt:lpstr>
      <vt:lpstr>Times New Roman</vt:lpstr>
      <vt:lpstr>Office 主题​​</vt:lpstr>
      <vt:lpstr>第9章 异常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薛蒙蒙</cp:lastModifiedBy>
  <cp:revision>1045</cp:revision>
  <dcterms:created xsi:type="dcterms:W3CDTF">2016-08-25T05:35:30Z</dcterms:created>
  <dcterms:modified xsi:type="dcterms:W3CDTF">2021-03-29T08:16:05Z</dcterms:modified>
</cp:coreProperties>
</file>