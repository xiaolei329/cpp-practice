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tags/tag17.xml" ContentType="application/vnd.openxmlformats-officedocument.presentationml.tags+xml"/>
  <Override PartName="/ppt/notesSlides/notesSlide17.xml" ContentType="application/vnd.openxmlformats-officedocument.presentationml.notesSlide+xml"/>
  <Override PartName="/ppt/tags/tag18.xml" ContentType="application/vnd.openxmlformats-officedocument.presentationml.tags+xml"/>
  <Override PartName="/ppt/notesSlides/notesSlide18.xml" ContentType="application/vnd.openxmlformats-officedocument.presentationml.notesSlide+xml"/>
  <Override PartName="/ppt/tags/tag19.xml" ContentType="application/vnd.openxmlformats-officedocument.presentationml.tags+xml"/>
  <Override PartName="/ppt/notesSlides/notesSlide19.xml" ContentType="application/vnd.openxmlformats-officedocument.presentationml.notesSlide+xml"/>
  <Override PartName="/ppt/tags/tag20.xml" ContentType="application/vnd.openxmlformats-officedocument.presentationml.tags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notesSlides/notesSlide24.xml" ContentType="application/vnd.openxmlformats-officedocument.presentationml.notesSlide+xml"/>
  <Override PartName="/ppt/tags/tag25.xml" ContentType="application/vnd.openxmlformats-officedocument.presentationml.tags+xml"/>
  <Override PartName="/ppt/notesSlides/notesSlide25.xml" ContentType="application/vnd.openxmlformats-officedocument.presentationml.notesSlide+xml"/>
  <Override PartName="/ppt/tags/tag26.xml" ContentType="application/vnd.openxmlformats-officedocument.presentationml.tags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notesSlides/notesSlide32.xml" ContentType="application/vnd.openxmlformats-officedocument.presentationml.notesSlide+xml"/>
  <Override PartName="/ppt/tags/tag33.xml" ContentType="application/vnd.openxmlformats-officedocument.presentationml.tags+xml"/>
  <Override PartName="/ppt/notesSlides/notesSlide33.xml" ContentType="application/vnd.openxmlformats-officedocument.presentationml.notesSlide+xml"/>
  <Override PartName="/ppt/tags/tag34.xml" ContentType="application/vnd.openxmlformats-officedocument.presentationml.tags+xml"/>
  <Override PartName="/ppt/notesSlides/notesSlide34.xml" ContentType="application/vnd.openxmlformats-officedocument.presentationml.notesSlide+xml"/>
  <Override PartName="/ppt/tags/tag35.xml" ContentType="application/vnd.openxmlformats-officedocument.presentationml.tags+xml"/>
  <Override PartName="/ppt/notesSlides/notesSlide35.xml" ContentType="application/vnd.openxmlformats-officedocument.presentationml.notesSlide+xml"/>
  <Override PartName="/ppt/tags/tag36.xml" ContentType="application/vnd.openxmlformats-officedocument.presentationml.tags+xml"/>
  <Override PartName="/ppt/notesSlides/notesSlide36.xml" ContentType="application/vnd.openxmlformats-officedocument.presentationml.notesSlide+xml"/>
  <Override PartName="/ppt/tags/tag37.xml" ContentType="application/vnd.openxmlformats-officedocument.presentationml.tags+xml"/>
  <Override PartName="/ppt/notesSlides/notesSlide37.xml" ContentType="application/vnd.openxmlformats-officedocument.presentationml.notesSlide+xml"/>
  <Override PartName="/ppt/tags/tag38.xml" ContentType="application/vnd.openxmlformats-officedocument.presentationml.tags+xml"/>
  <Override PartName="/ppt/notesSlides/notesSlide38.xml" ContentType="application/vnd.openxmlformats-officedocument.presentationml.notesSlide+xml"/>
  <Override PartName="/ppt/tags/tag39.xml" ContentType="application/vnd.openxmlformats-officedocument.presentationml.tags+xml"/>
  <Override PartName="/ppt/notesSlides/notesSlide39.xml" ContentType="application/vnd.openxmlformats-officedocument.presentationml.notesSlide+xml"/>
  <Override PartName="/ppt/tags/tag40.xml" ContentType="application/vnd.openxmlformats-officedocument.presentationml.tags+xml"/>
  <Override PartName="/ppt/notesSlides/notesSlide40.xml" ContentType="application/vnd.openxmlformats-officedocument.presentationml.notesSlide+xml"/>
  <Override PartName="/ppt/tags/tag41.xml" ContentType="application/vnd.openxmlformats-officedocument.presentationml.tags+xml"/>
  <Override PartName="/ppt/notesSlides/notesSlide41.xml" ContentType="application/vnd.openxmlformats-officedocument.presentationml.notesSlide+xml"/>
  <Override PartName="/ppt/tags/tag42.xml" ContentType="application/vnd.openxmlformats-officedocument.presentationml.tags+xml"/>
  <Override PartName="/ppt/notesSlides/notesSlide42.xml" ContentType="application/vnd.openxmlformats-officedocument.presentationml.notesSlide+xml"/>
  <Override PartName="/ppt/tags/tag43.xml" ContentType="application/vnd.openxmlformats-officedocument.presentationml.tags+xml"/>
  <Override PartName="/ppt/notesSlides/notesSlide43.xml" ContentType="application/vnd.openxmlformats-officedocument.presentationml.notesSlide+xml"/>
  <Override PartName="/ppt/tags/tag44.xml" ContentType="application/vnd.openxmlformats-officedocument.presentationml.tags+xml"/>
  <Override PartName="/ppt/notesSlides/notesSlide44.xml" ContentType="application/vnd.openxmlformats-officedocument.presentationml.notesSlide+xml"/>
  <Override PartName="/ppt/tags/tag45.xml" ContentType="application/vnd.openxmlformats-officedocument.presentationml.tags+xml"/>
  <Override PartName="/ppt/notesSlides/notesSlide45.xml" ContentType="application/vnd.openxmlformats-officedocument.presentationml.notesSlide+xml"/>
  <Override PartName="/ppt/tags/tag46.xml" ContentType="application/vnd.openxmlformats-officedocument.presentationml.tags+xml"/>
  <Override PartName="/ppt/notesSlides/notesSlide46.xml" ContentType="application/vnd.openxmlformats-officedocument.presentationml.notesSlide+xml"/>
  <Override PartName="/ppt/tags/tag47.xml" ContentType="application/vnd.openxmlformats-officedocument.presentationml.tags+xml"/>
  <Override PartName="/ppt/notesSlides/notesSlide47.xml" ContentType="application/vnd.openxmlformats-officedocument.presentationml.notesSlide+xml"/>
  <Override PartName="/ppt/tags/tag48.xml" ContentType="application/vnd.openxmlformats-officedocument.presentationml.tags+xml"/>
  <Override PartName="/ppt/notesSlides/notesSlide48.xml" ContentType="application/vnd.openxmlformats-officedocument.presentationml.notesSlide+xml"/>
  <Override PartName="/ppt/tags/tag49.xml" ContentType="application/vnd.openxmlformats-officedocument.presentationml.tags+xml"/>
  <Override PartName="/ppt/notesSlides/notesSlide49.xml" ContentType="application/vnd.openxmlformats-officedocument.presentationml.notesSlide+xml"/>
  <Override PartName="/ppt/tags/tag50.xml" ContentType="application/vnd.openxmlformats-officedocument.presentationml.tags+xml"/>
  <Override PartName="/ppt/notesSlides/notesSlide50.xml" ContentType="application/vnd.openxmlformats-officedocument.presentationml.notesSlide+xml"/>
  <Override PartName="/ppt/tags/tag51.xml" ContentType="application/vnd.openxmlformats-officedocument.presentationml.tags+xml"/>
  <Override PartName="/ppt/notesSlides/notesSlide51.xml" ContentType="application/vnd.openxmlformats-officedocument.presentationml.notesSlide+xml"/>
  <Override PartName="/ppt/tags/tag52.xml" ContentType="application/vnd.openxmlformats-officedocument.presentationml.tags+xml"/>
  <Override PartName="/ppt/notesSlides/notesSlide52.xml" ContentType="application/vnd.openxmlformats-officedocument.presentationml.notesSlide+xml"/>
  <Override PartName="/ppt/tags/tag53.xml" ContentType="application/vnd.openxmlformats-officedocument.presentationml.tags+xml"/>
  <Override PartName="/ppt/notesSlides/notesSlide53.xml" ContentType="application/vnd.openxmlformats-officedocument.presentationml.notesSlide+xml"/>
  <Override PartName="/ppt/tags/tag54.xml" ContentType="application/vnd.openxmlformats-officedocument.presentationml.tags+xml"/>
  <Override PartName="/ppt/notesSlides/notesSlide54.xml" ContentType="application/vnd.openxmlformats-officedocument.presentationml.notesSlide+xml"/>
  <Override PartName="/ppt/tags/tag55.xml" ContentType="application/vnd.openxmlformats-officedocument.presentationml.tags+xml"/>
  <Override PartName="/ppt/notesSlides/notesSlide55.xml" ContentType="application/vnd.openxmlformats-officedocument.presentationml.notesSlide+xml"/>
  <Override PartName="/ppt/tags/tag56.xml" ContentType="application/vnd.openxmlformats-officedocument.presentationml.tags+xml"/>
  <Override PartName="/ppt/notesSlides/notesSlide56.xml" ContentType="application/vnd.openxmlformats-officedocument.presentationml.notesSlide+xml"/>
  <Override PartName="/ppt/tags/tag57.xml" ContentType="application/vnd.openxmlformats-officedocument.presentationml.tags+xml"/>
  <Override PartName="/ppt/notesSlides/notesSlide57.xml" ContentType="application/vnd.openxmlformats-officedocument.presentationml.notesSlide+xml"/>
  <Override PartName="/ppt/tags/tag58.xml" ContentType="application/vnd.openxmlformats-officedocument.presentationml.tags+xml"/>
  <Override PartName="/ppt/notesSlides/notesSlide58.xml" ContentType="application/vnd.openxmlformats-officedocument.presentationml.notesSlide+xml"/>
  <Override PartName="/ppt/tags/tag59.xml" ContentType="application/vnd.openxmlformats-officedocument.presentationml.tags+xml"/>
  <Override PartName="/ppt/notesSlides/notesSlide59.xml" ContentType="application/vnd.openxmlformats-officedocument.presentationml.notesSlide+xml"/>
  <Override PartName="/ppt/tags/tag60.xml" ContentType="application/vnd.openxmlformats-officedocument.presentationml.tags+xml"/>
  <Override PartName="/ppt/notesSlides/notesSlide60.xml" ContentType="application/vnd.openxmlformats-officedocument.presentationml.notesSlide+xml"/>
  <Override PartName="/ppt/tags/tag61.xml" ContentType="application/vnd.openxmlformats-officedocument.presentationml.tags+xml"/>
  <Override PartName="/ppt/notesSlides/notesSlide61.xml" ContentType="application/vnd.openxmlformats-officedocument.presentationml.notesSlide+xml"/>
  <Override PartName="/ppt/tags/tag62.xml" ContentType="application/vnd.openxmlformats-officedocument.presentationml.tags+xml"/>
  <Override PartName="/ppt/notesSlides/notesSlide62.xml" ContentType="application/vnd.openxmlformats-officedocument.presentationml.notesSlide+xml"/>
  <Override PartName="/ppt/tags/tag63.xml" ContentType="application/vnd.openxmlformats-officedocument.presentationml.tags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1052" r:id="rId3"/>
    <p:sldId id="1054" r:id="rId4"/>
    <p:sldId id="1055" r:id="rId5"/>
    <p:sldId id="1056" r:id="rId6"/>
    <p:sldId id="1057" r:id="rId7"/>
    <p:sldId id="1058" r:id="rId8"/>
    <p:sldId id="1059" r:id="rId9"/>
    <p:sldId id="1060" r:id="rId10"/>
    <p:sldId id="1061" r:id="rId11"/>
    <p:sldId id="1062" r:id="rId12"/>
    <p:sldId id="1063" r:id="rId13"/>
    <p:sldId id="1064" r:id="rId14"/>
    <p:sldId id="1065" r:id="rId15"/>
    <p:sldId id="1066" r:id="rId16"/>
    <p:sldId id="1067" r:id="rId17"/>
    <p:sldId id="1068" r:id="rId18"/>
    <p:sldId id="1069" r:id="rId19"/>
    <p:sldId id="1070" r:id="rId20"/>
    <p:sldId id="1071" r:id="rId21"/>
    <p:sldId id="1072" r:id="rId22"/>
    <p:sldId id="1073" r:id="rId23"/>
    <p:sldId id="1074" r:id="rId24"/>
    <p:sldId id="1075" r:id="rId25"/>
    <p:sldId id="1076" r:id="rId26"/>
    <p:sldId id="1077" r:id="rId27"/>
    <p:sldId id="1078" r:id="rId28"/>
    <p:sldId id="1079" r:id="rId29"/>
    <p:sldId id="1080" r:id="rId30"/>
    <p:sldId id="1081" r:id="rId31"/>
    <p:sldId id="1082" r:id="rId32"/>
    <p:sldId id="1083" r:id="rId33"/>
    <p:sldId id="1084" r:id="rId34"/>
    <p:sldId id="1085" r:id="rId35"/>
    <p:sldId id="1086" r:id="rId36"/>
    <p:sldId id="1087" r:id="rId37"/>
    <p:sldId id="1088" r:id="rId38"/>
    <p:sldId id="1089" r:id="rId39"/>
    <p:sldId id="1090" r:id="rId40"/>
    <p:sldId id="1091" r:id="rId41"/>
    <p:sldId id="1092" r:id="rId42"/>
    <p:sldId id="1093" r:id="rId43"/>
    <p:sldId id="1094" r:id="rId44"/>
    <p:sldId id="1095" r:id="rId45"/>
    <p:sldId id="1096" r:id="rId46"/>
    <p:sldId id="1097" r:id="rId47"/>
    <p:sldId id="1098" r:id="rId48"/>
    <p:sldId id="1112" r:id="rId49"/>
    <p:sldId id="1099" r:id="rId50"/>
    <p:sldId id="1100" r:id="rId51"/>
    <p:sldId id="1101" r:id="rId52"/>
    <p:sldId id="1102" r:id="rId53"/>
    <p:sldId id="1103" r:id="rId54"/>
    <p:sldId id="1104" r:id="rId55"/>
    <p:sldId id="1105" r:id="rId56"/>
    <p:sldId id="1106" r:id="rId57"/>
    <p:sldId id="1107" r:id="rId58"/>
    <p:sldId id="1108" r:id="rId59"/>
    <p:sldId id="1109" r:id="rId60"/>
    <p:sldId id="1110" r:id="rId61"/>
    <p:sldId id="1111" r:id="rId62"/>
    <p:sldId id="335" r:id="rId63"/>
    <p:sldId id="283" r:id="rId64"/>
  </p:sldIdLst>
  <p:sldSz cx="12192000" cy="6858000"/>
  <p:notesSz cx="6858000" cy="9144000"/>
  <p:custDataLst>
    <p:tags r:id="rId6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6" autoAdjust="0"/>
    <p:restoredTop sz="93461" autoAdjust="0"/>
  </p:normalViewPr>
  <p:slideViewPr>
    <p:cSldViewPr snapToGrid="0">
      <p:cViewPr varScale="1">
        <p:scale>
          <a:sx n="82" d="100"/>
          <a:sy n="82" d="100"/>
        </p:scale>
        <p:origin x="758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B00CE-9247-49D0-8AE5-6DFFAEFF8CEF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D86BB-FDB9-4079-8E00-8F1F7A4AA6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07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534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875587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5327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7D86BB-FDB9-4079-8E00-8F1F7A4AA6F0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44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17273" y="-3221"/>
            <a:ext cx="6259483" cy="1600200"/>
            <a:chOff x="3117273" y="-3221"/>
            <a:chExt cx="6259483" cy="1600200"/>
          </a:xfrm>
        </p:grpSpPr>
        <p:sp>
          <p:nvSpPr>
            <p:cNvPr id="11" name="矩形 10"/>
            <p:cNvSpPr/>
            <p:nvPr userDrawn="1"/>
          </p:nvSpPr>
          <p:spPr>
            <a:xfrm>
              <a:off x="3117273" y="-3221"/>
              <a:ext cx="6259483" cy="1600200"/>
            </a:xfrm>
            <a:prstGeom prst="rect">
              <a:avLst/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3773" y="760266"/>
              <a:ext cx="3590099" cy="5603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76687" y="1020668"/>
            <a:ext cx="4238625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dmin\AppData\Local\Temp\企业微信截图_16122565271795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55" y="6494779"/>
            <a:ext cx="1733550" cy="34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组合 3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5" name="矩形 4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8429625" y="247650"/>
            <a:ext cx="3457575" cy="809625"/>
            <a:chOff x="8429625" y="247650"/>
            <a:chExt cx="3457575" cy="809625"/>
          </a:xfrm>
        </p:grpSpPr>
        <p:sp>
          <p:nvSpPr>
            <p:cNvPr id="3" name="矩形 2"/>
            <p:cNvSpPr/>
            <p:nvPr userDrawn="1"/>
          </p:nvSpPr>
          <p:spPr>
            <a:xfrm>
              <a:off x="8429625" y="247650"/>
              <a:ext cx="3457575" cy="809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8674" y="477694"/>
              <a:ext cx="3091500" cy="4825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t>2021-3-29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1904"/>
          </a:xfrm>
          <a:prstGeom prst="rect">
            <a:avLst/>
          </a:prstGeom>
        </p:spPr>
      </p:pic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61" r:id="rId9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4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5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6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8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1.xm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3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4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5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6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5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7.emf"/><Relationship Id="rId5" Type="http://schemas.openxmlformats.org/officeDocument/2006/relationships/oleObject" Target="../embeddings/oleObject2.bin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3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8.emf"/><Relationship Id="rId5" Type="http://schemas.openxmlformats.org/officeDocument/2006/relationships/oleObject" Target="../embeddings/oleObject3.bin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1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3.xml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4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5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7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0.xml"/><Relationship Id="rId4" Type="http://schemas.openxmlformats.org/officeDocument/2006/relationships/image" Target="../media/image3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1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2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3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4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5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Relationship Id="rId4" Type="http://schemas.openxmlformats.org/officeDocument/2006/relationships/image" Target="../media/image36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7" Type="http://schemas.openxmlformats.org/officeDocument/2006/relationships/slide" Target="slide5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8.xml"/><Relationship Id="rId6" Type="http://schemas.openxmlformats.org/officeDocument/2006/relationships/slide" Target="slide50.xml"/><Relationship Id="rId5" Type="http://schemas.openxmlformats.org/officeDocument/2006/relationships/slide" Target="slide49.xml"/><Relationship Id="rId4" Type="http://schemas.openxmlformats.org/officeDocument/2006/relationships/image" Target="../media/image3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9.xml"/><Relationship Id="rId4" Type="http://schemas.openxmlformats.org/officeDocument/2006/relationships/slide" Target="slide4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0.xml"/><Relationship Id="rId4" Type="http://schemas.openxmlformats.org/officeDocument/2006/relationships/slide" Target="slide4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1.xml"/><Relationship Id="rId4" Type="http://schemas.openxmlformats.org/officeDocument/2006/relationships/slide" Target="slide4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2.xml"/><Relationship Id="rId4" Type="http://schemas.openxmlformats.org/officeDocument/2006/relationships/image" Target="../media/image3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slide" Target="slide54.xml"/><Relationship Id="rId2" Type="http://schemas.openxmlformats.org/officeDocument/2006/relationships/tags" Target="../tags/tag5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4.bin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4.xml"/><Relationship Id="rId4" Type="http://schemas.openxmlformats.org/officeDocument/2006/relationships/image" Target="../media/image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7.xml"/><Relationship Id="rId4" Type="http://schemas.openxmlformats.org/officeDocument/2006/relationships/slide" Target="slide5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5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1.emf"/><Relationship Id="rId5" Type="http://schemas.openxmlformats.org/officeDocument/2006/relationships/oleObject" Target="../embeddings/oleObject5.bin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tags" Target="../tags/tag59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2.emf"/><Relationship Id="rId5" Type="http://schemas.openxmlformats.org/officeDocument/2006/relationships/oleObject" Target="../embeddings/oleObject6.bin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0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2.xml"/><Relationship Id="rId4" Type="http://schemas.openxmlformats.org/officeDocument/2006/relationships/image" Target="../media/image4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5</a:t>
            </a:r>
            <a:r>
              <a:rPr lang="zh-CN" altLang="en-US" b="1" dirty="0" smtClean="0">
                <a:latin typeface="方正细倩简体"/>
                <a:ea typeface="方正细倩简体"/>
                <a:cs typeface="方正细倩简体"/>
              </a:rPr>
              <a:t>章 多态与虚函数</a:t>
            </a:r>
            <a:endParaRPr lang="zh-CN" altLang="zh-CN" b="1" dirty="0"/>
          </a:p>
        </p:txBody>
      </p:sp>
      <p:sp>
        <p:nvSpPr>
          <p:cNvPr id="5" name="矩形 4"/>
          <p:cNvSpPr/>
          <p:nvPr/>
        </p:nvSpPr>
        <p:spPr>
          <a:xfrm>
            <a:off x="4242845" y="5061593"/>
            <a:ext cx="2838676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虚函数实现多态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虚函数实现多态的原理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虚析构函数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556531" y="5061593"/>
            <a:ext cx="16585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纯虚函数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抽象类</a:t>
            </a:r>
            <a:endParaRPr lang="en-US" altLang="zh-CN" b="1" dirty="0" smtClean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2375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169" y="5203668"/>
            <a:ext cx="1905952" cy="1054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多态概述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64642" y="1493520"/>
            <a:ext cx="5638800" cy="398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中的多态分为静态多态和动态多态。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静态多态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是函数重载，在编译阶段就能确定调用哪个函数。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动态多态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是由继承产生的，指同一个属性或行为在基类及其各派生类中具有不同的语义，不同的对象根据所接收的消息作出不同的响应，这种现象称为动态多态。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385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3711" y="1922780"/>
            <a:ext cx="3875541" cy="3129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982856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385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多态概述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950724" y="2011680"/>
            <a:ext cx="4511038" cy="2489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例如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，动物都能发出叫声，但不同的动物叫声不同，猫会“喵喵”、狗会“汪汪”，这就是多态的体现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239618" name="Picture 2" descr="http://www.cpnic.com/UploadFiles/img_1_4039930965_3028198640_27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5710" y="2302671"/>
            <a:ext cx="1693799" cy="1907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619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723" y="2011680"/>
            <a:ext cx="1784986" cy="2135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91204635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9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6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640" y="1463040"/>
            <a:ext cx="3607435" cy="399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多态概述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618480" y="1778000"/>
            <a:ext cx="5232400" cy="35356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面向对象程序设计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中所说的多态通常指的是动态多态。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中，“消息”就是对类的成员函数的调用，不同的行为就是函数的实现不同，因此，多态的本质是函数的多种形态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4814637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6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560" y="1462087"/>
            <a:ext cx="3441615" cy="4228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多态概述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35760" y="1869440"/>
            <a:ext cx="5334000" cy="3149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多态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的实现需要满足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个条件：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类声明虚函数。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派生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类重写基类的虚函数。</a:t>
            </a:r>
          </a:p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将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基类指针指向派生类对象，通过基类指针访问虚函数。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8247239"/>
      </p:ext>
    </p:extLst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2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13840" y="1351280"/>
            <a:ext cx="9926320" cy="456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函数的声明方式是在成员函数的返回值类型前添加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关键字，格式如下所示：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class 类名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{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权限控制符：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</a:t>
            </a: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 函数返回值类型 函数名（参数列表）;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	… //其他成员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};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1391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483360" y="2001520"/>
            <a:ext cx="10129520" cy="23774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声明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虚函数时，有以下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点需要注意：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）构造函数不能声明为虚函数，但析构函数可以声明为虚函数。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）虚函数不能是静态成员函数。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）友元函数不能声明为虚函数，但虚函数可以作为另一个类的友元函数。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5716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496560" y="1645920"/>
            <a:ext cx="5791200" cy="35763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虚函数只能是类的成员函数，不能将类外的普通函数声明为虚函数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若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类中声明了虚函数，并且派生类重新定义了虚函数，当使用基类指针或基类引用操作派生类对象调用函数时，系统会自动调用派生类中的虚函数代替基类虚函数。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055" y="1439863"/>
            <a:ext cx="3210151" cy="4442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6719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2438400" y="1791335"/>
            <a:ext cx="4409440" cy="3566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若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类中声明了虚函数，并且派生类重新定义了虚函数，当使用基类指针或基类引用操作派生类对象调用函数时，系统会自动调用派生类中的虚函数代替基类虚函数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970" y="1645920"/>
            <a:ext cx="2892743" cy="3856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554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50160" y="1260255"/>
            <a:ext cx="8067039" cy="5003385"/>
            <a:chOff x="2209798" y="1209455"/>
            <a:chExt cx="7868921" cy="5003385"/>
          </a:xfrm>
        </p:grpSpPr>
        <p:pic>
          <p:nvPicPr>
            <p:cNvPr id="24371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798" y="1264920"/>
              <a:ext cx="7868921" cy="49479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915920" y="1209455"/>
              <a:ext cx="6959600" cy="45923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5-1    polymorphic</a:t>
              </a:r>
              <a:r>
                <a:rPr lang="en-US" altLang="zh-CN" sz="1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.cpp</a:t>
              </a:r>
              <a:endPara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Animal{	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动物类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speak();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Animal::speak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类外实现虚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动物叫声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Cat :public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猫类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公有继承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speak();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60747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479040" y="1351280"/>
            <a:ext cx="8006079" cy="4704080"/>
            <a:chOff x="2479040" y="1351280"/>
            <a:chExt cx="8006079" cy="4704080"/>
          </a:xfrm>
        </p:grpSpPr>
        <p:pic>
          <p:nvPicPr>
            <p:cNvPr id="24473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79040" y="1351280"/>
              <a:ext cx="8006079" cy="4704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3180080" y="1625600"/>
              <a:ext cx="6929120" cy="42468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Cat::speak()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类外实现虚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猫的叫声：喵喵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Dog:public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狗类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Dog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公有继承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speak();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Dog::speak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类外实现虚函数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狗的叫声：汪汪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2286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53920" y="1412240"/>
            <a:ext cx="8646159" cy="4511040"/>
            <a:chOff x="2153920" y="1412240"/>
            <a:chExt cx="8646159" cy="4511040"/>
          </a:xfrm>
        </p:grpSpPr>
        <p:pic>
          <p:nvPicPr>
            <p:cNvPr id="24576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3920" y="1412240"/>
              <a:ext cx="8646159" cy="45110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804160" y="1605280"/>
              <a:ext cx="7731760" cy="41554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Cat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类对象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Animal *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pA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=&amp;cat;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类指针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pA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指向对象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pA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-&gt;speak();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pA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Dog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dog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创建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Dog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类对象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dog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Animal *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pB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=&amp;dog;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类指针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pB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指向对象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dog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pB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-&gt;speak();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pB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return 0;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22862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402080" y="1330957"/>
            <a:ext cx="10099040" cy="459232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上述代码定义了三个类：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动物类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：该类定义了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函数，表示动物的叫声。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猫类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：公有继承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类重写了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狗类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Dog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：公有继承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Dog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类重写了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，定义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类指针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，然后通过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，则调用的是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，定义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类指针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dog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，然后通过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，调用的是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Dog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7095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29514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5.2.1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217920" y="2157693"/>
            <a:ext cx="4876800" cy="24485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派生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类对基类虚函数覆写时，必须与基类中虚函数的原型完全一致，派生类中覆写的虚函数前是否添加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，均被视为虚函数。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476499" y="1543610"/>
            <a:ext cx="2834640" cy="3676730"/>
            <a:chOff x="2311398" y="1676344"/>
            <a:chExt cx="2834640" cy="367673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1398" y="1676344"/>
              <a:ext cx="2834640" cy="36767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941318" y="2734203"/>
              <a:ext cx="1762762" cy="64777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注</a:t>
              </a:r>
              <a:r>
                <a:rPr lang="zh-CN" altLang="en-US" sz="2800" b="1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 </a:t>
              </a:r>
              <a:r>
                <a:rPr lang="zh-CN" altLang="en-US" sz="2800" b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意</a:t>
              </a:r>
              <a:endParaRPr lang="en-US" altLang="zh-CN" sz="28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66947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8783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override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final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C++11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新标准）</a:t>
            </a: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6146800" y="1869687"/>
            <a:ext cx="4511040" cy="325497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override</a:t>
            </a:r>
            <a:endParaRPr lang="zh-CN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override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关键字的作用是检查派生类中函数是否在重写基类虚函数，如果不是重写的基类虚函数，编译器就会报错。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pic>
        <p:nvPicPr>
          <p:cNvPr id="24678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398" y="1619710"/>
            <a:ext cx="2814170" cy="3754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3146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46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8783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override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final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C++11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新标准）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103121" y="1432560"/>
            <a:ext cx="8968738" cy="4572000"/>
            <a:chOff x="2042161" y="1432560"/>
            <a:chExt cx="8968738" cy="4572000"/>
          </a:xfrm>
        </p:grpSpPr>
        <p:pic>
          <p:nvPicPr>
            <p:cNvPr id="24883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42161" y="1432560"/>
              <a:ext cx="8968738" cy="4572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760979" y="1574800"/>
              <a:ext cx="8249920" cy="4287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class Base{		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基类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Base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virtual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void show();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class Derive :public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Base{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派生类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Derive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公有继承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Base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类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() </a:t>
              </a:r>
              <a:r>
                <a:rPr lang="en-US" altLang="zh-CN" sz="18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override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;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可通过编译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void show() </a:t>
              </a:r>
              <a:r>
                <a:rPr lang="en-US" altLang="zh-CN" sz="18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override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;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不能通过编译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};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30330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8783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override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final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C++11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新标准）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859280" y="1524000"/>
            <a:ext cx="8839200" cy="40741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利用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override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关键字可以判断派生类是否准确地对基类虚函数进行重写，防止出现因书写错误而导致的基类虚函数重写失败。另外，在实际开发中，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中的虚函数大多跨层继承，直接基类没有声明虚函数，但很可能会从“祖先”基类间接继承。如果类的继承层次较多或者类的定义比较复杂，那么在定义派生类时就会出现信息分散、难以阅读的问题，重写基类虚函数时，往往难以确定重写是否正确。此时，可以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override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关键字进行检查。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040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8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513" y="1991360"/>
            <a:ext cx="3924875" cy="2976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8783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override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final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C++11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新标准）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788160" y="1879600"/>
            <a:ext cx="5354320" cy="25806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.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final</a:t>
            </a:r>
            <a:endParaRPr lang="zh-CN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final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关键字有两种用法：修饰类、修饰虚函数。当使用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final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关键字修饰类时，表示该类不可以被继承。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233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47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8783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override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final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C++11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新标准）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722880" y="1539240"/>
            <a:ext cx="7955280" cy="4480560"/>
            <a:chOff x="2062480" y="1371600"/>
            <a:chExt cx="7955280" cy="4480560"/>
          </a:xfrm>
        </p:grpSpPr>
        <p:pic>
          <p:nvPicPr>
            <p:cNvPr id="24985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2480" y="1371600"/>
              <a:ext cx="7670799" cy="44805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" name="内容占位符 2"/>
            <p:cNvSpPr txBox="1">
              <a:spLocks/>
            </p:cNvSpPr>
            <p:nvPr/>
          </p:nvSpPr>
          <p:spPr>
            <a:xfrm>
              <a:off x="2854960" y="1503680"/>
              <a:ext cx="7162800" cy="42468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class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Base </a:t>
              </a:r>
              <a:r>
                <a:rPr lang="en-US" altLang="zh-CN" sz="18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final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//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final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修饰类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//...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class Derive :public Base	//Base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类不能被继承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//...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54348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8783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/>
              </a:rPr>
              <a:t>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多学一招：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override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final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C++11</a:t>
            </a:r>
            <a:r>
              <a:rPr lang="zh-CN" altLang="zh-CN" sz="3200" b="1" dirty="0">
                <a:solidFill>
                  <a:srgbClr val="1353A2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新标准）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574800" y="1320800"/>
            <a:ext cx="8930640" cy="843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当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final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关键字修饰虚函数时，虚函数不能在派生类中重写。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61920" y="1859280"/>
            <a:ext cx="7924800" cy="4267200"/>
            <a:chOff x="2001520" y="1940560"/>
            <a:chExt cx="7924800" cy="4267200"/>
          </a:xfrm>
        </p:grpSpPr>
        <p:pic>
          <p:nvPicPr>
            <p:cNvPr id="25088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01520" y="2011680"/>
              <a:ext cx="7863840" cy="4196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内容占位符 2"/>
            <p:cNvSpPr txBox="1">
              <a:spLocks/>
            </p:cNvSpPr>
            <p:nvPr/>
          </p:nvSpPr>
          <p:spPr>
            <a:xfrm>
              <a:off x="3373120" y="1940560"/>
              <a:ext cx="6553200" cy="41960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class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Base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virtual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() </a:t>
              </a:r>
              <a:r>
                <a:rPr lang="en-US" altLang="zh-CN" sz="18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final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class Derive :public Base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	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();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不能通过编译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5373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90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680" y="1285894"/>
            <a:ext cx="4074160" cy="4905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5224779" y="1330957"/>
            <a:ext cx="6289040" cy="459232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调用时，需要根据函数名、函数返回值类型、函数参数等信息正确调用函数，这个匹配过程通常称为绑定。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提供了两种函数绑定机制：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静态绑定和动态绑定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。静态绑定也称为静态联编、早绑定，它是指编译器在编译时期就能确定要调用的函数。动态绑定也称为动态联编、迟绑定，它是指编译器在运行时期才能确定要调用的函数。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939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1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625601" y="1452877"/>
            <a:ext cx="9733280" cy="41757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函数就是通过动态绑定实现多态的，当编译器在编译过程中遇到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关键字时，它不会对函数调用进行绑定，而是为包含虚函数的类建立一张虚函数表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Vtable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。在虚函数表中，编译器按照虚函数的声明顺序依次保存虚函数地址。同时，编译器会在类中添加一个隐藏的虚函数指针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VPTR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，指向虚函数表。在创建对象时，将虚函数指针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VPTR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放置在对象的起始位置，为其分配空间，并调用构造函数将其初始化为虚函数表地址。需要注意的是，虚函数表不占用对象空间。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2675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9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1280" y="1340485"/>
            <a:ext cx="3305175" cy="471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1513841" y="1381757"/>
            <a:ext cx="6431279" cy="466344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派生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继承基类时，也继承了基类的虚函数指针。当创建派生类对象时，派生类对象中的虚函数指针指向自己的虚函数表。在派生类的虚函数表中，派生类虚函数会覆盖基类的同名虚函数。当通过基类指针或基类引用操作派生类对象时，以操作的对象内存为准，从对象中获取虚函数指针，通过虚函数指针找到虚函数表，调用对应的虚函数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586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2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194560" y="1259838"/>
            <a:ext cx="8696960" cy="5080002"/>
            <a:chOff x="2052320" y="1249678"/>
            <a:chExt cx="8696960" cy="5080002"/>
          </a:xfrm>
        </p:grpSpPr>
        <p:pic>
          <p:nvPicPr>
            <p:cNvPr id="2539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2320" y="1249678"/>
              <a:ext cx="8696960" cy="50800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814321" y="1290317"/>
              <a:ext cx="7213599" cy="496824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Base1{		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定义基类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Base1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base1();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base1()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show1();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show1()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Base2{		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定义基类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Base2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base2();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base2()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show2();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show2()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54533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534920" y="1635756"/>
            <a:ext cx="8107680" cy="3942080"/>
            <a:chOff x="2214880" y="1524000"/>
            <a:chExt cx="8107680" cy="3942080"/>
          </a:xfrm>
        </p:grpSpPr>
        <p:pic>
          <p:nvPicPr>
            <p:cNvPr id="254978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4880" y="1524000"/>
              <a:ext cx="8107680" cy="39420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2834641" y="1788157"/>
              <a:ext cx="7162799" cy="3495043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Derive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类公有继承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Base1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和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Base2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Derive :public Base1, public Base2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func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base1();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base1()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void show2();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声明虚函数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show2()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73206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255259" y="1823709"/>
            <a:ext cx="6139178" cy="34493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上述代码中，基类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有三个虚函数：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func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show1()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；基类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有三个虚函：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func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show2()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；派生类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公有继承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类声明了虚函数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func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show2()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158" y="1542089"/>
            <a:ext cx="3536861" cy="3885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10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548379" y="1221723"/>
            <a:ext cx="6012181" cy="79757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类的继承关系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9541723"/>
              </p:ext>
            </p:extLst>
          </p:nvPr>
        </p:nvGraphicFramePr>
        <p:xfrm>
          <a:off x="4350384" y="2009133"/>
          <a:ext cx="4448809" cy="4192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21" name="Visio" r:id="rId5" imgW="2778018" imgH="2624204" progId="Visio.Drawing.11">
                  <p:embed/>
                </p:oleObj>
              </mc:Choice>
              <mc:Fallback>
                <p:oleObj name="Visio" r:id="rId5" imgW="2778018" imgH="262420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384" y="2009133"/>
                        <a:ext cx="4448809" cy="41923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8653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74801" y="1475723"/>
            <a:ext cx="6177279" cy="38684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编译时期，编译器发现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类有虚函数，就为两个类创建各自的虚函数表，并在两个类中添加虚函数指针。如果创建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类对象（如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类对象（如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），则对象中的虚函数指针会被初始化为虚函数表的地址，即虚函数指针指向虚函数表。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66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440" y="1551455"/>
            <a:ext cx="2914333" cy="3792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07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484216"/>
              </p:ext>
            </p:extLst>
          </p:nvPr>
        </p:nvGraphicFramePr>
        <p:xfrm>
          <a:off x="4267200" y="1442720"/>
          <a:ext cx="4996498" cy="459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285" name="Visio" r:id="rId5" imgW="2446108" imgH="2248560" progId="Visio.Drawing.11">
                  <p:embed/>
                </p:oleObj>
              </mc:Choice>
              <mc:Fallback>
                <p:oleObj name="Visio" r:id="rId5" imgW="2446108" imgH="22485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1442720"/>
                        <a:ext cx="4996498" cy="4591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381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574799" y="1343642"/>
            <a:ext cx="10200639" cy="23037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类继承自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类，也会继承两个基类的虚函数指针。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类的虚函数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func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show2()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会覆盖基类中的同名虚函数。如果创建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类对象（如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），则对象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的内存逻辑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示意图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如下图。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403777"/>
              </p:ext>
            </p:extLst>
          </p:nvPr>
        </p:nvGraphicFramePr>
        <p:xfrm>
          <a:off x="2815893" y="3322319"/>
          <a:ext cx="7698129" cy="26314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309" name="Visio" r:id="rId5" imgW="3920818" imgH="1341360" progId="Visio.Drawing.11">
                  <p:embed/>
                </p:oleObj>
              </mc:Choice>
              <mc:Fallback>
                <p:oleObj name="Visio" r:id="rId5" imgW="3920818" imgH="134136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5893" y="3322319"/>
                        <a:ext cx="7698129" cy="26314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77242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5.2.2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虚函数实现多态的机制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5821680" y="1557002"/>
            <a:ext cx="5140961" cy="40309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、基类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的指针或引用操作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类对象，在程序运行时，编译器从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类对象内存中获取虚函数指针，通过指针找到虚函数表，调用相应的虚函数。不同的类，函数实现都不一样，在调用时就实现了多态。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6931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719" y="1323988"/>
            <a:ext cx="3738301" cy="4497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795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9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9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虚析构函数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05280" y="1676400"/>
            <a:ext cx="9824720" cy="3545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中不能声明虚构造函数，因为构造函数执行时，对象还没有创建，不能按照虚函数方式调用。但是，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C++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可以声明虚析构函数，虚析构函数的声明是在“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~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”符号前添加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关键字，其格式如下所示：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 ~析构函数();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在基类中声明了虚析构函数之后，基类的所有派生类的析构函数都自动成为虚析构函数。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597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虚析构函数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1666240" y="1381760"/>
            <a:ext cx="6045200" cy="4531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基类声明虚析构函数之后，使用基类指针或引用操作派生类对象，在析构派生类对象时，编译器会先调用派生类的析构函数释放派生类对象资源，然后再调用基类析构函数。如果基类没有声明虚析构函数，在析构派生类对象时，编译器只会调用基数的析构函数，不会调用派生类析构函数，导致派生类对象申请的资源不能正确释放。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70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5280" y="1381760"/>
            <a:ext cx="3313747" cy="448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3388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0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虚析构函数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553687" y="1275802"/>
            <a:ext cx="8188959" cy="5013027"/>
            <a:chOff x="2103120" y="1341119"/>
            <a:chExt cx="8188959" cy="5013027"/>
          </a:xfrm>
        </p:grpSpPr>
        <p:pic>
          <p:nvPicPr>
            <p:cNvPr id="27238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3120" y="1341119"/>
              <a:ext cx="8188959" cy="50130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834640" y="1360400"/>
              <a:ext cx="7366000" cy="453136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5-2   vdestructor.cpp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Base{	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基类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~Base();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虚析构函数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Base::~Base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&lt;&lt;"Base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类析构函数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Derive :public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Base{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派生类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Derive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公有继承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Base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~Derive();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虚析构函数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608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虚析构函数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103120" y="1381760"/>
            <a:ext cx="8625839" cy="4389120"/>
            <a:chOff x="2143760" y="1381760"/>
            <a:chExt cx="8625839" cy="4389120"/>
          </a:xfrm>
        </p:grpSpPr>
        <p:pic>
          <p:nvPicPr>
            <p:cNvPr id="27136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3760" y="1381760"/>
              <a:ext cx="8625839" cy="4389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内容占位符 2"/>
            <p:cNvSpPr txBox="1">
              <a:spLocks/>
            </p:cNvSpPr>
            <p:nvPr/>
          </p:nvSpPr>
          <p:spPr>
            <a:xfrm>
              <a:off x="2783840" y="1483360"/>
              <a:ext cx="7691120" cy="41554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Derive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::~Derive()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&lt;&lt;"Derive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类析构函数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 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main()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Base *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pb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=new Derive;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基类指针指向派生类对象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delete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pb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释放指针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6837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5.2.3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虚析构函数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2311398" y="1879600"/>
            <a:ext cx="8473440" cy="30886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上述代码中，基类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中定义了虚析构函数，则派生类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的析构函数也自动为虚析构函数。在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定义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Base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类指针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指向一个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Derive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类对象，然后使用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delete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运算符释放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pb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指向的空间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，程序会先调用派生类的析构函数，再调用基类的虚析构函数。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7679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371" y="1748788"/>
            <a:ext cx="4321688" cy="358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031739" y="1351280"/>
            <a:ext cx="6319520" cy="46532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有时候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在基类中声明函数并不是基类本身的需要，而是考虑到派生类的需求，在基类中声明一个函数，函数的具体实现由派生类根据本类的需求定义。例如，动物都有叫声，但不同的动物叫声不同，因此基类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动物类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并不需要实现描述动物叫声的函数，只需要声明即可，函数的具体实现在各派生类中完成。在基类中，这样函数可以声明为</a:t>
            </a:r>
            <a:r>
              <a:rPr lang="zh-CN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纯虚函数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953532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73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2418080" y="1564640"/>
            <a:ext cx="8199120" cy="3982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纯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虚函数也通过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关键字声明，但是纯虚函数没有函数体。纯虚函数在声明时，需要在后面加上“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”，其格式如下所示：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virtual 函数返回值类型 函数名（参数列表） =  0;</a:t>
            </a:r>
            <a:endParaRPr lang="zh-CN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上述格式中，纯虚函数后面“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=0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”并不是函数的返回值为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0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，它只是告诉编译器这是一个纯虚函数，在派生类中会完成具体的实现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62097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201920" y="1686560"/>
            <a:ext cx="5588000" cy="34747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纯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虚函数的作用是在基类中为派生类保留一个函数接口，方便派生类根据需要完成定义，实现多态。派生类都应该实现基类的纯虚函数，如果派生类没有实现基类的纯虚函数，则该函数在派生类中仍然是纯虚函数。</a:t>
            </a:r>
          </a:p>
        </p:txBody>
      </p:sp>
      <p:pic>
        <p:nvPicPr>
          <p:cNvPr id="27443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283" y="1367151"/>
            <a:ext cx="3022917" cy="411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676107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274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808480" y="1747520"/>
            <a:ext cx="5567680" cy="3515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如果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个类中包含纯虚函数，这样的类称为抽象类。抽象类的作用主要是通过它为一个类群建立一个公共接口（纯虚函数），使它们能够更有效的发挥多态性。抽象类声明了公共接口，而接口的完整实现，由派生类定义。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720" y="1381760"/>
            <a:ext cx="3313747" cy="4488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86865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5232400" y="1412240"/>
            <a:ext cx="6055360" cy="456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抽象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只能作为基类派生新类，不能创建抽象类的对象，但可以定义抽象类的指针或引用，通过指针或引用操作派生类对象。抽象类可以有多个纯虚函数，如果派生类需要实例化对象，在派生类中需要全部实现基类的纯虚函数，如果派生类没有全部实现基类的纯虚函数，未实现的纯虚函数在派生类中仍然是纯虚函数，则派生类也是抽象类。</a:t>
            </a:r>
          </a:p>
        </p:txBody>
      </p:sp>
      <p:pic>
        <p:nvPicPr>
          <p:cNvPr id="27545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340" y="1597660"/>
            <a:ext cx="3766820" cy="3766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434198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54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75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75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712720" y="1381760"/>
            <a:ext cx="7782560" cy="4724400"/>
            <a:chOff x="2580640" y="1381760"/>
            <a:chExt cx="7782560" cy="4724400"/>
          </a:xfrm>
        </p:grpSpPr>
        <p:pic>
          <p:nvPicPr>
            <p:cNvPr id="276482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0640" y="1381760"/>
              <a:ext cx="7782560" cy="4724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3581400" y="1502639"/>
              <a:ext cx="5796280" cy="419608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en-US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例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5-3   abstract.cpp</a:t>
              </a:r>
            </a:p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Animal{		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动物类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virtual void speak()=0;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纯虚函数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virtual void eat()=0;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纯虚函数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virtual ~Animal();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析构函数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Animal::~Animal()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析构函数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8497551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910840" y="1442720"/>
            <a:ext cx="7467599" cy="4490720"/>
            <a:chOff x="2783840" y="1341120"/>
            <a:chExt cx="7467599" cy="4490720"/>
          </a:xfrm>
        </p:grpSpPr>
        <p:pic>
          <p:nvPicPr>
            <p:cNvPr id="27750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840" y="1341120"/>
              <a:ext cx="7467599" cy="4490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3556000" y="1564640"/>
              <a:ext cx="6299200" cy="40538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 :public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猫类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公有继承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speak();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eat();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~Cat();	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声明析构函数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Cat::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小猫喵喵叫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Cat::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eat</a:t>
              </a:r>
              <a:r>
                <a:rPr lang="en-US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小猫吃鱼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Cat::~Cat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析构函数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290617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499360" y="1524000"/>
            <a:ext cx="8321040" cy="4338320"/>
            <a:chOff x="2153920" y="1412240"/>
            <a:chExt cx="8321040" cy="4338320"/>
          </a:xfrm>
        </p:grpSpPr>
        <p:pic>
          <p:nvPicPr>
            <p:cNvPr id="278530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53920" y="1412240"/>
              <a:ext cx="8321040" cy="4338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722880" y="1595120"/>
              <a:ext cx="7487920" cy="39014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class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Rabbit :public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Animal{	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兔子类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Rabbit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公有继承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Animal</a:t>
              </a:r>
              <a:r>
                <a:rPr lang="zh-CN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public: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speak();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eat();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eat()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~Rabbit();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声明析构函数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Rabbit::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</a:t>
              </a:r>
              <a:r>
                <a:rPr lang="en-US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小兔子咕咕叫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void Rabbit::</a:t>
              </a:r>
              <a:r>
                <a:rPr lang="en-US" altLang="zh-CN" sz="1800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eat</a:t>
              </a:r>
              <a:r>
                <a:rPr lang="en-US" altLang="zh-CN" sz="18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小兔子吃白菜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Rabbit::~Rabbit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</a:t>
              </a: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cout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&lt;&lt;"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Rabbit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析构函数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"&lt;&lt;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endl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290617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2357120" y="1422400"/>
            <a:ext cx="8615679" cy="4754880"/>
            <a:chOff x="2123440" y="1422400"/>
            <a:chExt cx="8615679" cy="4754880"/>
          </a:xfrm>
        </p:grpSpPr>
        <p:pic>
          <p:nvPicPr>
            <p:cNvPr id="279554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23440" y="1422400"/>
              <a:ext cx="8615679" cy="475488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" name="内容占位符 2"/>
            <p:cNvSpPr txBox="1">
              <a:spLocks/>
            </p:cNvSpPr>
            <p:nvPr/>
          </p:nvSpPr>
          <p:spPr>
            <a:xfrm>
              <a:off x="2763520" y="1473200"/>
              <a:ext cx="7721600" cy="45415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 err="1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int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main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(){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Animal*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=new Cat;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定义基类指针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指向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Cat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类对象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-&gt;speak();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指针调用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-&gt;eat();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指针调用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eat()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delete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释放指针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pC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指向的空间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Animal *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=new Rabbit;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定义基类指针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指向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Rabbit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类对象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-&gt;speak();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指针调用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speak()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-&gt;eat();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通过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指针调用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eat()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函数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delete 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;		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//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释放</a:t>
              </a:r>
              <a:r>
                <a:rPr lang="en-US" altLang="zh-CN" sz="1800" dirty="0" err="1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pR</a:t>
              </a:r>
              <a:r>
                <a:rPr lang="zh-CN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指向的空间</a:t>
              </a: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    </a:t>
              </a:r>
              <a:r>
                <a:rPr lang="en-US" altLang="zh-CN" sz="1800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	return </a:t>
              </a: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0;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  <a:p>
              <a:pPr marL="0" lv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en-US" altLang="zh-CN" sz="1800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}</a:t>
              </a:r>
              <a:endParaRPr lang="zh-CN" altLang="zh-CN" sz="18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92906179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548132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5.3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纯虚函数与抽象类</a:t>
            </a:r>
            <a:endParaRPr lang="zh-CN" altLang="en-US" sz="3200" b="1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696720" y="1330960"/>
            <a:ext cx="9875520" cy="4531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上述代码定义了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个类：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动物类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该类提供了两个纯虚函数：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speak()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eat()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猫类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公有继承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类实现了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类的全部纯虚函数。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兔子类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Rabbit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公有继承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Rabbit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类实现了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类的全部纯函数。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函数中，分别使用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类的指针指向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Rabbit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类的对象，通过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Animal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类指针成功调用了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Rabbit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类的函数，实现了多态，并且成功调用了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类和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Rabbit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类的析构函数，释放了各自对象。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7839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578" name="Picture 2" descr="https://timgsa.baidu.com/timg?image&amp;quality=80&amp;size=b9999_10000&amp;sec=1582793007212&amp;di=9a90fde9a962d7ef281de2cb64065236&amp;imgtype=0&amp;src=http%3A%2F%2Fwww.51pptmoban.com%2Fd%2Ffile%2F2015%2F10%2F07%2F5eb79c43066898fed5d71d755ccdb89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415" y="1543676"/>
            <a:ext cx="4227203" cy="4227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6370320" y="1859280"/>
            <a:ext cx="4480560" cy="3210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一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案例描述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停车场管理系统是模拟停车场进行车辆管理的系统，该系统分为汽车信息、普通用户和管理员用户三个模块。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75065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05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80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3315334" y="1961198"/>
            <a:ext cx="6466659" cy="3474401"/>
            <a:chOff x="3315334" y="1961198"/>
            <a:chExt cx="6466659" cy="3474401"/>
          </a:xfrm>
        </p:grpSpPr>
        <p:grpSp>
          <p:nvGrpSpPr>
            <p:cNvPr id="4" name="组合 3"/>
            <p:cNvGrpSpPr/>
            <p:nvPr/>
          </p:nvGrpSpPr>
          <p:grpSpPr>
            <a:xfrm>
              <a:off x="3315334" y="1961198"/>
              <a:ext cx="6466659" cy="3474401"/>
              <a:chOff x="3315334" y="1961198"/>
              <a:chExt cx="6466659" cy="3474401"/>
            </a:xfrm>
          </p:grpSpPr>
          <p:pic>
            <p:nvPicPr>
              <p:cNvPr id="297986" name="Picture 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15334" y="1961198"/>
                <a:ext cx="6466659" cy="34744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" name="内容占位符 2"/>
              <p:cNvSpPr txBox="1">
                <a:spLocks/>
              </p:cNvSpPr>
              <p:nvPr/>
            </p:nvSpPr>
            <p:spPr>
              <a:xfrm>
                <a:off x="4780278" y="4282440"/>
                <a:ext cx="391162" cy="568960"/>
              </a:xfrm>
              <a:prstGeom prst="rect">
                <a:avLst/>
              </a:prstGeom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 eaLnBrk="1" hangingPunct="1">
                  <a:lnSpc>
                    <a:spcPct val="150000"/>
                  </a:lnSpc>
                  <a:spcBef>
                    <a:spcPct val="0"/>
                  </a:spcBef>
                  <a:buNone/>
                  <a:defRPr/>
                </a:pPr>
                <a:r>
                  <a:rPr lang="en-US" altLang="zh-CN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itchFamily="18" charset="0"/>
                  </a:rPr>
                  <a:t>3</a:t>
                </a:r>
                <a:endParaRPr lang="en-US" altLang="zh-CN" sz="24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9" name="内容占位符 2">
              <a:hlinkClick r:id="rId5" action="ppaction://hlinksldjump"/>
            </p:cNvPr>
            <p:cNvSpPr txBox="1">
              <a:spLocks/>
            </p:cNvSpPr>
            <p:nvPr/>
          </p:nvSpPr>
          <p:spPr>
            <a:xfrm>
              <a:off x="5918198" y="2367280"/>
              <a:ext cx="2250442" cy="680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zh-CN" sz="2400" u="sng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汽车</a:t>
              </a:r>
              <a:r>
                <a:rPr lang="zh-CN" altLang="zh-CN" sz="2400" u="sng" dirty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信息</a:t>
              </a:r>
              <a:r>
                <a:rPr lang="zh-CN" altLang="zh-CN" sz="2400" u="sng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模块</a:t>
              </a:r>
              <a:endParaRPr lang="en-US" altLang="zh-CN" sz="2400" u="sng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7" name="内容占位符 2">
              <a:hlinkClick r:id="rId6" action="ppaction://hlinksldjump"/>
            </p:cNvPr>
            <p:cNvSpPr txBox="1">
              <a:spLocks/>
            </p:cNvSpPr>
            <p:nvPr/>
          </p:nvSpPr>
          <p:spPr>
            <a:xfrm>
              <a:off x="5908038" y="3373120"/>
              <a:ext cx="2250442" cy="680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u="sng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普通用户模块</a:t>
              </a:r>
              <a:endParaRPr lang="en-US" altLang="zh-CN" sz="2400" u="sng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8" name="内容占位符 2">
              <a:hlinkClick r:id="rId7" action="ppaction://hlinksldjump"/>
            </p:cNvPr>
            <p:cNvSpPr txBox="1">
              <a:spLocks/>
            </p:cNvSpPr>
            <p:nvPr/>
          </p:nvSpPr>
          <p:spPr>
            <a:xfrm>
              <a:off x="5958838" y="4480560"/>
              <a:ext cx="2707642" cy="68072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u="sng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管理员用户</a:t>
              </a:r>
              <a:r>
                <a:rPr lang="zh-CN" altLang="zh-CN" sz="2400" u="sng" dirty="0" smtClean="0">
                  <a:solidFill>
                    <a:schemeClr val="bg1">
                      <a:lumMod val="50000"/>
                    </a:schemeClr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模块</a:t>
              </a:r>
              <a:endParaRPr lang="en-US" altLang="zh-CN" sz="2400" u="sng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452363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981200" y="1310640"/>
            <a:ext cx="9489440" cy="469392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汽车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信息模块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）添加汽车信息，添加汽车属性信息。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）删除汽车信息，输入车库中存在的车牌号删除车辆信息。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）查找汽车信息，输入车库中存在的车牌号显示车辆详细信息。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）修改汽车信息，输入车库中存在的车牌号，修改汽车属性信息。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）停车时间统计，显示车辆在车库中停留的时间。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）汽车信息显示，显示车库所有车辆的属性信息。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）汽车信息保存，将汽车信息保存到本地文件中。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9733280" y="5036820"/>
            <a:ext cx="1351280" cy="675640"/>
            <a:chOff x="9733280" y="5003801"/>
            <a:chExt cx="1351280" cy="675640"/>
          </a:xfrm>
        </p:grpSpPr>
        <p:sp>
          <p:nvSpPr>
            <p:cNvPr id="4" name="五边形 3"/>
            <p:cNvSpPr/>
            <p:nvPr/>
          </p:nvSpPr>
          <p:spPr>
            <a:xfrm rot="10800000">
              <a:off x="9733280" y="5069840"/>
              <a:ext cx="1351280" cy="6096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18415" cmpd="sng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8" name="内容占位符 2">
              <a:hlinkClick r:id="rId4" action="ppaction://hlinksldjump"/>
            </p:cNvPr>
            <p:cNvSpPr txBox="1">
              <a:spLocks/>
            </p:cNvSpPr>
            <p:nvPr/>
          </p:nvSpPr>
          <p:spPr>
            <a:xfrm>
              <a:off x="10038080" y="5003801"/>
              <a:ext cx="1005840" cy="6756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返  回</a:t>
              </a:r>
              <a:endPara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100236432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3241040" y="1757680"/>
            <a:ext cx="7051040" cy="32105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普通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用户模块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）显示车辆状况，查看汽车信息和停车费信息。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）查询车辆信息，查询车辆详细信息。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）停车时间信息，查看车辆停车时间信息。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）返回主菜单。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9733280" y="5036820"/>
            <a:ext cx="1351280" cy="675640"/>
            <a:chOff x="9733280" y="5003801"/>
            <a:chExt cx="1351280" cy="675640"/>
          </a:xfrm>
        </p:grpSpPr>
        <p:sp>
          <p:nvSpPr>
            <p:cNvPr id="11" name="五边形 10"/>
            <p:cNvSpPr/>
            <p:nvPr/>
          </p:nvSpPr>
          <p:spPr>
            <a:xfrm rot="10800000">
              <a:off x="9733280" y="5069840"/>
              <a:ext cx="1351280" cy="6096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18415" cmpd="sng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内容占位符 2">
              <a:hlinkClick r:id="rId4" action="ppaction://hlinksldjump"/>
            </p:cNvPr>
            <p:cNvSpPr txBox="1">
              <a:spLocks/>
            </p:cNvSpPr>
            <p:nvPr/>
          </p:nvSpPr>
          <p:spPr>
            <a:xfrm>
              <a:off x="10038080" y="5003801"/>
              <a:ext cx="1005840" cy="6756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返  回</a:t>
              </a:r>
              <a:endPara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3536407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2885440" y="1330960"/>
            <a:ext cx="7213600" cy="4572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管理员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用户模块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）增加车辆信息，添加新的车辆信息。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）显示车辆信息，显示所有车辆信息。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）查询车辆信息，通过车牌号查询车辆信息。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）修改车辆信息，修改车辆属性信息。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）删除车辆信息，删除指定车牌号的车辆信息。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）车辆信息统计，显示车库中所有车辆停车时长。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）退出管理员用户登录，返回主菜单。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9591040" y="5407659"/>
            <a:ext cx="1351280" cy="675640"/>
            <a:chOff x="9733280" y="5003801"/>
            <a:chExt cx="1351280" cy="675640"/>
          </a:xfrm>
        </p:grpSpPr>
        <p:sp>
          <p:nvSpPr>
            <p:cNvPr id="11" name="五边形 10"/>
            <p:cNvSpPr/>
            <p:nvPr/>
          </p:nvSpPr>
          <p:spPr>
            <a:xfrm rot="10800000">
              <a:off x="9733280" y="5069840"/>
              <a:ext cx="1351280" cy="6096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18415" cmpd="sng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2" name="内容占位符 2">
              <a:hlinkClick r:id="rId4" action="ppaction://hlinksldjump"/>
            </p:cNvPr>
            <p:cNvSpPr txBox="1">
              <a:spLocks/>
            </p:cNvSpPr>
            <p:nvPr/>
          </p:nvSpPr>
          <p:spPr>
            <a:xfrm>
              <a:off x="10038080" y="5003801"/>
              <a:ext cx="1005840" cy="6756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返  回</a:t>
              </a:r>
              <a:endPara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707887216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88" y="2125980"/>
            <a:ext cx="3589337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706880" y="1402080"/>
            <a:ext cx="5984240" cy="4572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2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二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x-none" altLang="zh-CN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案例分析</a:t>
            </a:r>
            <a:endParaRPr lang="zh-CN" altLang="zh-CN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停车场管理系统案例描述可知，停车场管理系统需要展现一个菜单界面，用户可以根据选项进入普通用户和管理用户界面，普通用户只能查看车辆信息，只有管理用户才能添加、修改、删除车辆的信息。普通用户和管理用户具备返回主菜单的功能。下面根据模块的功能，为每个模块设计类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92778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6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6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757680" y="1696720"/>
            <a:ext cx="4765040" cy="31902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汽车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信息管理类设计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根据案例描述，针对汽车信息模块可以设计一个类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，汽车属性设计为其成员变量，汽车信息模块的功能设计为其成员函数。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2838012"/>
              </p:ext>
            </p:extLst>
          </p:nvPr>
        </p:nvGraphicFramePr>
        <p:xfrm>
          <a:off x="7325360" y="1310640"/>
          <a:ext cx="3456305" cy="4807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65" name="Visio" r:id="rId5" imgW="1849006" imgH="2574936" progId="Visio.Drawing.11">
                  <p:embed/>
                </p:oleObj>
              </mc:Choice>
              <mc:Fallback>
                <p:oleObj name="Visio" r:id="rId5" imgW="1849006" imgH="257493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5360" y="1310640"/>
                        <a:ext cx="3456305" cy="48079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2669539" y="4886960"/>
            <a:ext cx="2941322" cy="782320"/>
            <a:chOff x="2669539" y="4886960"/>
            <a:chExt cx="2941322" cy="782320"/>
          </a:xfrm>
        </p:grpSpPr>
        <p:sp>
          <p:nvSpPr>
            <p:cNvPr id="6" name="流程图: 可选过程 5">
              <a:hlinkClick r:id="rId7" action="ppaction://hlinksldjump"/>
            </p:cNvPr>
            <p:cNvSpPr/>
            <p:nvPr/>
          </p:nvSpPr>
          <p:spPr>
            <a:xfrm>
              <a:off x="2669539" y="4886960"/>
              <a:ext cx="2941322" cy="782320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内容占位符 2">
              <a:hlinkClick r:id="rId7" action="ppaction://hlinksldjump"/>
            </p:cNvPr>
            <p:cNvSpPr txBox="1">
              <a:spLocks/>
            </p:cNvSpPr>
            <p:nvPr/>
          </p:nvSpPr>
          <p:spPr>
            <a:xfrm>
              <a:off x="2824480" y="4937760"/>
              <a:ext cx="2694939" cy="7010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点击查看详细设计</a:t>
              </a:r>
              <a:endParaRPr lang="zh-CN" altLang="zh-CN" sz="2400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129221649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6360160" y="2334931"/>
            <a:ext cx="3891280" cy="2590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carNum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汽车的车牌号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;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carType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汽车类型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；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color: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汽车颜色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；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time_t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: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进入停车场的时间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918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8724" y="1515744"/>
            <a:ext cx="3465195" cy="422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746602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18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1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584960" y="1158240"/>
            <a:ext cx="10017760" cy="5039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）添加汽车信息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addCar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添加汽车属性信息，当有车辆入库时需要对车辆信息进行录入，即存储车牌号、汽车类型、汽车颜色和汽车进入车库的时间。车库中的车辆信息以文件的形式进行存储，添加完成后保存文件。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）删除汽车信息—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delCar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删除车库的汽车信息，通过输入车牌号删除该车的信息。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delCar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函数的实现是通过读取保存车辆信息的文件，在读文件时，不删除的车辆信息被写入到一个临时文件，而要被删除的车辆信息不写入。文件读写完毕之后，再将临时文件中的数据写入原文件。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5462151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605280" y="1351280"/>
            <a:ext cx="10017760" cy="456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）查找汽车信息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findCar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查找汽车信息通过输入车牌号进行查找，读取本地存储的汽车信息文件后，若找到与输入的车牌号匹配的记录，则显示查找的车辆信息。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4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）修改汽车信息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modCar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修改汽车信息需要输入车牌号进行修改，以修改文件的形式完成。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modCar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函数的实现也是通过读取保存车辆信息的文件，在读文件时，将文件信息连同修改车辆的信息写入一个临时文件。文件读写完毕，再将临时文件中的数据写入原文件。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59139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605280" y="1371600"/>
            <a:ext cx="10017760" cy="4561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5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）停车时间长度统计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timeAmount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在添加汽车的时候将系统当前时间写入到文件中，再次查看时，利用系统当前时间减去写入文件时的时间得到停车时长。根据停车时长分别计算停车超过一天和停车不足一天的车辆总数。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6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）车库信息显示—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showInfor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通过读取文件的方式显示车库所有的车辆信息，并显示停车费用。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7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）车辆信息保存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—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saveInfor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()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将新添加的车辆的信息保存到文件中。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9189720" y="5407659"/>
            <a:ext cx="1351280" cy="675640"/>
            <a:chOff x="9733280" y="5003801"/>
            <a:chExt cx="1351280" cy="675640"/>
          </a:xfrm>
        </p:grpSpPr>
        <p:sp>
          <p:nvSpPr>
            <p:cNvPr id="8" name="五边形 7">
              <a:hlinkClick r:id="rId4" action="ppaction://hlinksldjump"/>
            </p:cNvPr>
            <p:cNvSpPr/>
            <p:nvPr/>
          </p:nvSpPr>
          <p:spPr>
            <a:xfrm rot="10800000">
              <a:off x="9733280" y="5069840"/>
              <a:ext cx="1351280" cy="609600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 w="18415" cmpd="sng">
                  <a:solidFill>
                    <a:schemeClr val="bg1">
                      <a:lumMod val="95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endParaRPr>
            </a:p>
          </p:txBody>
        </p:sp>
        <p:sp>
          <p:nvSpPr>
            <p:cNvPr id="10" name="内容占位符 2">
              <a:hlinkClick r:id="rId4" action="ppaction://hlinksldjump"/>
            </p:cNvPr>
            <p:cNvSpPr txBox="1">
              <a:spLocks/>
            </p:cNvSpPr>
            <p:nvPr/>
          </p:nvSpPr>
          <p:spPr>
            <a:xfrm>
              <a:off x="10038080" y="5003801"/>
              <a:ext cx="1005840" cy="675640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4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  <a:cs typeface="Times New Roman" pitchFamily="18" charset="0"/>
                </a:rPr>
                <a:t>返  回</a:t>
              </a:r>
              <a:endPara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833551286"/>
      </p:ext>
    </p:extLst>
  </p:cSld>
  <p:clrMapOvr>
    <a:masterClrMapping/>
  </p:clrMapOvr>
  <p:transition spd="slow" advClick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290320" y="1310640"/>
            <a:ext cx="6543040" cy="46634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普通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用户类设计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普通用户只能查看车库的车辆信息，不具备修改车辆信息的权限。针对普通用户模块可以设计一个普通用户类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User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 smtClean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普通用户通过菜单选择要查看的信息，用户可以执行的操作分别是显示所有车辆信息、查询车辆信息、统计车辆信息和返回主菜单的功能。通过输入不同的选项值执行不同的操作。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763432"/>
              </p:ext>
            </p:extLst>
          </p:nvPr>
        </p:nvGraphicFramePr>
        <p:xfrm>
          <a:off x="7959834" y="2397760"/>
          <a:ext cx="3583831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884" name="Visio" r:id="rId5" imgW="1849006" imgH="946080" progId="Visio.Drawing.11">
                  <p:embed/>
                </p:oleObj>
              </mc:Choice>
              <mc:Fallback>
                <p:oleObj name="Visio" r:id="rId5" imgW="1849006" imgH="94608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9834" y="2397760"/>
                        <a:ext cx="3583831" cy="18288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81800110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930400" y="1696720"/>
            <a:ext cx="4765040" cy="34950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管理员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用户类设计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管理员用户除了具备普通用户的功能之外，还具备修改车库车辆信息、添加车辆信息的功能。针对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管理员用户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模块可以设计一个管理员用户类</a:t>
            </a:r>
            <a:r>
              <a:rPr lang="en-US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Admin</a:t>
            </a:r>
            <a:r>
              <a:rPr lang="zh-CN" altLang="en-US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442878"/>
              </p:ext>
            </p:extLst>
          </p:nvPr>
        </p:nvGraphicFramePr>
        <p:xfrm>
          <a:off x="7596334" y="2316797"/>
          <a:ext cx="3662851" cy="1869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6980" name="Visio" r:id="rId5" imgW="1849006" imgH="946080" progId="Visio.Drawing.11">
                  <p:embed/>
                </p:oleObj>
              </mc:Choice>
              <mc:Fallback>
                <p:oleObj name="Visio" r:id="rId5" imgW="1849006" imgH="946080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34" y="2316797"/>
                        <a:ext cx="3662851" cy="18691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29476221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930400" y="1534160"/>
            <a:ext cx="9286240" cy="405384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2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x-none" altLang="zh-CN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三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.</a:t>
            </a:r>
            <a:r>
              <a:rPr lang="x-none" altLang="zh-CN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案例实现</a:t>
            </a:r>
            <a:endParaRPr lang="zh-CN" altLang="zh-CN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面向对象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的核心思想之一就是对事物进行抽象，将事物封装成为类。对案例需求进行详细分析后，将需求抽象成三个具体的类。首先抽象出汽车类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，专门用于存储汽车属性信息、实现汽车的删除和查找等功能；其次抽象出普通用户类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，只具有对车库信息查询的权限；最后抽象出管理员类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Admin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，对车库中的车辆信息可以进行修改、增加等操作</a:t>
            </a: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10432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1398" y="501700"/>
            <a:ext cx="6456682" cy="584775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zh-CN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【阶段案例】</a:t>
            </a:r>
            <a:r>
              <a:rPr lang="zh-CN" altLang="zh-CN" sz="3200" b="1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：停车场管理系统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930400" y="1889760"/>
            <a:ext cx="9387840" cy="275336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 smtClean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）根据需求分析中的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UML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类视图，分别实现汽车类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Car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、用户类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User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和管理员类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Admin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（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2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）在主函数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中，绘制系统主菜单，通过提示输入选项进行不同的操作，可以选择普通用户和管理用户。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926882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5.4 </a:t>
            </a:r>
            <a:r>
              <a:rPr lang="zh-CN" altLang="en-US" sz="3200" b="1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  <a:endParaRPr lang="zh-CN" altLang="en-US" sz="3200" b="1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356014" y="1414046"/>
            <a:ext cx="6317826" cy="4708981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indent="457200" defTabSz="720725">
              <a:lnSpc>
                <a:spcPct val="150000"/>
              </a:lnSpc>
            </a:pPr>
            <a:r>
              <a:rPr lang="zh-CN" altLang="zh-CN" sz="2000" dirty="0" smtClean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主要讲解了多态与虚函数的相关知识，首先讲解了多态的概念与实现条件；其次讲解了虚函数实现多态，包括虚函数的概念与作用、虚函数实现多态的机制和虚析构函数；然后讲解了纯虚函数和抽象类；最后综合前面几章所学知识开发了一个停车场管理系统，强化读者对</a:t>
            </a:r>
            <a:r>
              <a:rPr lang="en-US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C++</a:t>
            </a:r>
            <a:r>
              <a:rPr lang="zh-CN" altLang="zh-CN" sz="20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基础知识的掌握，并加深读者对面向对象思想的理解。学习完本章内容，读者已经了解了面向对象程序设计中的封装、继承、多态三大机制，初窥了面向对象思想的精髓，通过本章的学习必将开启探索更高层次知识的大门。</a:t>
            </a:r>
            <a:endParaRPr lang="zh-CN" altLang="en-US" sz="20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21" y="1634705"/>
            <a:ext cx="4730773" cy="3870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0747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8D62E317-9EB8-4EE3-A0B2-DEA7D8D8667A}"/>
  <p:tag name="ISPRING_RESOURCE_FOLDER" val="F:\7、计算机组装与维护\5、资源\2.PPT\ppt\第1章 认识计算机 教学PPT_薛蒙蒙_0827_1\"/>
  <p:tag name="ISPRING_RESOURCE_FOLDER_STATIC" val="F:\7、计算机组装与维护\5、资源\2.PPT\ppt\第1章 认识计算机 教学PPT_薛蒙蒙_0827_1\"/>
  <p:tag name="ISPRING_PRESENTATION_PATH" val="F:\7、计算机组装与维护\5、资源\2.PPT\ppt\第1章 认识计算机 教学PPT_薛蒙蒙_0827.pptx"/>
  <p:tag name="ISPRING_PROJECT_FOLDER_UPDATED" val="1"/>
  <p:tag name="ISPRING_PLAYERS_CUSTOMIZATION" val="UEsDBBQAAgAIAO9xSE3/6EwIKgQAAHYOAAAdAAAAdW5pdmVyc2FsL2NvbW1vbl9tZXNzYWdlcy5sbmetV1uP00YUfkfiP4wsUbUPXaASCKnZoEk8m1g4drAne+lF1mw8BAvHs7WdwPYJVS1i+wIStKItLVppu1upNK2QWlFW5ddsnOVf9NhOIAm0tnd5sJSx8n3n9p3jM6WLN7ou6nM/cIS3KJ1dOCMh7rWF7XidRalFl96/IKEgZJ7NXOHxRckTErpYPnmi5DKv02MdDr9PnkCo1OVBAMegHJ9enZFjL0rNilXVG02srVmqXtOtilKTylXR3WDeJlJFR3ziv/vB+Qs3zp47/17p9BiZh8hsYFWdpUIJ07kzOYg0auiqBWxEtTSySqXyO53ww/mnGI/eoqqiEak83NkbPXtyuHdr+MPzYhRNgyyDKy6Yn3syeVqGQTRqmaoiE0sxLU2nScJUQokslaMHvw/v7o7290b7vx08/frg6c3o8Xb0553DvduHgz+G/3yTZUA28Iqi1Syq66ppEU2evJHKo/170Y+PRvf3R4/vF6QxsEkM8O7e7ovvdo6AtRIRpPBo62b0cKsYSV2p1VV4aOzFi18fHDwbFCNoEg0SkB13g5gmrhGroq9CaUAjd3eLQPRLYGV7cDjYKYJaI2ZS+SyMhpeVGqaKrsXKMYhJDaWayGZN9FCbeUh47iZi7Tbg0IbP+47oBfCm7/Dr3EaB69g8KGbFJJdbIFgFq6mVq6zPUSgSyjEhcjwUXuWo4/Q5uODb3M+yAQ1UJXJcnsst5SNrCSsqkS2ol6yvWDRp9NgY8znyRIiY64o4ALDL7D7z2hyt8zbrBRxtwt9sx07+tsEg7NiTz3rO54iFqX/o1LjZNJmsnlo4nmsKVWFyrDDfg/FbkGqm1V8PttsLINIw5N2NMCuKqUwsvBUvjhtXE5vmfwaVpy7HjGjOftFwTJA4MeCrBy1fcUR+BGmAPqQy6TLHzY9StCUw1PR5wL2Q+0jxrhSwqeljAk2go3IsQ+ZnXFiGihTAr5CKqdA4x3w9cEKehUwKldb7zRppw4Lg8pC/0sk6vyKg/13O+lBEeO8EqXAWjmCskCAmkzUegdNzesyigUMdFsI6hsAl1+lC/HYOzlaDTDKYjteZTLzxyz/6/ssiH///M5L6bvCg1+UT2SRBZJGaBBvVulXFWpWA1Id3vo3+up0TBFKNfVKpaam4EsOjJ9vw9Y+++CV69HO09RwCHN76ajj4Oydhun/JZAkD6ThzOaHzjqT2YSf66WEhBmi+eOSQl0wfayLkwadZJBRXZnHJIQ9qvLFOcEX21qTs46xhSnG13gBlmIkQRM9vZ68D0wwNbFyC5k9WKqncYP41mBxUCLcQSxJ3PL3CYtaPtLhPExxvAMdRU6VpYVlOrjZwqXGd9rX0w2Ujloyw+I7jwh0nL1m1jjWYLnN83HbCgoTJQJ80O7Rdep4oLd7XXpvvL09BckMsnZ66MP4LUEsDBBQAAgAIAO9xSE2LtzoSDwQAANwPAAAnAAAAdW5pdmVyc2FsL2ZsYXNoX3B1Ymxpc2hpbmdfc2V0dGluZ3MueG1s5VdRaxtHEH7Xr1iupG/RyYldO+5JwdgSEZVl17rShFLM6m6s23pv93q7J0V5CiEJTV8aKIWShhZDavehdUugkNY0P6ZEkn9G53S2LFlyenJISSjiEDf7zbczs7Pf3lpXb/qcNCFUTIq8MZPNGQSEI10mGnnjI7t0ccEgSlPhUi4F5A0hDXK1kLGCqM6Z8mqgNUIVQRqhFgOdNzytg0XTbLVaWaaCMB6VPNLIr7KO9M0gBAVCQ2gGnLbxT7cDUEYhkyHESkyr0o04EOZiCILF0VFe4lR5hpnA6tTZboQyEu6y5DIkYaOeN95ZWIp/x5iEaoX5IOLkVAGNsVkvUtdlcTyU19gtIB6whoeBz88apMVc7eWNy7lLMQ3CzXGaPnmSBI1pliVmI/QRvw+aulTT5DWZUMNNrY4NicltC+ozx8YREhcgb6zYm7VKeaW4WV2zi7XNa/ZqJYlhCie7eN2ewsku25XiNPi09NdurBc3KuXqB5v22lrFLq+feGFFRwpimaMVs7CyMgodGBTM0l7k1wVlHLvtVBkVaOxXTsMG2LLEcBW3KFdgkM8CaHwYUc50G9s6h229DRAsqQAcvREvW97QYQTGCV1CiIHhWg56Yu7KoCfmF0ZSN5PZT9KaGKVFtaaOh82Dtn5oljlsOoZtSTGSWvxO6pK7g4TAr4NbpT4M7YnaNhMlRM4YZAsXgWOqSyGj3CBMY+rOwFlFdaWZ7u/C0jCSIBfudiCrtbFSOB4N1UjFB1WPG98pfFKVGtSnSSkS01nQ7re/dh7u9g72ege/vHj25Ytnt7s/7/Qe3e3+/tXh3heH+791/vomDc8NGRE/UpqgkgQcNBDtAfk8YrdIHbZkCIQDbaLmoJ0pojhzITsVcUCVOiGlOuEgF5IdUK6uFK9fIFoS6japcKYkx6UHP9Cvg59i7kLiFJzLFrhDFFgZh0YKSBthLnP7sDRpZs+9sudZVocKIgVvE+rg5lcEJbbJZKTQ0mQQp9QPUaXl82gT4irEzkeuhIl+zg3cPzhZ6EKYhi03c+ny7Nx78wtXFrPm37d3L77U6UgQ1zmNZ0sUcflMxU3ndUp3/8XpJeo75luSoR93pTs26eQT5Uj5xrXBMmPNmixhfaV9ExWs+8OP3QfPewdfd79/nKrZn+50Hz/o3vnpyPHR3c79e539P9L4dp7s9f58erh3v/Pd8zT4fv3TAN/l+v3TTyq/BmJPPSl3fKp8H+6mgfV29g/3n6RBboCKfCDrQ59eadw+pqHAA+GtgFbx7Gr0MyN4enHmM9yZb4VEnaUWr65u/4lCvdJHViJvr0ehzrWwb7yo/18qlrwNbjojVxvLnHiJjEd8JpiPdYw/WgY3z8LcbA4vSxOHMhlkG72RFzL/AFBLAwQUAAIACADvcUhNBOcD0bYCAABTCgAAIQAAAHVuaXZlcnNhbC9mbGFzaF9za2luX3NldHRpbmdzLnhtbJVWbU/bMBD+vl9Rdd8Jey2TTCUonYTEBhqI705yTaw6dmQ7Zf338yux26TNekKq757Hd763guSWsOWH2QwVnHLxDEoRVkmjCboZKa/neacUZxcFZwqYumBcNJjOlx9/2g/KLPIci+9ATOVscAG9m4X9TKF4H98WRsYIBW9azPYPvOIXOS62leAdK8+GVu9bEJSwrUZe/lis1qMOKJHqXkGTxLS+MjKN0gqQEkxI39dGzrIozoEGT5f2M5HTuzr9+gPajkiiLO3mk5ExWosrSJN8dWNkHM/07WlVFkZOExT8VRr65bORUSjFexDp5XdfjYwyeNu1/9MjreCVSWjKOV3Edw7luNTjZ6K6NHKWYB5kHJ2tgk+PfetdBPJf47lHZlwFp08mrwcLwRQ9p7BUogOUhZOzyZq/PXZKzwcsN5hKDYhVPehJB/2EOxmuSXU97g+8EVZGIK/oEa+cdg2sXLyx09TQE1arW7srYuy7LopQwM4roxB7ZY/8rfN6hIyUPfKZkhIeGd0fwQ8tjhNqfIt9NU+nX1uBYX0MCQunYDWeHszkysi1VwRMw0tYShPOC2nAlA1lVudCyo5iQgzvSIUV4eyXweV7+xiJsgODb7XhxkKKKApD/WZj1Fs6rpc9p+3orWk/ul+F/nHuPFN6iV/PsVK4qBv9qyTnM8/TU6ITM8+GGWZNajiIe7bhEcf6HiM1WGxBvHBOp7phXIGcej13szUGR1mUA5QNZxn5S4bSz7omB7HWVSMQ2ibVOVxNqprqP/VK4A3KlDBidExV6+sYJu9dGSl8CwAWRR161h2cpemoIhR2QL01UtgHj70MSd2jY+12ox5go+KG85pJHekXRd8pMS41DBBedVzDDGc5v4QVzqV9WTL3YQf3g59s5bDLTOvF3p3Ct1Jys7Yfp1ArzT+T/wBQSwMEFAACAAgA73FITaPtv2riAwAA7Q4AACYAAAB1bml2ZXJzYWwvaHRtbF9wdWJsaXNoaW5nX3NldHRpbmdzLnhtbN1X328bRRB+91+xOlTe6kv6g6Th7CpKHMXCdUJyiFYIReu7sW/p3u71ds+u+1ShUlFeqISQUKlAkUrCAwRUCakQ0T8G1Xb+DGZ9jhPHSTgHaNXKOlk7N/PtfLOz3946V2+HnDQhVkyKgjWdn7IICE/6TDQK1gfu0vlZiyhNhU+5FFCwhLTI1WLOiZIaZypYB63RVRGEEWou0gUr0Dqas+1Wq5VnKorNW8kTjfgq78nQjmJQIDTEdsRpG/90OwJlFXM5QpzUdE36CQfCfExBMJMd5cs65JadetWod7MRy0T4C5LLmMSNWsF6a3be/PZ9UqRFFoIw3FQRjcas56jvM5MO5evsDpAAWCPAvGcuWaTFfB0UrItTFwwMutvjMH3wlAM1MAsSyQg9wA9BU59qmg7TCTXc1mrfkJr8tqAh81x8Qwz/grXobqxXyouljeqKW1rfWHavVdIcJghyS9fdCYLcslspTeKfFX75xmpprVKuvrfhrqxU3PLqQRRWdKQgjj1aMQcrK5PYg2HBHB0kYU1QxrHZjpRRgcZ25TRugCuXGK5inXIFFvkkgsb7CeVMt7Grp7CrbwJE8yoCT6+ZZStYOk7AOoBLATExXMthT1y+MuyJmdkR6nY6+wGtY7N0qNbUC7B50NZPzbEPm/bd6lKMUDNjUpPcHxKqY5U5cpmPGeUWYRq5ecO32lRALzGO9Tex0/m60GPkvIDGaqSGwzqaVvaKH1WlBvVxSi41neTa/eaXzsOt3u52b/fnF8++ePHsbvenzd6je93fvtzb/nxv59fOn19nwbkhExImShOUhoiDBqIDILcSdofUoC5jIBxoE0UE7UwRxZkP+YmAI6rUASjVKQY5l/Z0ubpYun6OaEmo36TCmxAcFxPCSP8f+BS5C4lTcC5b4B+CwMp4NFFA2ujmM7/vloVm/swre5Zl9aggUvA2oR5uZ0VQNJtMJgotTQaGUj9FlRUvoE0wVTDBg1DCRJ9zAw8JnCz2Ic6CNjV94eKly+/MzF6Zy9t/3d06f2rQQOJWOTWzpRq3cKKGZos6oqT/EHSKno7FLsk4NF3pj016/Bkx0LJxbXBsoyTHi1JfO1+OJnW//6H74Hlv96vud48zte/Tze7jB91PfxwEPrrXuf9ZZ+f3LLGdJ9u9P57ubd/vfPs8i3+/olkc3+b63aNPprgG+h55Mu7hTHwfbmVx623u7O08yeK5BioJgawe+jzKEvYhjQVK/GvhWsXTqNFnRvA84ixkuNdeC9E5af//e716KZpz+odQqkj/keacaalevfC+sTVIR8Mbw8gVwbGPvYzl0D56RS3m/gZQSwMEFAACAAgA73FITQ/kWSCZAQAAHQYAAB8AAAB1bml2ZXJzYWwvaHRtbF9za2luX3NldHRpbmdzLmpzjZRNb8IwDIbv/AqUXSfEPrvthgaTJnGYNG7TDmkxpSJNoiR0MMR/Xx2+mtYdxJfm7dPXsStn0+mWiyWs+9Ld+Ge//wj3XgPUnFnCdaiLFj1HnVmRTWGS5SAyCayGFIdPj/L2RFDGTHrTeP2JtrbixxS+mXFhq7gmLAyhWUIrCO2HSrKixN+gtH1Zu5IqfY6XzinZS5R0IF1PKpNzz7CrN7+qFdZgVYA5g854AoFp5FcbeXJ8iDCqXKJyzeV6rFLVi3mySI1aymlb/vlagyn/+GIH9J+j11FgJzLr3h3k9cSjJ4x2UhuwFvZ5H0cYJCx4DKLi2/frHzQwbhZUo4vMZu5AD24wqrTmKTS69DTACDFZejW6GWE0OQcrtyPubjECQvA1mIbV8B4jAJVe6gt+oDYqxY400GbPj6hQfJrJdJ+6j0FyeFi0beveqVB//CELRkjVRmhOjGnednNcMPaOHFxbyzqmZl5QoqRERSTWFFiQp3H1awT3X13GnePJPC9vh/JqLNvAzQLMRClRHv/73EGLo7jL1dn+AVBLAwQUAAIACADvcUhNGtrqO6oAAAAfAQAAGgAAAHVuaXZlcnNhbC9pMThuX3ByZXNldHMueG1snY8xD8IgEIV3fgW5XbBb0wDdTNwcdDYVUUno0XDU+vOF1Bhnh0vuXd73Xk71rzHwp0vkI2poxBa4QxuvHu8aTsfdpgVOecDrECI6DRiB94Yp37R4SI5cJl4ikDQ8cp46KZdlEZ6mVBIohjmXYBI2jrLMGFFWUk4rCivb+b/ozw0MY5yry+xD3qMpe1GrhVOyGipzdig83iLIalDy667KzpRLRRFK/jxm2BtQSwMEFAACAAgA73FITZQTsyJpAAAAbgAAABwAAAB1bml2ZXJzYWwvbG9jYWxfc2V0dGluZ3MueG1sDcwxDoMwDEDRnVNY3int1oHAxlaW0gNYxEWRHBuRgOD2ZPvD02/7MwocvKVg6vD1eCKwzuaDLg5/01C/EVIm9SSm7FANoe+qVmwm+XLOBSZYhS7eJo4lMo8Uixx2EajhU17/wB6brroBUEsDBBQAAgAIAKBhr0TOggk37AIAAIgIAAAUAAAAdW5pdmVyc2FsL3BsYXllci54bWytVU1v2zAMPafA/oOhe62kXdc0kFt0BYod1qFA1m23QLUZW4tteZJcN/31o/xtz+lWYAcDNsX3SPGRNLt6TmLnCZQWMvXIwp0TB1JfBiINPfLw9fZ4Sa4u3x2xLOZ7UI4IPJKnwgJ4TJwAtK9EZhB8z03kkZ7BRWbiZEpIJcweuc+Qu4u0JO+OZuiSao9ExmQrSouicIVGRBpqGeeWRLu+TGimQENqQNEqDeI02JX5OxqfRKbU7DPQPWRm3h64Jmk5nrUYkBSnrlQhPZnPF/TH3ee1H0HCj0WqDU99IA5WclaW8pH7uzsZ5DFoa5uxKsk1GGOTKG0zZlZisUwdrXyPVA6bBLTmIWg3TkNCKyydALNtzHVU8+gBreXVO1Hzln4b+71p3ErlaOec5Y+x0BEe9SGddRLI6DAqS8rrlh300HTQrWUijoJfuVAQlJ/f2haZL0gVsO24Mk9XFz4e4Nst941U+xuEYRfVCrqtaG4lmluCWg63jb7uKEhz2y1wkytoSjVjTyIA+YUrxW1bXBqVA6MjY42lQzCj1ZVrkTpBWGSS+OwftLF+I2l+6teUKQH/Q5hPSNTWRKQBPN8K9DGQYE0NYLGtzTVZ7NqYXU46f0x6fT0wVTnWouBFHMNVCDiGATecdnZ6CAqKa3TxczXC9g4OgiMRRjE+ZpJhfHqQJuFqN8nQOzgIjqW/m4C25raMdFzHUTO1HcToxDphfq6NTMRL2Z6DPWNWZR++NnLN0XUm2oPz+R+jOIjRDOaWTKwu+9bbV83hvZ1TozufTVZZBt2K8wAmzyqvZhbybOQTwJbnsbnp59Tswx50lPPUdExzfcd+l8VavIBTiMD+6RantiYR2J7xyIflaY8B9cTtMghfmqYiMlpLUql5SDmGtXkSUFSYalY+ouqhknkajLRxs+7noGPcVdcKuBPDFjNdnGDzycwj7/GlvsvF2UV3lfPFRYMt87qvAle5vGFV1wl3nUHrfm0vwuqZx9ffUEsDBBQAAgAIAO9xSE0129mtaAEAAPMCAAApAAAAdW5pdmVyc2FsL3NraW5fY3VzdG9taXphdGlvbl9zZXR0aW5ncy54bWyNUttqGzEQfc9XiPyAJY1uC1uDrsWQh0IT8rz1qmGJoy0rhYSij682rXHcurSap5lz5gwzOn1+nJJ9zmV+mr4PZZrT51jKlB7y9gqhfj8f5uXTEnMseXOq3E9pnF926eu81lo1lyGNwzLaFc1bjMLbQ0pq5VTLmGEUSeapV8h5bhvWgevANsxRYvvNbxI/dZe4j6lcVu03Z+ifDbuU41J2aYyvWzhnv4fON/i4DOPUeHkr2Br1OLU6tgZihEvuK9UAIJDljjhcpeykJshjxjFUoyhQQIRz0olKJOXQstCJpsJ8JxCTjFFXqaetG2ltHLVVQkeIbtO86mwNwUiMESEEmKtcQDAYNTY0DQ1qPSA4MCCqNpooQMEGE1j1zgvLkaJeYFyZMYDx6bin7d6f61T973WO5/yH4MUvuIiu3tpcMFe/f16WRr6NT98OQ4noy5DjbvxwHe5ubq5/efLNv0fGatS28V99/QNQSwMEFAACAAgA73FITe7Vv9acGQAA8D4AABcAAAB1bml2ZXJzYWwvdW5pdmVyc2FsLnBuZ+17f1jSV/83u9ty3/XDWpmYP7idrZqWjlxaqdBWd9ZaulrmSoWSlJoikYkoArU2TUSpNXOulO3b7myZUlhCIlArwCSlckWEQvFJzQDxYwrIzwdsV652X89zPc9138/1XNfjHwrnfT6f9+v1fp/zfp/30XNKP0+In/HO/HcgEMiMDevXboFA3hRBIH8zvz3VLcmq6z/v/ngjd0v8J5DGzoABd+NN7MebPoZALjKn2Xe95W7/177123MhkJnXPT9vSPFnd0MgiG83rP14Kwll6MGVNfRvd4GtC9EHI1YPlX49Dyx9Ur2+6JdroermS2+93/y2eA/8k/X/WHp59pJrX72J33Lx8xnid3E/euFwDVc+Vt1YuO2+i/aZ2Y+durJvBbZReTwgt1Hui9DfPH85s+OWOjeTjb7/WdAKXKHhsiIB7XiWnIh2DldFFD2ehnZTgxy8Lznhw9+mT1GpA0ROg8a5VAD3yLvfv5hbHi5hV6GpKwXvjUv+cTE/jYFmi5yFhR6rIDxZurnw70LfZfxZnuYg54EgiDR4pf/utDfczUfhZT26Q/q/ebq+PARO82Bl+InGmyf+J809vRvR1rsDvVVoBMWm0iA2bDn1FmHhDeXRGr9ISYT7gYeWfpqzv0vHFlGNwewFDjQh6obfsZpAH8DX3Yuze3oFJVe+GzFpGW2dFXSP8oNRC/ZuIxK3Mjw2Xwre0MRpOp1ud3P7acaGHytfvrv+7nm9/ix0nMaa7zIzsPFii9vU1f7ffRQWExP6Av7oL9uVys1wqtvI28ULOtonIf7jEKeflUerVwiG28Pq3PNxbMTochqvpmuzYoQSIEsQ+hLxrJXpsjC76tnCwkLHqMIoWHf3U7GCWFQuVRQmvYTc7COffuwStYk9OgHQbnm/Jn5cyYmkDPt3nSHjJGTnllE39B8bZ52R5Cf65Xmbx8yrnHMM9N2C3R7SO7cnSSJ+pWnGOvMT5AibfiDRNZKoGfn9i8SaWvLgFbLiB+zEY/muUbQrr1B/UZrARFj3PPOwNaY1db5UukWj9UPDc8Rto1fklEEtKx5OFzeJtJw6FtWqzoqQ/+nB9KFzkgbDCtNlNsWgzno+btqSercdo4bSRbU8ywmpIVJoEj/Nq8TSxgPry22V4MZnKYwd4HUDNq23cMJaa6aH4sGws25rKf5Ieb21WeqLIj3WrqKZ82n5xuUFf3qWWAMjubRlEWoyrnbCMepyQpiwgWCbfgHK13pppRnBjclxa25N8DWm3y589mudOuBK6D1I5kuXDOTMRarCah3Lb3A/QZi7c+ukQWT9p1N+mNDMTyuyAURIWVUTy5Ux8d5g9NQLsmL2vx6Pgdhlnll34XwoUHUgaML6VcwJN/3L4S4c661KZAutzwS07y6lg8uD0Lqkl3N43T1/fCvB2hctKgDPz9q56bXu/+ejCHM/iy0gWstElrIuo3PQWEt1KGiOkWmioWlXA33RMnB5IFoFLkdMYJ8tBMW+id5I+9DAzyVBf5vngwbAy6gJ7VvjnBZg4HDGzqWvigvu+54qsexgT5A9x/G6efXHcy9Jlp/Tv7HswplzExEYSj4YQH1aQj0izhAZzzf8Kajbg/5eAo1HFQ68P2/0yfHEM3/t9gIUDxno/l8npZPSSem/W5qzjOqJc1+OzOTsRTt7cbVU60B0hApN6wuBja23WmU3KJSna2AtpDGOjd8pjYy1D13HC3sMBtpYFW3sN+do2taJ3JaknPJkp32H6g6om8Oy3BCzTiJtTciNEZqy9AsP55++k1dyflYGW/TZdBRADeeLLF82WsHpKlW2F9vgCCzgc/9F6Fcw0O5F13XA2p4s3A/qkuJrnskfEGPp2PWOTqO9U7zvo9qk5ZLTln4eKnVR+2BM45wqaQZIlOjMmN9JlG5sK5WMBDiktNQodRVoDc7xx+e3Ghp80UXgiFJONWlX2bh8gdpkEBx/NYHt/5DaYGizLK+9eBmWF3qHOPJfmM/pWgUpjbEueOo/oRUoyui9MtsRfAqjCsgjuDan0siw4Kl18Hbxaq7jfjvBsZhaboOFJB2RSOfIs8tsZSomdzliMDgHmcMPvKLt5VFby3mdboYL1VyeHGwhrfS/n5Pyp0KmMm71TAn7cs8TLBUXX1O9J3bjV1DMlrkiyQqfcvhiyWlomUTVNrVJAD0vUQWu2d56qhwNCvG0ecmMLwGgdPNXtO1QV2w20ktVxTVHo2DGxLmiCpXR2F+z5U/JPMP76GEwC2d8YqkUIBiy9CX0O3taqbFNoVMbSA7igvlcZRk+j4FNK8ceKP/5A39RM3uairkoyybM4CqFrRQVMArKtwNRxl9eS/YMdJYulooTZ8C/Kn8ju7tvGbxQHClNf7OM1ilhQ6XNSN9sG8jQ3crGN1HGOKCOwzTWbPsrL3OunX5tr02eco91kaCkBtAJoVPZoBxcehS+Ryy7A60qBnHfYm7T8QUMbLlYprQsFzbsj41ZUswBnUyWf5SwY5maCT6/3qxdBfhlgsM8SjfaFCnSOvyM6NR5OC9e/qf/wuO77XTsLpzIBy45I6tVbo0D9qbO42pmfgafKX76EV1XDg+V/GpAeoNORvqe+UZ0a49B7pqvYCqYOsmR5Y0wfPQg5vsZ6ODiehIZfgCHhMGJYh0wbNABFCisy+Qg1yX9NWI2SSIGG//qxEhqTd2kdFI6Kf2/IE23p6chraeRPzqFTc1/6nv2uASWAFswJauUPfpnMSiFJcIW/0Us9kWP6CO+TH1tZwrXhaHH2gfGV9Wf/Hiq8R0u9j+xLwgYYDufsb88dWnpS4UrtjBCIgQj75YVDt9cZHQkbNRMgK34zp1pJREG2UuUit32HSfBjbaJBTHET3Q/035X+NJMYL07U/qJLkVMqvn/SE2gn0gIluNPIZ5Xy0/VkrSl0+RIl12wMdxYja1dKTBSjDGObrmj+9t4GGVE/b4RBVLR/Y4HKCRVoAcqmMbwqolJetNyuTkEUBz2RpDg1DibvskXUCRJakuCCp+mf0hXfUNaKbmQ30RCNkZuxbFh1xVc4WhDWZXZ8cjb+UhQNZj5MkAkx9zhzB+0+Ey5HcKM3W9kCRXZ+lIsXZynVeBUjz8o/gXOMLA2+3D5eg5oNagqPs7pzmyNfahO5GXb6TY/ebZ/iMJkhTtxmkESmdBj6MfYhHi25sqrtveMYKnitw9UYhPF7gqiEDQwbW6e2OPiXngUjuUTFV52bWk4WU5WP+876BPBVEjzEKO/JqZ1L5TU8UQkSmsNL3uueTa31HZEhTWSGVsJShJa2wtPL9dJ3SXN5lR8N7pbARWlry6rktqgXD8jpv/V4SAeB8MkNVCySS5pp1/7irEW/rbYICHNnfKQ+BP95w8a54gkOO3wZgaWQIMvxqGRkguLc/zN0fMxW1MX5US3ZPPKDn1lW1pN4MN5GUCySRhPQNtsKhQ361VPxqyilgf3h15P3hZ7OnTdf0OPpj+iV5klDz5adwan1AFRKnQ8wAKov+1pdVDgB8R7ltf6Ra1rNoxKHVg8phvdikCpdaiXSYqw4EUND59ajn+r9VOCQ1+iYuJ9uplbVJK2j+hVgEGs42o+8Tt8z1SNVkmQ0siW9AP+GdfvCXkJrSwCS6VjmsMQXoSxZgLNZnY0fv/qBNJVoAGVNX09fRcWWpURch96RhJ59r+hjZKDzS7TTUMGkDIL6F089Z88pkMHVO/APGjJts83R+bM4colbFKK6uOwxmiE2mHxEdtWFfMsUC5GZaIwzHjk93lLXo0XRaAo/XbpY2wEnbC3tTVi6k9Qajr0Hfg7OFHG/ukogtKp+gDDmM9VIXKzbFYSGegvMmhKDEjpCh88rbXBoPIXq5RCNsFGSmtNBKygjgQDFGCU+fCO6Xk2bpfgtbn2xEud1fFvCGrVJvfkosV25yt190R/ieVmV/R1GarCxf/59XCKWUZNi8rGofH2Fv7EEhW/zL0nagEUp5mIQnh2Obag/JiOo4hnWX+vC0fB1GaheexEW99rz5+R238U2O3P5ejW2KlsS7+5tT/ON6Ie+1r8GkBd6aLaFXGWR4d9RTNV8M8c7a9aEgOnirkxOVL2UDm+CNDuH31tBePGUSl9kayVccNtIb4R8RrrfS4D3fGaO+6AYbZrJqUOoy98+nNJOPU2hYEijBGnfyF6LdbcewDYDhiyKay4wSAfbNGPbrbDYBj3xuDrX/P/4qq9hslFZVLNf17NFgb6vA7mfAwbfLWCm/yX0iTEJMQkxCTEJMQkxCTEJMQkxCTEJMQkxCTEJMQkxCTEJMQkxP8uhMXEFVGMjxsWCAQrQib+UBdBGdhYZ6Sa+eagvk/vunywa07NfkmlPVcel+85jT8Y1135S5e4ehZ2DTHzFvR/fTT+/7AZN6RxOTSLxmXH/g36AueLUAW9lV11SMdAVzzSeqfLCzF0qOu6N7I7oRUNOsU2PyPeRPC8I8BFH9GDrrS5sI2WJ4uQBQ0d7zX6c/24crXJLZPhBqMVQSKhc5TNog5UUT+gYPl0c7TaqAc8NwgKCx9/6/sQMdBHLe14D9GpBzR0XffluL4WrdkayirTtZgsoyCTFkvx4peZY2yknGeeA2Xf6jkClmuMhaSMydBUlc5lwrtMIymi0RTfILL+Ijet01BgUmI19m7k6O9f4K9k22zvKlSoZh8RFijU2PuiNfuVJEcSDR1hi9yPHMQQBd7UocO90oIvVK4duUhnb96IsiZN7e0e53mJ6VdgNKxoGtVopkY4ArLFeRxV40Kq3Gie80NjHLXnXiXcY8yVUuhsodEmNKZ/3hauIQ9d89KYWqCd2lH4pW9glkMwniWPFpcTXzSIGaHLxzwHyEUrD4qvfkSN+I1pb2OmrkqVGLQKHi4VnzqPFp7+OV0mkalUmRxkiBlAnNOJpfPxSOcSaa9K1RPBdTDukFTJKwP4rTD3bF3qvD4cwoz9zikgJyn7d4XxO85pzU4q4sqjh0CyKaHHRynN3cp4C/7JDTZ84W6Fkv54gf9CbTVCdS1YfT9JHRTtyzIbjs6VF9KvhaHU3mvhByTGpNaAw72WOH9AyUPZC6DyNxnwvbYlDZ5D+Ylelx67acUbQxDF4P48geUHKatfNV+kLsUyUL0v/abZfsxBIWe8INSula82Faz4zZJ322K6UF+RBK/N9mLISH2KmEXURJMoH/6umG3bvAwVJG+nH/qKkQh/r1z3DdgfXPxPRxNPy6rXqGRORoCASVrpPNXZGL3ugkE3yFUVNd+bZT7WY95WZZ4CgfBS7bfq9MaH9TKEb4oSt20es2FQIXcto/bchr7HkTVrq5ersOrd6fv85OFaU4YoH2N/6P0xOExd/Q5gvU46qRzFAnczaOtyCmHJArXewS/V68Co3WZBZU+f+2MGBHJLzG2pkcnHHsoQMA+Cr8b5AyW8UWbJW4M50hauesj0ToGTbvQWs/O3mcjmnAq0UuUtYdfLBsluJ2Q4HsOcuwod9W2D/hDIDzFVsGe1N8cVdV5bhBy7OfKcEChh+89fs5aonKVpJyrz0i101uXvHecX5SQX6bTEfd3OW2ySw3JfcsFRjU4hOEDc4V322EZSDyllzWik6BwyJFrArEcZe4JEVJeZ5hr5NqLo8Yj9uRwWVMuxqdtzjucdfxw2bsrvtQV91SNGRf97tlPZGdyVviyXvb9LfjNJkAUohPUo4hz3rPki2U+U/mA+MiQ7YmoleFhS4lh8zXBEnstYDZgXUiMkV32ALXbhjRUrp7bDi8VszIKH6oXqTuJW+rW95JMOyOXl7vB6gtDKe/PUVflZdmuHxt7RpRCaLpPRBo1O7rLLu3Sd4w7O1Nxx8/P4hdeNc7GUxq/1zzluv6feYJWftLNGy9HRc9f8BvUJb3KdaNpVxAfUegPBdaN/lbDhQ8bFrNR5h7t4S2pxy1EixyEzBuqvUDnV5T+HomCibdfdFLFsb/d8VfdBf28cFm6d0r0pA80MnnnBc9FEnWwd0Pbqq9GJiLEn4gzQ+gx9REnBZ3CV5odZ7LTp+5V57FA+HgJ5tB9squGIUljHX1A71f2kn+YnOphSRYkrhrasuxfZqFUFcymDuayNXuf0Qq5J4X2adPI09GrOMLqGY5sKgewHI90akjVr7VKHfnRN3timHH9mSAXiRBsi2jMNOu6M33/ISTONQuXa+eKh79OwvPOOnSd6zPdNLWs+qt3bTGFpU+B4HXoHBHLVXASWoT9zJVB+d6c/vGgM1myuEmuM0vzK3S5Q0II7Ip0Grgh2hjidHOgNbTMIuwsY9BEiuv55U2XPmXdhmNhjjzhmbFEQRxrXpJJkgGDmmp3dCxGJAOG+Yx4tkyNPdK+H3S16HSH2ZNjM7q9202HfiJY6M971IhDbMs2CyyLqA1gbyODwmCeLbBiixk1K1cN28TGxOQ+o2A2MCIBD0s9iBmuNls32FkrA5z1RN/IAguwp22Vla1qzGajTPDUurqIt54tSM7noFkgVD3Epeh9Y/2JEseH2cj6uaOY6GyxtDsxlKRKrjugymZoKOjJS2V+X/sJPKx46y0KaHL4bLrl872wjatxuXEb4Eubw3TYeZSS+3tilmH24g7inVOqtEsnwsEQGNqR8NpaoghY1T7ltQv4mZauuLXECVMYeoDl+N4vVoI+KBC9KpLHFjSChQgYA5bQgGDYVz9jZpKrYTCiaCSgsp8plUtcd2twIDXv2EpvdXWh8S3MoaHFx1qenfUUrU8AW3hL+jCGiUgEsninTDweHM9dEUgMzFNPG59aVc7qAu0qKO2nhqxwU6yoJ8A0UxQH3zj3dYareuIuogueILU202FlTNs89fFsP70jKGOeV7AMjezziJgULue8EqnuiENGYv5fJlc5hEhmTqkLw9QvHh63yyK4w6vOgwqc/d5UgRty/kPbHXJLLpqFZb7LsN8t00Gs7w22FAR21Y8uzWdtOpgWNJ4hcH0D0jZ41g6hsuj4+ZdWDU2CW1db8Z/V0aS/45S5GGKCMxzylY8NxrJ99aFzYlFv6ZoLA8LTJYRLyElLzp68Do7Q4sYohY7YhkO7hyMwZhm/lzoge61avtVffRCB9AEXnxgjBAWs1a6y67FDYCbmsSI+B8d1vR+ccFyx9ROawpYT1kuAf0oTRzo2f2H/8g1zknBLz4pmDcJKYDcptuhK98A3IQS7ZOlDXJfoCncwIhUsY0hl3TMMOrhnH6vmIj5u+kuBwLy2YakPvxdnZIgF++mpFJYXazFFt1VIqtJgKJsUFM8aDBKlUFHgmk9uDqC3T5cSLDJizNtDwExnELhwf3BjwVqNZaBbg/VpCCT28Tabmg8abwiBgXyDOJT5eyr682a74Wr8qmG/0DNJFChoYYtKCXHdvNbJ6oiGQo7an8cgfnQLrWZDxTz0HzK6zxFCIBXmqWVy+HpSRmruoi1vO6XPHw9KYNZpdb1kR4f8sk1suv5bBum6x4K1LeLIbrEp9bqR70SK5a5sIYQ0Bua/DbmG6LAOJzieJCS7317bA5/G0kXhfjbq9V/uoXYhqDLEVTgdEp9ZWOaYtEEokt+eKUERLsTs7cVSpSQH67cq8pvHMxG4d/nTMbM89Rslxe+fUcUvku7RtHHkHA8wKoR6l2BlsB8/Hu93Vh3f2fdLaKrIrqAZFgmg4TPRdRdhI1QxEa5JpdH+gUoE5sgs3PWVzbE+UUFJs+KLktKVQpu486l6kiSd1R8x70UTB+LjJKOPJK4eSwJHL3H25w2NyGsLRmirmR1EF/hwmVldHfVYXXjvMDWzW7qXaLi5AcQUJsYZBKVUvVRPjBouz9Y8bOOwqXZswqIQUqjeRdU3pf+frB3gpfwSZ4/Po9saTnhH43DZSh6xxOqypu1nH3WPUrwVgLpJ15ZVQQCE57I2wnNgcthuz4QHaWEKzlHTp7qCjTEPblApZ3m40MwUcuQet5Gqm+omR6H6yuOlFpFTNQG8mOsaNuRIfVLDAEWNa2fZiPf/YrglkUvnATvvDD6k1dX8iil8znqNy1owny26FyDna5BhDK/sx7gphJcldDd+VS/OgoigOnsxggU2wjdo8lc7SLOUv9SeT6vW63lXqUlqBmOJeNu/1OtwldLgvUvWBjW96xpGL3X68F/f8VuRAv7aFgfaHOYdKumAkVxVtrAo/831w2DlsOWQ2UoxkzbKz+/J3Y7zxlRRBanwRjWhaXoBM6yVffVFSGmosfHL0H7XbYD+mPouJzh8dKEkuiJJgkTZlmZfVRsjqW0TVLkqgDXnRjs4MGzG5Cw4z3r+QVM9yKFmbRKhGoJnVEoCPGQxxh0W40QsC+dBXk1HpEJD/AeY2cOTXtqUu4hvoWjPCFhCQZwB1jY3s5LTpNNCXBo44zSJk4JVlfwSba46mjuLvGqZzC2qMbxiHqW67L+dax9DJyiWdvcp9XPCXrz0UQW9NHoLguQEdQTUpPMdfz2AUQxeZFL121QtVnt0NoEV+yEYcTMtrWlEC/xAhVJG2XLssZe9LkZ/izYivLZ+N2Wa3sy1EtiUPWeSQ4O0SMfewOKPYsx3kxeXvPcxr1OXMQ/hKA+aLOsVdiUiK9ZEXklToKfrfQ/lWZXA9W5ufvMc3mRDZ+D1FyIUlfzQLH8VoxhIK3xi/b51xkRw3JPHH/+LruUR9NW0eXzHFZRO5TqLe9vTnb9ejvE85abUOz23sq5+mG+nhEvZTmrOfdjfsxRvvxiiedoBh1sF8EdlzIbbL36N5NfZillg4SqtJcHl35wtO2jaJajwKN/wjYW3jJzu//h9QSwMEFAACAAgA73FITXA/OElKAAAAagAAABsAAAB1bml2ZXJzYWwvdW5pdmVyc2FsLnBuZy54bWyzsa/IzVEoSy0qzszPs1Uy1DNQsrfj5bIpKEoty0wtV6gAihnpGUCAkkIlKrc8M6Ukw1bJ0tAYIZaRmpmeUWKrZGZhChfUBxoJAFBLAQIAABQAAgAIAO9xSE3/6EwIKgQAAHYOAAAdAAAAAAAAAAEAAAAAAAAAAAB1bml2ZXJzYWwvY29tbW9uX21lc3NhZ2VzLmxuZ1BLAQIAABQAAgAIAO9xSE2LtzoSDwQAANwPAAAnAAAAAAAAAAEAAAAAAGUEAAB1bml2ZXJzYWwvZmxhc2hfcHVibGlzaGluZ19zZXR0aW5ncy54bWxQSwECAAAUAAIACADvcUhNBOcD0bYCAABTCgAAIQAAAAAAAAABAAAAAAC5CAAAdW5pdmVyc2FsL2ZsYXNoX3NraW5fc2V0dGluZ3MueG1sUEsBAgAAFAACAAgA73FITaPtv2riAwAA7Q4AACYAAAAAAAAAAQAAAAAArgsAAHVuaXZlcnNhbC9odG1sX3B1Ymxpc2hpbmdfc2V0dGluZ3MueG1sUEsBAgAAFAACAAgA73FITQ/kWSCZAQAAHQYAAB8AAAAAAAAAAQAAAAAA1A8AAHVuaXZlcnNhbC9odG1sX3NraW5fc2V0dGluZ3MuanNQSwECAAAUAAIACADvcUhNGtrqO6oAAAAfAQAAGgAAAAAAAAABAAAAAACqEQAAdW5pdmVyc2FsL2kxOG5fcHJlc2V0cy54bWxQSwECAAAUAAIACADvcUhNlBOzImkAAABuAAAAHAAAAAAAAAABAAAAAACMEgAAdW5pdmVyc2FsL2xvY2FsX3NldHRpbmdzLnhtbFBLAQIAABQAAgAIAKBhr0TOggk37AIAAIgIAAAUAAAAAAAAAAEAAAAAAC8TAAB1bml2ZXJzYWwvcGxheWVyLnhtbFBLAQIAABQAAgAIAO9xSE0129mtaAEAAPMCAAApAAAAAAAAAAEAAAAAAE0WAAB1bml2ZXJzYWwvc2tpbl9jdXN0b21pemF0aW9uX3NldHRpbmdzLnhtbFBLAQIAABQAAgAIAO9xSE3u1b/WnBkAAPA+AAAXAAAAAAAAAAAAAAAAAPwXAAB1bml2ZXJzYWwvdW5pdmVyc2FsLnBuZ1BLAQIAABQAAgAIAO9xSE1wPzhJSgAAAGoAAAAbAAAAAAAAAAEAAAAAAM0xAAB1bml2ZXJzYWwvdW5pdmVyc2FsLnBuZy54bWxQSwUGAAAAAAsACwBJAwAAUDIAAAAA"/>
  <p:tag name="ISPRING_ULTRA_SCORM_COURSE_ID" val="29CDFE28-0755-48D7-B396-2DB4679C4ED9"/>
  <p:tag name="ISPRING_SCORM_RATE_SLIDES" val="1"/>
  <p:tag name="ISPRING_SCORM_RATE_QUIZZES" val="0"/>
  <p:tag name="ISPRING_SCORM_PASSING_SCORE" val="100.0000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ONLINEFOLDERID" val="0"/>
  <p:tag name="ISPRINGONLINEFOLDERPATH" val="Content List"/>
  <p:tag name="ISPRINGCLOUDFOLDERID" val="0"/>
  <p:tag name="ISPRINGCLOUDFOLDERPATH" val="Content List"/>
  <p:tag name="ISPRING_PRESENTATION_TITLE" val="第1章 认识计算机 教学PPT_薛蒙蒙_0827"/>
  <p:tag name="ISPRING_RESOURCE_PATHS_HASH_PRESENTER" val="cc1a98c4b425dc457ce1c32d3167ece4dc20d57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1.1 什么是安全测试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5.6 本章小结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SLIDE_INDENT_LEVEL" val="0"/>
  <p:tag name="ISPRING_CUSTOM_TIMING_USED" val="0"/>
  <p:tag name="GENSWF_SLIDE_TITLE" val="传智播客.黑马程序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7478</TotalTime>
  <Words>4048</Words>
  <Application>Microsoft Office PowerPoint</Application>
  <PresentationFormat>宽屏</PresentationFormat>
  <Paragraphs>399</Paragraphs>
  <Slides>63</Slides>
  <Notes>63</Notes>
  <HiddenSlides>7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5" baseType="lpstr">
      <vt:lpstr>等线</vt:lpstr>
      <vt:lpstr>等线 Light</vt:lpstr>
      <vt:lpstr>方正细倩简体</vt:lpstr>
      <vt:lpstr>楷体</vt:lpstr>
      <vt:lpstr>宋体</vt:lpstr>
      <vt:lpstr>微软雅黑</vt:lpstr>
      <vt:lpstr>Arial</vt:lpstr>
      <vt:lpstr>Calibri</vt:lpstr>
      <vt:lpstr>Times New Roman</vt:lpstr>
      <vt:lpstr>Wingdings</vt:lpstr>
      <vt:lpstr>Office 主题​​</vt:lpstr>
      <vt:lpstr>Visio</vt:lpstr>
      <vt:lpstr>第5章 多态与虚函数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认识计算机 教学PPT_薛蒙蒙_0827</dc:title>
  <dc:creator>lucius</dc:creator>
  <cp:lastModifiedBy>薛蒙蒙</cp:lastModifiedBy>
  <cp:revision>872</cp:revision>
  <dcterms:created xsi:type="dcterms:W3CDTF">2016-08-25T05:35:30Z</dcterms:created>
  <dcterms:modified xsi:type="dcterms:W3CDTF">2021-03-29T07:26:52Z</dcterms:modified>
</cp:coreProperties>
</file>